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27432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E4633B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0" y="27432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C3B3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DOCUMENT — NOT FOR CLIENT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Scope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Tiffany Webb — Landing Page, Kits, Social Media + Add-Ons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794760"/>
            <a:ext cx="118872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977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task breakdown + delivery timeline reference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27432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E4633B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0" y="27432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— SERVICE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 Page — Detailed Work Scope</a:t>
            </a:r>
            <a:endParaRPr lang="en-US" sz="2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4709160"/>
        </p:xfrm>
        <a:graphic>
          <a:graphicData uri="http://schemas.openxmlformats.org/drawingml/2006/table">
            <a:tbl>
              <a:tblPr/>
              <a:tblGrid>
                <a:gridCol w="2103120"/>
                <a:gridCol w="6035040"/>
                <a:gridCol w="2743200"/>
              </a:tblGrid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Detail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Output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02F"/>
                          </a:solidFill>
                        </a:rPr>
                        <a:t>Copywriting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5C7A7A"/>
                          </a:solidFill>
                        </a:rPr>
                        <a:t>Hero, about, two-tier topics, signature keynote, testimonials, CTA sections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028090"/>
                          </a:solidFill>
                        </a:rPr>
                        <a:t>Final copy doc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02F"/>
                          </a:solidFill>
                        </a:rPr>
                        <a:t>Photo/asset placement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5C7A7A"/>
                          </a:solidFill>
                        </a:rPr>
                        <a:t>Insert provided headshots, event photos, org logos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028090"/>
                          </a:solidFill>
                        </a:rPr>
                        <a:t>Populated page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02F"/>
                          </a:solidFill>
                        </a:rPr>
                        <a:t>Design &amp; build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5C7A7A"/>
                          </a:solidFill>
                        </a:rPr>
                        <a:t>Single responsive page, mobile-friendly, on-brand (teal/mint palette)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028090"/>
                          </a:solidFill>
                        </a:rPr>
                        <a:t>Live/staged page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02F"/>
                          </a:solidFill>
                        </a:rPr>
                        <a:t>Speaker reel embed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5C7A7A"/>
                          </a:solidFill>
                        </a:rPr>
                        <a:t>Embed provided video or placeholder until reel is ready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028090"/>
                          </a:solidFill>
                        </a:rPr>
                        <a:t>Working video block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02F"/>
                          </a:solidFill>
                        </a:rPr>
                        <a:t>Booking integration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5C7A7A"/>
                          </a:solidFill>
                        </a:rPr>
                        <a:t>Contact form + WhatsApp click-to-chat + calendar link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028090"/>
                          </a:solidFill>
                        </a:rPr>
                        <a:t>Working booking flow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02F"/>
                          </a:solidFill>
                        </a:rPr>
                        <a:t>Domain &amp; hosting check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5C7A7A"/>
                          </a:solidFill>
                        </a:rPr>
                        <a:t>Confirm domain access, connect hosting, SSL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028090"/>
                          </a:solidFill>
                        </a:rPr>
                        <a:t>Live URL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02F"/>
                          </a:solidFill>
                        </a:rPr>
                        <a:t>QA pass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5C7A7A"/>
                          </a:solidFill>
                        </a:rPr>
                        <a:t>Cross-device check, broken link check, spelling/grammar pass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028090"/>
                          </a:solidFill>
                        </a:rPr>
                        <a:t>Sign-off ready page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27432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E4633B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0" y="27432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— SERVICE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 Kit + Capabilities Kit — Detailed Work Scope</a:t>
            </a:r>
            <a:endParaRPr lang="en-US" sz="2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4709160"/>
        </p:xfrm>
        <a:graphic>
          <a:graphicData uri="http://schemas.openxmlformats.org/drawingml/2006/table">
            <a:tbl>
              <a:tblPr/>
              <a:tblGrid>
                <a:gridCol w="2377440"/>
                <a:gridCol w="5760720"/>
                <a:gridCol w="2743200"/>
              </a:tblGrid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Detail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Output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02F"/>
                          </a:solidFill>
                        </a:rPr>
                        <a:t>Content mapping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5C7A7A"/>
                          </a:solidFill>
                        </a:rPr>
                        <a:t>Map her 21 topics into Keynote/Panel vs Workshop/CEU tiers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028090"/>
                          </a:solidFill>
                        </a:rPr>
                        <a:t>Topic architecture doc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02F"/>
                          </a:solidFill>
                        </a:rPr>
                        <a:t>Media Kit copy (14 pg)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5C7A7A"/>
                          </a:solidFill>
                        </a:rPr>
                        <a:t>Bio, stats, core message, media coverage, sample Q&amp;A, contact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028090"/>
                          </a:solidFill>
                        </a:rPr>
                        <a:t>Full copy draft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02F"/>
                          </a:solidFill>
                        </a:rPr>
                        <a:t>Capabilities Kit copy (18 pg)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5C7A7A"/>
                          </a:solidFill>
                        </a:rPr>
                        <a:t>Positioning, formats, audiences, programs, FAQs, booking process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028090"/>
                          </a:solidFill>
                        </a:rPr>
                        <a:t>Full copy draft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02F"/>
                          </a:solidFill>
                        </a:rPr>
                        <a:t>Design pass — both kits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5C7A7A"/>
                          </a:solidFill>
                        </a:rPr>
                        <a:t>Layout, typography, brand colors, photo placement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028090"/>
                          </a:solidFill>
                        </a:rPr>
                        <a:t>Designed PDF drafts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02F"/>
                          </a:solidFill>
                        </a:rPr>
                        <a:t>Testimonial &amp; logo placement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5C7A7A"/>
                          </a:solidFill>
                        </a:rPr>
                        <a:t>Insert provided quotes and organization logos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028090"/>
                          </a:solidFill>
                        </a:rPr>
                        <a:t>Populated kits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02F"/>
                          </a:solidFill>
                        </a:rPr>
                        <a:t>Client review round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5C7A7A"/>
                          </a:solidFill>
                        </a:rPr>
                        <a:t>Share both kits for feedback, one round of revisions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028090"/>
                          </a:solidFill>
                        </a:rPr>
                        <a:t>Revision notes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02F"/>
                          </a:solidFill>
                        </a:rPr>
                        <a:t>Final export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5C7A7A"/>
                          </a:solidFill>
                        </a:rPr>
                        <a:t>Print-ready + web-optimized PDF versions of both kits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028090"/>
                          </a:solidFill>
                        </a:rPr>
                        <a:t>Final PDF files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27432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E4633B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0" y="27432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— SERVICE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Media Setup — Detailed Work Scope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4709160"/>
        </p:xfrm>
        <a:graphic>
          <a:graphicData uri="http://schemas.openxmlformats.org/drawingml/2006/table">
            <a:tbl>
              <a:tblPr/>
              <a:tblGrid>
                <a:gridCol w="2194560"/>
                <a:gridCol w="5943600"/>
                <a:gridCol w="2743200"/>
              </a:tblGrid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Detail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Output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02F"/>
                          </a:solidFill>
                        </a:rPr>
                        <a:t>Account audit/setup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5C7A7A"/>
                          </a:solidFill>
                        </a:rPr>
                        <a:t>Instagram, LinkedIn, YouTube, TikTok — create or optimize profiles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028090"/>
                          </a:solidFill>
                        </a:rPr>
                        <a:t>4 optimized profiles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02F"/>
                          </a:solidFill>
                        </a:rPr>
                        <a:t>Bio &amp; branding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5C7A7A"/>
                          </a:solidFill>
                        </a:rPr>
                        <a:t>Consistent handle, bio, profile photo, link-in-bio across all 4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028090"/>
                          </a:solidFill>
                        </a:rPr>
                        <a:t>Unified brand presence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02F"/>
                          </a:solidFill>
                        </a:rPr>
                        <a:t>Content pillar system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5C7A7A"/>
                          </a:solidFill>
                        </a:rPr>
                        <a:t>Define 5 pillars: speaking clips, BTS, tips, quotes, community impact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028090"/>
                          </a:solidFill>
                        </a:rPr>
                        <a:t>Content pillar guide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02F"/>
                          </a:solidFill>
                        </a:rPr>
                        <a:t>First content batch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5C7A7A"/>
                          </a:solidFill>
                        </a:rPr>
                        <a:t>10–14 posts designed from available photos/quotes/footage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028090"/>
                          </a:solidFill>
                        </a:rPr>
                        <a:t>Ready-to-post batch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02F"/>
                          </a:solidFill>
                        </a:rPr>
                        <a:t>Posting calendar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5C7A7A"/>
                          </a:solidFill>
                        </a:rPr>
                        <a:t>Week 1 schedule across all platforms, cadence set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028090"/>
                          </a:solidFill>
                        </a:rPr>
                        <a:t>Content calendar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02F"/>
                          </a:solidFill>
                        </a:rPr>
                        <a:t>Platform-specific formatting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5C7A7A"/>
                          </a:solidFill>
                        </a:rPr>
                        <a:t>Reels/Shorts for IG &amp; TikTok, articles for LinkedIn, uploads for YouTube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028090"/>
                          </a:solidFill>
                        </a:rPr>
                        <a:t>Platform-ready assets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27432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E4633B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0" y="27432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— ADD-ON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AI Assistant — Detailed Work Scope</a:t>
            </a:r>
            <a:endParaRPr lang="en-US" sz="2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4709160"/>
        </p:xfrm>
        <a:graphic>
          <a:graphicData uri="http://schemas.openxmlformats.org/drawingml/2006/table">
            <a:tbl>
              <a:tblPr/>
              <a:tblGrid>
                <a:gridCol w="2286000"/>
                <a:gridCol w="5852160"/>
                <a:gridCol w="2743200"/>
              </a:tblGrid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6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Detail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6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Output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633B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02F"/>
                          </a:solidFill>
                        </a:rPr>
                        <a:t>WhatsApp Business setup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5C7A7A"/>
                          </a:solidFill>
                        </a:rPr>
                        <a:t>Number provisioning, verification, business profile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028090"/>
                          </a:solidFill>
                        </a:rPr>
                        <a:t>Active WhatsApp Business account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02F"/>
                          </a:solidFill>
                        </a:rPr>
                        <a:t>AI flow design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5C7A7A"/>
                          </a:solidFill>
                        </a:rPr>
                        <a:t>Welcome message, qualification questions, escalation rules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028090"/>
                          </a:solidFill>
                        </a:rPr>
                        <a:t>Chatbot flow document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02F"/>
                          </a:solidFill>
                        </a:rPr>
                        <a:t>Kit auto-delivery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5C7A7A"/>
                          </a:solidFill>
                        </a:rPr>
                        <a:t>Instant Media/Capabilities Kit sent on qualified inquiry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028090"/>
                          </a:solidFill>
                        </a:rPr>
                        <a:t>Working auto-send trigger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02F"/>
                          </a:solidFill>
                        </a:rPr>
                        <a:t>CRM setup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5C7A7A"/>
                          </a:solidFill>
                        </a:rPr>
                        <a:t>Lead tagging by funnel stage, simple pipeline view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028090"/>
                          </a:solidFill>
                        </a:rPr>
                        <a:t>CRM dashboard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02F"/>
                          </a:solidFill>
                        </a:rPr>
                        <a:t>Calendar sync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5C7A7A"/>
                          </a:solidFill>
                        </a:rPr>
                        <a:t>Discovery call booking tied to her calendar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028090"/>
                          </a:solidFill>
                        </a:rPr>
                        <a:t>Working booking sync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02F"/>
                          </a:solidFill>
                        </a:rPr>
                        <a:t>Reminders &amp; follow-up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5C7A7A"/>
                          </a:solidFill>
                        </a:rPr>
                        <a:t>Automated call/proposal reminders, post-event testimonial requests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028090"/>
                          </a:solidFill>
                        </a:rPr>
                        <a:t>Automated flows live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02F"/>
                          </a:solidFill>
                        </a:rPr>
                        <a:t>Testing &amp; handover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5C7A7A"/>
                          </a:solidFill>
                        </a:rPr>
                        <a:t>End-to-end test of full conversation flow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028090"/>
                          </a:solidFill>
                        </a:rPr>
                        <a:t>Signed-off working system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27432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E4633B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0" y="27432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— ADD-ON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 &amp; Marketing Team — Detailed Work Scope</a:t>
            </a:r>
            <a:endParaRPr lang="en-US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4709160"/>
        </p:xfrm>
        <a:graphic>
          <a:graphicData uri="http://schemas.openxmlformats.org/drawingml/2006/table">
            <a:tbl>
              <a:tblPr/>
              <a:tblGrid>
                <a:gridCol w="2194560"/>
                <a:gridCol w="5943600"/>
                <a:gridCol w="2743200"/>
              </a:tblGrid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1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Detail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1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Output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14E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02F"/>
                          </a:solidFill>
                        </a:rPr>
                        <a:t>Footage intake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5C7A7A"/>
                          </a:solidFill>
                        </a:rPr>
                        <a:t>Receive raw video from her most recent talk/event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028090"/>
                          </a:solidFill>
                        </a:rPr>
                        <a:t>Organized footage folder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02F"/>
                          </a:solidFill>
                        </a:rPr>
                        <a:t>Editing pass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5C7A7A"/>
                          </a:solidFill>
                        </a:rPr>
                        <a:t>Cut 15–20 pieces: reels, shorts, quote cards, clips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028090"/>
                          </a:solidFill>
                        </a:rPr>
                        <a:t>Finished content batch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02F"/>
                          </a:solidFill>
                        </a:rPr>
                        <a:t>Platform scheduling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5C7A7A"/>
                          </a:solidFill>
                        </a:rPr>
                        <a:t>Post across Instagram, LinkedIn, YouTube, TikTok on calendar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028090"/>
                          </a:solidFill>
                        </a:rPr>
                        <a:t>Scheduled content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02F"/>
                          </a:solidFill>
                        </a:rPr>
                        <a:t>Newsletter draft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5C7A7A"/>
                          </a:solidFill>
                        </a:rPr>
                        <a:t>Monthly newsletter written &amp; designed from same content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028090"/>
                          </a:solidFill>
                        </a:rPr>
                        <a:t>Sent newsletter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02F"/>
                          </a:solidFill>
                        </a:rPr>
                        <a:t>Community management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5C7A7A"/>
                          </a:solidFill>
                        </a:rPr>
                        <a:t>Reply to comments &amp; DMs across all platforms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028090"/>
                          </a:solidFill>
                        </a:rPr>
                        <a:t>Ongoing engagement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02F"/>
                          </a:solidFill>
                        </a:rPr>
                        <a:t>Monthly reporting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5C7A7A"/>
                          </a:solidFill>
                        </a:rPr>
                        <a:t>Reach, engagement, and inquiry numbers by platform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028090"/>
                          </a:solidFill>
                        </a:rPr>
                        <a:t>Monthly report</a:t>
                      </a:r>
                      <a:endParaRPr lang="en-US" sz="98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2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27432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E4633B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0" y="27432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— ORIGINAL 3 SERVICES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4-Day Delivery Sprint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+ Media/Capabilities Kits + Social Media Setup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0C3B3D"/>
          </a:solidFill>
          <a:ln w="12700">
            <a:solidFill>
              <a:srgbClr val="1E4D4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92024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11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&amp; Draft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926080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807208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messaging, gather assets (photos, footage, past materials)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822960" y="3886200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767328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kit content outline (both kits)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22960" y="4846320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727448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copy draft starts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3429000" y="192024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0C3B3D"/>
          </a:solidFill>
          <a:ln w="12700">
            <a:solidFill>
              <a:srgbClr val="1E4D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29000" y="192024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2011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2286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Build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11880" y="292608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3794760" y="2807208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Kit + Capabilities Kit full copy drafted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3611880" y="388620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3794760" y="3767328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structure &amp; copy locked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3611880" y="484632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3794760" y="4727448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profiles created/optimized on all 4 platforms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6217920" y="192024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0C3B3D"/>
          </a:solidFill>
          <a:ln w="12700">
            <a:solidFill>
              <a:srgbClr val="1E4D4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192024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2011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2286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 Assembly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0" y="292608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2807208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design pass — both kits (draft layout)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6400800" y="388620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3767328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built (staging/live draft)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6400800" y="484632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4727448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social content batch designed (10–14 posts)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9006840" y="192024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0C3B3D"/>
          </a:solidFill>
          <a:ln w="12700">
            <a:solidFill>
              <a:srgbClr val="1E4D4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006840" y="192024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0A7A5C"/>
          </a:solidFill>
          <a:ln/>
        </p:spPr>
      </p:sp>
      <p:sp>
        <p:nvSpPr>
          <p:cNvPr id="39" name="Text 37"/>
          <p:cNvSpPr/>
          <p:nvPr/>
        </p:nvSpPr>
        <p:spPr>
          <a:xfrm>
            <a:off x="9006840" y="2011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006840" y="2286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 Launch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9189720" y="2926080"/>
            <a:ext cx="91440" cy="91440"/>
          </a:xfrm>
          <a:prstGeom prst="ellipse">
            <a:avLst/>
          </a:prstGeom>
          <a:solidFill>
            <a:srgbClr val="0A7A5C"/>
          </a:solidFill>
          <a:ln/>
        </p:spPr>
      </p:sp>
      <p:sp>
        <p:nvSpPr>
          <p:cNvPr id="42" name="Text 40"/>
          <p:cNvSpPr/>
          <p:nvPr/>
        </p:nvSpPr>
        <p:spPr>
          <a:xfrm>
            <a:off x="9372600" y="2807208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review round + revisions</a:t>
            </a:r>
            <a:endParaRPr lang="en-US" sz="930" dirty="0"/>
          </a:p>
        </p:txBody>
      </p:sp>
      <p:sp>
        <p:nvSpPr>
          <p:cNvPr id="43" name="Shape 41"/>
          <p:cNvSpPr/>
          <p:nvPr/>
        </p:nvSpPr>
        <p:spPr>
          <a:xfrm>
            <a:off x="9189720" y="3886200"/>
            <a:ext cx="91440" cy="91440"/>
          </a:xfrm>
          <a:prstGeom prst="ellipse">
            <a:avLst/>
          </a:prstGeom>
          <a:solidFill>
            <a:srgbClr val="0A7A5C"/>
          </a:solidFill>
          <a:ln/>
        </p:spPr>
      </p:sp>
      <p:sp>
        <p:nvSpPr>
          <p:cNvPr id="44" name="Text 42"/>
          <p:cNvSpPr/>
          <p:nvPr/>
        </p:nvSpPr>
        <p:spPr>
          <a:xfrm>
            <a:off x="9372600" y="3767328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kit exports (PDF)</a:t>
            </a:r>
            <a:endParaRPr lang="en-US" sz="930" dirty="0"/>
          </a:p>
        </p:txBody>
      </p:sp>
      <p:sp>
        <p:nvSpPr>
          <p:cNvPr id="45" name="Shape 43"/>
          <p:cNvSpPr/>
          <p:nvPr/>
        </p:nvSpPr>
        <p:spPr>
          <a:xfrm>
            <a:off x="9189720" y="4846320"/>
            <a:ext cx="91440" cy="91440"/>
          </a:xfrm>
          <a:prstGeom prst="ellipse">
            <a:avLst/>
          </a:prstGeom>
          <a:solidFill>
            <a:srgbClr val="0A7A5C"/>
          </a:solidFill>
          <a:ln/>
        </p:spPr>
      </p:sp>
      <p:sp>
        <p:nvSpPr>
          <p:cNvPr id="46" name="Text 44"/>
          <p:cNvSpPr/>
          <p:nvPr/>
        </p:nvSpPr>
        <p:spPr>
          <a:xfrm>
            <a:off x="9372600" y="4727448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goes live; social goes live with first week of content</a:t>
            </a:r>
            <a:endParaRPr lang="en-US" sz="930" dirty="0"/>
          </a:p>
        </p:txBody>
      </p:sp>
      <p:sp>
        <p:nvSpPr>
          <p:cNvPr id="47" name="Text 4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27432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E4633B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0" y="27432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— WITH ADD-ONS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Add-Ons Change the Timeline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91640"/>
            <a:ext cx="128016" cy="91440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76479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Services Only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148840"/>
            <a:ext cx="6309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+ both kits + social setup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9052560" y="18745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9052560" y="1874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743200"/>
            <a:ext cx="128016" cy="914400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81635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Services + WhatsApp 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200400"/>
            <a:ext cx="6309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AI flow build, CRM setup, calendar sync, testing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9052560" y="292608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9052560" y="2926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days (+2)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7947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794760"/>
            <a:ext cx="128016" cy="914400"/>
          </a:xfrm>
          <a:prstGeom prst="roundRect">
            <a:avLst/>
          </a:prstGeom>
          <a:solidFill>
            <a:srgbClr val="F2C14E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86791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Services + PR Team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4251960"/>
            <a:ext cx="6309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runs parallel to Days 1–4; ongoing production after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9052560" y="397764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/>
        </p:spPr>
      </p:sp>
      <p:sp>
        <p:nvSpPr>
          <p:cNvPr id="23" name="Text 21"/>
          <p:cNvSpPr/>
          <p:nvPr/>
        </p:nvSpPr>
        <p:spPr>
          <a:xfrm>
            <a:off x="9052560" y="3977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 + ongoing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8463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4846320"/>
            <a:ext cx="128016" cy="914400"/>
          </a:xfrm>
          <a:prstGeom prst="roundRect">
            <a:avLst/>
          </a:prstGeom>
          <a:solidFill>
            <a:srgbClr val="E4633B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491947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Services + Both Add-Ons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5303520"/>
            <a:ext cx="6309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build adds fixed time; PR team runs in parallel &amp; continues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9052560" y="502920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E4633B"/>
          </a:solidFill>
          <a:ln/>
        </p:spPr>
      </p:sp>
      <p:sp>
        <p:nvSpPr>
          <p:cNvPr id="29" name="Text 27"/>
          <p:cNvSpPr/>
          <p:nvPr/>
        </p:nvSpPr>
        <p:spPr>
          <a:xfrm>
            <a:off x="9052560" y="5029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days + ongoing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PR team's ongoing workload scales with how much footage/content she provides each month — the timeline above covers onboarding only, not ongoing monthly production capacity.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2026-07-18T15:27:37Z</dcterms:created>
  <dcterms:modified xsi:type="dcterms:W3CDTF">2026-07-18T15:27:37Z</dcterms:modified>
</cp:coreProperties>
</file>