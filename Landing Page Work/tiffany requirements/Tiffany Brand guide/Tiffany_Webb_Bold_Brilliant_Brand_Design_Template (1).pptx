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gjcjucyNCRHqw2dtkVDzucB7GS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0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004B4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685800" y="5943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TIFFANY WEBB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685800" y="1234440"/>
            <a:ext cx="69494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rPr>
              <a:t>BOLD &amp;</a:t>
            </a:r>
            <a:br>
              <a:rPr b="1" i="0" lang="en-US" sz="4600" u="none" cap="none" strike="noStrike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4600" u="none" cap="none" strike="noStrike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rPr>
              <a:t>BRILLIANT.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713232" y="2971800"/>
            <a:ext cx="6766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00" u="none" cap="none" strike="noStrike">
                <a:solidFill>
                  <a:srgbClr val="D9AE4A"/>
                </a:solidFill>
                <a:latin typeface="Georgia"/>
                <a:ea typeface="Georgia"/>
                <a:cs typeface="Georgia"/>
                <a:sym typeface="Georgia"/>
              </a:rPr>
              <a:t>Elegant impact. Unmistakable presence.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713232" y="3703320"/>
            <a:ext cx="548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6F1E7"/>
                </a:solidFill>
              </a:rPr>
              <a:t>CHICAGO HEART × LOUISIANA SOUL 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713232" y="5212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6F1E7"/>
                </a:solidFill>
                <a:latin typeface="Arial"/>
                <a:ea typeface="Arial"/>
                <a:cs typeface="Arial"/>
                <a:sym typeface="Arial"/>
              </a:rPr>
              <a:t>MASTER BRAND DESIGN TEMPLATE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13232" y="56235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AA7D"/>
                </a:solidFill>
                <a:latin typeface="Arial"/>
                <a:ea typeface="Arial"/>
                <a:cs typeface="Arial"/>
                <a:sym typeface="Arial"/>
              </a:rPr>
              <a:t>Executive Luxury  ↔  Cultural Community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TIFFANY WEBB  •  BOLD &amp; BRILLIANT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640080" y="5029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4B4F"/>
                </a:solidFill>
                <a:latin typeface="Arial"/>
                <a:ea typeface="Arial"/>
                <a:cs typeface="Arial"/>
                <a:sym typeface="Arial"/>
              </a:rPr>
              <a:t>BRAND ESSENCE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640080" y="96012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F120E"/>
                </a:solidFill>
                <a:latin typeface="Georgia"/>
                <a:ea typeface="Georgia"/>
                <a:cs typeface="Georgia"/>
                <a:sym typeface="Georgia"/>
              </a:rPr>
              <a:t>BOLD &amp; BRILLIANT.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658368" y="173736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B2A24"/>
                </a:solidFill>
                <a:latin typeface="Arial"/>
                <a:ea typeface="Arial"/>
                <a:cs typeface="Arial"/>
                <a:sym typeface="Arial"/>
              </a:rPr>
              <a:t>A personal brand rooted in intentional leadership, cultural brilliance, and the quiet confidence to make every room better than it was found.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658368" y="2971800"/>
            <a:ext cx="10881360" cy="36576"/>
          </a:xfrm>
          <a:prstGeom prst="rect">
            <a:avLst/>
          </a:prstGeom>
          <a:solidFill>
            <a:srgbClr val="D9AE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005840" y="3429000"/>
            <a:ext cx="10149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 cap="none" strike="noStrike">
                <a:solidFill>
                  <a:srgbClr val="4A214F"/>
                </a:solidFill>
                <a:latin typeface="Georgia"/>
                <a:ea typeface="Georgia"/>
                <a:cs typeface="Georgia"/>
                <a:sym typeface="Georgia"/>
              </a:rPr>
              <a:t>“I do not shrink to fit the room.</a:t>
            </a:r>
            <a:br>
              <a:rPr b="0" i="1" lang="en-US" sz="2800" u="none" cap="none" strike="noStrike">
                <a:solidFill>
                  <a:srgbClr val="4A214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1" lang="en-US" sz="2800" u="none" cap="none" strike="noStrike">
                <a:solidFill>
                  <a:srgbClr val="4A214F"/>
                </a:solidFill>
                <a:latin typeface="Georgia"/>
                <a:ea typeface="Georgia"/>
                <a:cs typeface="Georgia"/>
                <a:sym typeface="Georgia"/>
              </a:rPr>
              <a:t>I shape the room around possibility.”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TIFFANY WEBB  •  BOLD &amp; BRILLIANT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B4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rPr>
              <a:t>THE THREE BRAND PILLARS</a:t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685800" y="1508760"/>
            <a:ext cx="3429000" cy="4160520"/>
          </a:xfrm>
          <a:prstGeom prst="rect">
            <a:avLst/>
          </a:prstGeom>
          <a:solidFill>
            <a:srgbClr val="F6F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914400" y="178308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914400" y="233172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20E"/>
                </a:solidFill>
                <a:latin typeface="Georgia"/>
                <a:ea typeface="Georgia"/>
                <a:cs typeface="Georgia"/>
                <a:sym typeface="Georgia"/>
              </a:rPr>
              <a:t>PRESENCE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914400" y="306324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2A24"/>
                </a:solidFill>
                <a:latin typeface="Arial"/>
                <a:ea typeface="Arial"/>
                <a:cs typeface="Arial"/>
                <a:sym typeface="Arial"/>
              </a:rPr>
              <a:t>Refined, grounded,</a:t>
            </a:r>
            <a:br>
              <a:rPr b="0" i="0" lang="en-US" sz="1800" u="none" cap="none" strike="noStrike">
                <a:solidFill>
                  <a:srgbClr val="3B2A2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3B2A24"/>
                </a:solidFill>
                <a:latin typeface="Arial"/>
                <a:ea typeface="Arial"/>
                <a:cs typeface="Arial"/>
                <a:sym typeface="Arial"/>
              </a:rPr>
              <a:t>and seen.</a:t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914400" y="4983480"/>
            <a:ext cx="1097280" cy="45720"/>
          </a:xfrm>
          <a:prstGeom prst="rect">
            <a:avLst/>
          </a:prstGeom>
          <a:solidFill>
            <a:srgbClr val="D9AE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4507992" y="1508760"/>
            <a:ext cx="3429000" cy="4160520"/>
          </a:xfrm>
          <a:prstGeom prst="rect">
            <a:avLst/>
          </a:prstGeom>
          <a:solidFill>
            <a:srgbClr val="F6F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4736592" y="178308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4736592" y="233172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20E"/>
                </a:solidFill>
                <a:latin typeface="Georgia"/>
                <a:ea typeface="Georgia"/>
                <a:cs typeface="Georgia"/>
                <a:sym typeface="Georgia"/>
              </a:rPr>
              <a:t>PURPOSE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4736592" y="306324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2A24"/>
                </a:solidFill>
                <a:latin typeface="Arial"/>
                <a:ea typeface="Arial"/>
                <a:cs typeface="Arial"/>
                <a:sym typeface="Arial"/>
              </a:rPr>
              <a:t>Vision led by</a:t>
            </a:r>
            <a:br>
              <a:rPr b="0" i="0" lang="en-US" sz="1800" u="none" cap="none" strike="noStrike">
                <a:solidFill>
                  <a:srgbClr val="3B2A2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3B2A24"/>
                </a:solidFill>
                <a:latin typeface="Arial"/>
                <a:ea typeface="Arial"/>
                <a:cs typeface="Arial"/>
                <a:sym typeface="Arial"/>
              </a:rPr>
              <a:t>meaningful action.</a:t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4736592" y="4983480"/>
            <a:ext cx="1097280" cy="45720"/>
          </a:xfrm>
          <a:prstGeom prst="rect">
            <a:avLst/>
          </a:prstGeom>
          <a:solidFill>
            <a:srgbClr val="D9AE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8330183" y="1508760"/>
            <a:ext cx="3429000" cy="4160520"/>
          </a:xfrm>
          <a:prstGeom prst="rect">
            <a:avLst/>
          </a:prstGeom>
          <a:solidFill>
            <a:srgbClr val="F6F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8558784" y="178308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8558784" y="233172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20E"/>
                </a:solidFill>
                <a:latin typeface="Georgia"/>
                <a:ea typeface="Georgia"/>
                <a:cs typeface="Georgia"/>
                <a:sym typeface="Georgia"/>
              </a:rPr>
              <a:t>BRILLIANCE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8558784" y="306324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2A24"/>
                </a:solidFill>
                <a:latin typeface="Arial"/>
                <a:ea typeface="Arial"/>
                <a:cs typeface="Arial"/>
                <a:sym typeface="Arial"/>
              </a:rPr>
              <a:t>Ideas with depth,</a:t>
            </a:r>
            <a:br>
              <a:rPr b="0" i="0" lang="en-US" sz="1800" u="none" cap="none" strike="noStrike">
                <a:solidFill>
                  <a:srgbClr val="3B2A2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3B2A24"/>
                </a:solidFill>
                <a:latin typeface="Arial"/>
                <a:ea typeface="Arial"/>
                <a:cs typeface="Arial"/>
                <a:sym typeface="Arial"/>
              </a:rPr>
              <a:t>style, and force.</a:t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8558784" y="4983480"/>
            <a:ext cx="1097280" cy="45720"/>
          </a:xfrm>
          <a:prstGeom prst="rect">
            <a:avLst/>
          </a:prstGeom>
          <a:solidFill>
            <a:srgbClr val="D9AE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TIFFANY WEBB  •  BOLD &amp; BRILLIANT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640080" y="4572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20E"/>
                </a:solidFill>
                <a:latin typeface="Georgia"/>
                <a:ea typeface="Georgia"/>
                <a:cs typeface="Georgia"/>
                <a:sym typeface="Georgia"/>
              </a:rPr>
              <a:t>OFFICIAL COLOR SYSTEM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685800" y="1325880"/>
            <a:ext cx="2423160" cy="1143000"/>
          </a:xfrm>
          <a:prstGeom prst="rect">
            <a:avLst/>
          </a:prstGeom>
          <a:solidFill>
            <a:srgbClr val="0F120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685800" y="2606039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20E"/>
                </a:solidFill>
                <a:latin typeface="Arial"/>
                <a:ea typeface="Arial"/>
                <a:cs typeface="Arial"/>
                <a:sym typeface="Arial"/>
              </a:rPr>
              <a:t>Near Black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685800" y="292608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B2A24"/>
                </a:solidFill>
                <a:latin typeface="Arial"/>
                <a:ea typeface="Arial"/>
                <a:cs typeface="Arial"/>
                <a:sym typeface="Arial"/>
              </a:rPr>
              <a:t>#0F120E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3502152" y="1325880"/>
            <a:ext cx="2423160" cy="1143000"/>
          </a:xfrm>
          <a:prstGeom prst="rect">
            <a:avLst/>
          </a:prstGeom>
          <a:solidFill>
            <a:srgbClr val="F6F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3502152" y="2606039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20E"/>
                </a:solidFill>
                <a:latin typeface="Arial"/>
                <a:ea typeface="Arial"/>
                <a:cs typeface="Arial"/>
                <a:sym typeface="Arial"/>
              </a:rPr>
              <a:t>Warm Cream</a:t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3502152" y="292608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B2A24"/>
                </a:solidFill>
                <a:latin typeface="Arial"/>
                <a:ea typeface="Arial"/>
                <a:cs typeface="Arial"/>
                <a:sym typeface="Arial"/>
              </a:rPr>
              <a:t>#F6F1E7</a:t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6318504" y="1325880"/>
            <a:ext cx="2423160" cy="1143000"/>
          </a:xfrm>
          <a:prstGeom prst="rect">
            <a:avLst/>
          </a:prstGeom>
          <a:solidFill>
            <a:srgbClr val="D9AE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6318504" y="2606039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20E"/>
                </a:solidFill>
                <a:latin typeface="Arial"/>
                <a:ea typeface="Arial"/>
                <a:cs typeface="Arial"/>
                <a:sym typeface="Arial"/>
              </a:rPr>
              <a:t>Signature Gold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6318504" y="292608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B2A24"/>
                </a:solidFill>
                <a:latin typeface="Arial"/>
                <a:ea typeface="Arial"/>
                <a:cs typeface="Arial"/>
                <a:sym typeface="Arial"/>
              </a:rPr>
              <a:t>#D9AE4A</a:t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9134856" y="1325880"/>
            <a:ext cx="2423160" cy="1143000"/>
          </a:xfrm>
          <a:prstGeom prst="rect">
            <a:avLst/>
          </a:prstGeom>
          <a:solidFill>
            <a:srgbClr val="004B4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9134856" y="2606039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20E"/>
                </a:solidFill>
                <a:latin typeface="Arial"/>
                <a:ea typeface="Arial"/>
                <a:cs typeface="Arial"/>
                <a:sym typeface="Arial"/>
              </a:rPr>
              <a:t>Deep Teal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9134856" y="292608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B2A24"/>
                </a:solidFill>
                <a:latin typeface="Arial"/>
                <a:ea typeface="Arial"/>
                <a:cs typeface="Arial"/>
                <a:sym typeface="Arial"/>
              </a:rPr>
              <a:t>#004B4F</a:t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685800" y="3611880"/>
            <a:ext cx="2423160" cy="1143000"/>
          </a:xfrm>
          <a:prstGeom prst="rect">
            <a:avLst/>
          </a:prstGeom>
          <a:solidFill>
            <a:srgbClr val="D65A3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685800" y="489204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20E"/>
                </a:solidFill>
                <a:latin typeface="Arial"/>
                <a:ea typeface="Arial"/>
                <a:cs typeface="Arial"/>
                <a:sym typeface="Arial"/>
              </a:rPr>
              <a:t>Burnt Orange</a:t>
            </a:r>
            <a:endParaRPr/>
          </a:p>
        </p:txBody>
      </p:sp>
      <p:sp>
        <p:nvSpPr>
          <p:cNvPr id="149" name="Google Shape;149;p4"/>
          <p:cNvSpPr txBox="1"/>
          <p:nvPr/>
        </p:nvSpPr>
        <p:spPr>
          <a:xfrm>
            <a:off x="685800" y="521208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B2A24"/>
                </a:solidFill>
                <a:latin typeface="Arial"/>
                <a:ea typeface="Arial"/>
                <a:cs typeface="Arial"/>
                <a:sym typeface="Arial"/>
              </a:rPr>
              <a:t>#D65A31</a:t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3502152" y="3611880"/>
            <a:ext cx="2423160" cy="1143000"/>
          </a:xfrm>
          <a:prstGeom prst="rect">
            <a:avLst/>
          </a:prstGeom>
          <a:solidFill>
            <a:srgbClr val="4A214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3502152" y="489204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20E"/>
                </a:solidFill>
                <a:latin typeface="Arial"/>
                <a:ea typeface="Arial"/>
                <a:cs typeface="Arial"/>
                <a:sym typeface="Arial"/>
              </a:rPr>
              <a:t>Plum</a:t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3502152" y="521208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B2A24"/>
                </a:solidFill>
                <a:latin typeface="Arial"/>
                <a:ea typeface="Arial"/>
                <a:cs typeface="Arial"/>
                <a:sym typeface="Arial"/>
              </a:rPr>
              <a:t>#4A214F</a:t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6318504" y="3611880"/>
            <a:ext cx="2423160" cy="1143000"/>
          </a:xfrm>
          <a:prstGeom prst="rect">
            <a:avLst/>
          </a:prstGeom>
          <a:solidFill>
            <a:srgbClr val="355B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6318504" y="489204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20E"/>
                </a:solidFill>
                <a:latin typeface="Arial"/>
                <a:ea typeface="Arial"/>
                <a:cs typeface="Arial"/>
                <a:sym typeface="Arial"/>
              </a:rPr>
              <a:t>Heritage Green</a:t>
            </a:r>
            <a:endParaRPr/>
          </a:p>
        </p:txBody>
      </p:sp>
      <p:sp>
        <p:nvSpPr>
          <p:cNvPr id="155" name="Google Shape;155;p4"/>
          <p:cNvSpPr txBox="1"/>
          <p:nvPr/>
        </p:nvSpPr>
        <p:spPr>
          <a:xfrm>
            <a:off x="6318504" y="521208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B2A24"/>
                </a:solidFill>
                <a:latin typeface="Arial"/>
                <a:ea typeface="Arial"/>
                <a:cs typeface="Arial"/>
                <a:sym typeface="Arial"/>
              </a:rPr>
              <a:t>#355B3A</a:t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9134856" y="3611880"/>
            <a:ext cx="2423160" cy="1143000"/>
          </a:xfrm>
          <a:prstGeom prst="rect">
            <a:avLst/>
          </a:prstGeom>
          <a:solidFill>
            <a:srgbClr val="CBAA7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9134856" y="489204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20E"/>
                </a:solidFill>
                <a:latin typeface="Arial"/>
                <a:ea typeface="Arial"/>
                <a:cs typeface="Arial"/>
                <a:sym typeface="Arial"/>
              </a:rPr>
              <a:t>Warm Tan</a:t>
            </a:r>
            <a:endParaRPr/>
          </a:p>
        </p:txBody>
      </p:sp>
      <p:sp>
        <p:nvSpPr>
          <p:cNvPr id="158" name="Google Shape;158;p4"/>
          <p:cNvSpPr txBox="1"/>
          <p:nvPr/>
        </p:nvSpPr>
        <p:spPr>
          <a:xfrm>
            <a:off x="9134856" y="521208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B2A24"/>
                </a:solidFill>
                <a:latin typeface="Arial"/>
                <a:ea typeface="Arial"/>
                <a:cs typeface="Arial"/>
                <a:sym typeface="Arial"/>
              </a:rPr>
              <a:t>#CBAA7D</a:t>
            </a:r>
            <a:endParaRPr/>
          </a:p>
        </p:txBody>
      </p:sp>
      <p:sp>
        <p:nvSpPr>
          <p:cNvPr id="159" name="Google Shape;159;p4"/>
          <p:cNvSpPr txBox="1"/>
          <p:nvPr/>
        </p:nvSpPr>
        <p:spPr>
          <a:xfrm>
            <a:off x="685800" y="598932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4B4F"/>
                </a:solidFill>
                <a:latin typeface="Arial"/>
                <a:ea typeface="Arial"/>
                <a:cs typeface="Arial"/>
                <a:sym typeface="Arial"/>
              </a:rPr>
              <a:t>Cream + Gold bridge both modes. Use accents intentionally—not all at once.</a:t>
            </a:r>
            <a:endParaRPr/>
          </a:p>
        </p:txBody>
      </p:sp>
      <p:sp>
        <p:nvSpPr>
          <p:cNvPr id="160" name="Google Shape;160;p4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TIFFANY WEBB  •  BOLD &amp; BRILLIANT</a:t>
            </a:r>
            <a:endParaRPr/>
          </a:p>
        </p:txBody>
      </p:sp>
      <p:sp>
        <p:nvSpPr>
          <p:cNvPr id="161" name="Google Shape;161;p4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"/>
          <p:cNvSpPr/>
          <p:nvPr/>
        </p:nvSpPr>
        <p:spPr>
          <a:xfrm>
            <a:off x="0" y="0"/>
            <a:ext cx="6095390" cy="6858000"/>
          </a:xfrm>
          <a:prstGeom prst="rect">
            <a:avLst/>
          </a:prstGeom>
          <a:solidFill>
            <a:srgbClr val="0F120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6095390" y="0"/>
            <a:ext cx="6096304" cy="6858000"/>
          </a:xfrm>
          <a:prstGeom prst="rect">
            <a:avLst/>
          </a:prstGeom>
          <a:solidFill>
            <a:srgbClr val="004B4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640080" y="731520"/>
            <a:ext cx="4754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rPr>
              <a:t>EXECUTIVE</a:t>
            </a:r>
            <a:br>
              <a:rPr b="1" i="0" lang="en-US" sz="3200" u="none" cap="none" strike="noStrike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3200" u="none" cap="none" strike="noStrike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rPr>
              <a:t>LUXURY</a:t>
            </a:r>
            <a:endParaRPr/>
          </a:p>
        </p:txBody>
      </p:sp>
      <p:sp>
        <p:nvSpPr>
          <p:cNvPr id="169" name="Google Shape;169;p5"/>
          <p:cNvSpPr txBox="1"/>
          <p:nvPr/>
        </p:nvSpPr>
        <p:spPr>
          <a:xfrm>
            <a:off x="658368" y="201168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Black • Cream • Gold</a:t>
            </a:r>
            <a:endParaRPr/>
          </a:p>
        </p:txBody>
      </p:sp>
      <p:sp>
        <p:nvSpPr>
          <p:cNvPr id="170" name="Google Shape;170;p5"/>
          <p:cNvSpPr txBox="1"/>
          <p:nvPr/>
        </p:nvSpPr>
        <p:spPr>
          <a:xfrm>
            <a:off x="658368" y="2743200"/>
            <a:ext cx="43891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6F1E7"/>
                </a:solidFill>
                <a:latin typeface="Arial"/>
                <a:ea typeface="Arial"/>
                <a:cs typeface="Arial"/>
                <a:sym typeface="Arial"/>
              </a:rPr>
              <a:t>Keynotes</a:t>
            </a:r>
            <a:br>
              <a:rPr b="0" i="0" lang="en-US" sz="1800" u="none" cap="none" strike="noStrike">
                <a:solidFill>
                  <a:srgbClr val="F6F1E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F6F1E7"/>
                </a:solidFill>
                <a:latin typeface="Arial"/>
                <a:ea typeface="Arial"/>
                <a:cs typeface="Arial"/>
                <a:sym typeface="Arial"/>
              </a:rPr>
              <a:t>Media kits</a:t>
            </a:r>
            <a:br>
              <a:rPr b="0" i="0" lang="en-US" sz="1800" u="none" cap="none" strike="noStrike">
                <a:solidFill>
                  <a:srgbClr val="F6F1E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F6F1E7"/>
                </a:solidFill>
                <a:latin typeface="Arial"/>
                <a:ea typeface="Arial"/>
                <a:cs typeface="Arial"/>
                <a:sym typeface="Arial"/>
              </a:rPr>
              <a:t>Thought leadership</a:t>
            </a:r>
            <a:br>
              <a:rPr b="0" i="0" lang="en-US" sz="1800" u="none" cap="none" strike="noStrike">
                <a:solidFill>
                  <a:srgbClr val="F6F1E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F6F1E7"/>
                </a:solidFill>
                <a:latin typeface="Arial"/>
                <a:ea typeface="Arial"/>
                <a:cs typeface="Arial"/>
                <a:sym typeface="Arial"/>
              </a:rPr>
              <a:t>Executive-facing work</a:t>
            </a:r>
            <a:endParaRPr/>
          </a:p>
        </p:txBody>
      </p:sp>
      <p:sp>
        <p:nvSpPr>
          <p:cNvPr id="171" name="Google Shape;171;p5"/>
          <p:cNvSpPr txBox="1"/>
          <p:nvPr/>
        </p:nvSpPr>
        <p:spPr>
          <a:xfrm>
            <a:off x="6720840" y="731520"/>
            <a:ext cx="4754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rPr>
              <a:t>CULTURAL</a:t>
            </a:r>
            <a:br>
              <a:rPr b="1" i="0" lang="en-US" sz="3200" u="none" cap="none" strike="noStrike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3200" u="none" cap="none" strike="noStrike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rPr>
              <a:t>COMMUNITY</a:t>
            </a:r>
            <a:endParaRPr/>
          </a:p>
        </p:txBody>
      </p:sp>
      <p:sp>
        <p:nvSpPr>
          <p:cNvPr id="172" name="Google Shape;172;p5"/>
          <p:cNvSpPr txBox="1"/>
          <p:nvPr/>
        </p:nvSpPr>
        <p:spPr>
          <a:xfrm>
            <a:off x="6739128" y="20116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Teal • Cream • Gold + accent</a:t>
            </a:r>
            <a:endParaRPr/>
          </a:p>
        </p:txBody>
      </p:sp>
      <p:sp>
        <p:nvSpPr>
          <p:cNvPr id="173" name="Google Shape;173;p5"/>
          <p:cNvSpPr txBox="1"/>
          <p:nvPr/>
        </p:nvSpPr>
        <p:spPr>
          <a:xfrm>
            <a:off x="6739128" y="2743200"/>
            <a:ext cx="45720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6F1E7"/>
                </a:solidFill>
                <a:latin typeface="Arial"/>
                <a:ea typeface="Arial"/>
                <a:cs typeface="Arial"/>
                <a:sym typeface="Arial"/>
              </a:rPr>
              <a:t>Community engagement</a:t>
            </a:r>
            <a:br>
              <a:rPr b="0" i="0" lang="en-US" sz="1800" u="none" cap="none" strike="noStrike">
                <a:solidFill>
                  <a:srgbClr val="F6F1E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F6F1E7"/>
                </a:solidFill>
                <a:latin typeface="Arial"/>
                <a:ea typeface="Arial"/>
                <a:cs typeface="Arial"/>
                <a:sym typeface="Arial"/>
              </a:rPr>
              <a:t>Workshops</a:t>
            </a:r>
            <a:br>
              <a:rPr b="0" i="0" lang="en-US" sz="1800" u="none" cap="none" strike="noStrike">
                <a:solidFill>
                  <a:srgbClr val="F6F1E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F6F1E7"/>
                </a:solidFill>
                <a:latin typeface="Arial"/>
                <a:ea typeface="Arial"/>
                <a:cs typeface="Arial"/>
                <a:sym typeface="Arial"/>
              </a:rPr>
              <a:t>Prevention education</a:t>
            </a:r>
            <a:br>
              <a:rPr b="0" i="0" lang="en-US" sz="1800" u="none" cap="none" strike="noStrike">
                <a:solidFill>
                  <a:srgbClr val="F6F1E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F6F1E7"/>
                </a:solidFill>
                <a:latin typeface="Arial"/>
                <a:ea typeface="Arial"/>
                <a:cs typeface="Arial"/>
                <a:sym typeface="Arial"/>
              </a:rPr>
              <a:t>Storytelling &amp; partnerships</a:t>
            </a:r>
            <a:endParaRPr/>
          </a:p>
        </p:txBody>
      </p:sp>
      <p:sp>
        <p:nvSpPr>
          <p:cNvPr id="174" name="Google Shape;174;p5"/>
          <p:cNvSpPr txBox="1"/>
          <p:nvPr/>
        </p:nvSpPr>
        <p:spPr>
          <a:xfrm>
            <a:off x="5074920" y="58064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ONE BRAND</a:t>
            </a:r>
            <a:endParaRPr/>
          </a:p>
        </p:txBody>
      </p:sp>
      <p:sp>
        <p:nvSpPr>
          <p:cNvPr id="175" name="Google Shape;175;p5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TIFFANY WEBB  •  BOLD &amp; BRILLIANT</a:t>
            </a:r>
            <a:endParaRPr/>
          </a:p>
        </p:txBody>
      </p:sp>
      <p:sp>
        <p:nvSpPr>
          <p:cNvPr id="176" name="Google Shape;176;p5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640080" y="5029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20E"/>
                </a:solidFill>
                <a:latin typeface="Georgia"/>
                <a:ea typeface="Georgia"/>
                <a:cs typeface="Georgia"/>
                <a:sym typeface="Georgia"/>
              </a:rPr>
              <a:t>TYPOGRAPHY ROLES</a:t>
            </a:r>
            <a:endParaRPr/>
          </a:p>
        </p:txBody>
      </p:sp>
      <p:sp>
        <p:nvSpPr>
          <p:cNvPr id="183" name="Google Shape;183;p6"/>
          <p:cNvSpPr txBox="1"/>
          <p:nvPr/>
        </p:nvSpPr>
        <p:spPr>
          <a:xfrm>
            <a:off x="731520" y="146304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SERIF</a:t>
            </a:r>
            <a:endParaRPr/>
          </a:p>
        </p:txBody>
      </p:sp>
      <p:sp>
        <p:nvSpPr>
          <p:cNvPr id="184" name="Google Shape;184;p6"/>
          <p:cNvSpPr txBox="1"/>
          <p:nvPr/>
        </p:nvSpPr>
        <p:spPr>
          <a:xfrm>
            <a:off x="731520" y="1874519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20E"/>
                </a:solidFill>
                <a:latin typeface="Georgia"/>
                <a:ea typeface="Georgia"/>
                <a:cs typeface="Georgia"/>
                <a:sym typeface="Georgia"/>
              </a:rPr>
              <a:t>Tiffany the Expert</a:t>
            </a: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731520" y="248716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B2A24"/>
                </a:solidFill>
                <a:latin typeface="Arial"/>
                <a:ea typeface="Arial"/>
                <a:cs typeface="Arial"/>
                <a:sym typeface="Arial"/>
              </a:rPr>
              <a:t>Authority • Luxury • Headlines</a:t>
            </a:r>
            <a:endParaRPr/>
          </a:p>
        </p:txBody>
      </p:sp>
      <p:sp>
        <p:nvSpPr>
          <p:cNvPr id="186" name="Google Shape;186;p6"/>
          <p:cNvSpPr txBox="1"/>
          <p:nvPr/>
        </p:nvSpPr>
        <p:spPr>
          <a:xfrm>
            <a:off x="4343400" y="146304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SCRIPT / ITALIC</a:t>
            </a:r>
            <a:endParaRPr/>
          </a:p>
        </p:txBody>
      </p:sp>
      <p:sp>
        <p:nvSpPr>
          <p:cNvPr id="187" name="Google Shape;187;p6"/>
          <p:cNvSpPr txBox="1"/>
          <p:nvPr/>
        </p:nvSpPr>
        <p:spPr>
          <a:xfrm>
            <a:off x="4343400" y="1874519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700" u="none" cap="none" strike="noStrike">
                <a:solidFill>
                  <a:srgbClr val="4A214F"/>
                </a:solidFill>
                <a:latin typeface="Georgia"/>
                <a:ea typeface="Georgia"/>
                <a:cs typeface="Georgia"/>
                <a:sym typeface="Georgia"/>
              </a:rPr>
              <a:t>Tiffany the Person</a:t>
            </a:r>
            <a:endParaRPr/>
          </a:p>
        </p:txBody>
      </p:sp>
      <p:sp>
        <p:nvSpPr>
          <p:cNvPr id="188" name="Google Shape;188;p6"/>
          <p:cNvSpPr txBox="1"/>
          <p:nvPr/>
        </p:nvSpPr>
        <p:spPr>
          <a:xfrm>
            <a:off x="4343400" y="248716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B2A24"/>
                </a:solidFill>
                <a:latin typeface="Arial"/>
                <a:ea typeface="Arial"/>
                <a:cs typeface="Arial"/>
                <a:sym typeface="Arial"/>
              </a:rPr>
              <a:t>Soul • Personality • Story</a:t>
            </a:r>
            <a:endParaRPr/>
          </a:p>
        </p:txBody>
      </p:sp>
      <p:sp>
        <p:nvSpPr>
          <p:cNvPr id="189" name="Google Shape;189;p6"/>
          <p:cNvSpPr txBox="1"/>
          <p:nvPr/>
        </p:nvSpPr>
        <p:spPr>
          <a:xfrm>
            <a:off x="8001000" y="146304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SANS SERIF</a:t>
            </a:r>
            <a:endParaRPr/>
          </a:p>
        </p:txBody>
      </p:sp>
      <p:sp>
        <p:nvSpPr>
          <p:cNvPr id="190" name="Google Shape;190;p6"/>
          <p:cNvSpPr txBox="1"/>
          <p:nvPr/>
        </p:nvSpPr>
        <p:spPr>
          <a:xfrm>
            <a:off x="8001000" y="1874519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4B4F"/>
                </a:solidFill>
                <a:latin typeface="Arial"/>
                <a:ea typeface="Arial"/>
                <a:cs typeface="Arial"/>
                <a:sym typeface="Arial"/>
              </a:rPr>
              <a:t>Tiffany the Educator</a:t>
            </a:r>
            <a:endParaRPr/>
          </a:p>
        </p:txBody>
      </p:sp>
      <p:sp>
        <p:nvSpPr>
          <p:cNvPr id="191" name="Google Shape;191;p6"/>
          <p:cNvSpPr txBox="1"/>
          <p:nvPr/>
        </p:nvSpPr>
        <p:spPr>
          <a:xfrm>
            <a:off x="8001000" y="248716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B2A24"/>
                </a:solidFill>
                <a:latin typeface="Arial"/>
                <a:ea typeface="Arial"/>
                <a:cs typeface="Arial"/>
                <a:sym typeface="Arial"/>
              </a:rPr>
              <a:t>Clarity • Information • Action</a:t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731520" y="3246120"/>
            <a:ext cx="10698480" cy="36576"/>
          </a:xfrm>
          <a:prstGeom prst="rect">
            <a:avLst/>
          </a:prstGeom>
          <a:solidFill>
            <a:srgbClr val="D9AE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731520" y="3749039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4B4F"/>
                </a:solidFill>
                <a:latin typeface="Arial"/>
                <a:ea typeface="Arial"/>
                <a:cs typeface="Arial"/>
                <a:sym typeface="Arial"/>
              </a:rPr>
              <a:t>DESIGN RULE</a:t>
            </a:r>
            <a:endParaRPr/>
          </a:p>
        </p:txBody>
      </p:sp>
      <p:sp>
        <p:nvSpPr>
          <p:cNvPr id="194" name="Google Shape;194;p6"/>
          <p:cNvSpPr txBox="1"/>
          <p:nvPr/>
        </p:nvSpPr>
        <p:spPr>
          <a:xfrm>
            <a:off x="731520" y="416052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120E"/>
                </a:solidFill>
                <a:latin typeface="Georgia"/>
                <a:ea typeface="Georgia"/>
                <a:cs typeface="Georgia"/>
                <a:sym typeface="Georgia"/>
              </a:rPr>
              <a:t>Hierarchy before decoration. One clear message. Generous space. Strong contrast.</a:t>
            </a:r>
            <a:endParaRPr/>
          </a:p>
        </p:txBody>
      </p:sp>
      <p:sp>
        <p:nvSpPr>
          <p:cNvPr id="195" name="Google Shape;195;p6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TIFFANY WEBB  •  BOLD &amp; BRILLIANT</a:t>
            </a:r>
            <a:endParaRPr/>
          </a:p>
        </p:txBody>
      </p:sp>
      <p:sp>
        <p:nvSpPr>
          <p:cNvPr id="196" name="Google Shape;196;p6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0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7680960" y="411480"/>
            <a:ext cx="3931920" cy="5669280"/>
          </a:xfrm>
          <a:prstGeom prst="rect">
            <a:avLst/>
          </a:prstGeom>
          <a:solidFill>
            <a:srgbClr val="004B4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TEMPLATE A  /  HERO</a:t>
            </a:r>
            <a:endParaRPr/>
          </a:p>
        </p:txBody>
      </p:sp>
      <p:sp>
        <p:nvSpPr>
          <p:cNvPr id="204" name="Google Shape;204;p7"/>
          <p:cNvSpPr txBox="1"/>
          <p:nvPr/>
        </p:nvSpPr>
        <p:spPr>
          <a:xfrm>
            <a:off x="640080" y="1143000"/>
            <a:ext cx="65836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rPr>
              <a:t>YOUR BIG</a:t>
            </a:r>
            <a:br>
              <a:rPr b="1" i="0" lang="en-US" sz="3800" u="none" cap="none" strike="noStrike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3800" u="none" cap="none" strike="noStrike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rPr>
              <a:t>IDEA LIVES HERE.</a:t>
            </a:r>
            <a:endParaRPr/>
          </a:p>
        </p:txBody>
      </p:sp>
      <p:sp>
        <p:nvSpPr>
          <p:cNvPr id="205" name="Google Shape;205;p7"/>
          <p:cNvSpPr txBox="1"/>
          <p:nvPr/>
        </p:nvSpPr>
        <p:spPr>
          <a:xfrm>
            <a:off x="658368" y="2743200"/>
            <a:ext cx="6126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AA7D"/>
                </a:solidFill>
                <a:latin typeface="Arial"/>
                <a:ea typeface="Arial"/>
                <a:cs typeface="Arial"/>
                <a:sym typeface="Arial"/>
              </a:rPr>
              <a:t>One strong promise line that makes the value clear.</a:t>
            </a:r>
            <a:endParaRPr/>
          </a:p>
        </p:txBody>
      </p:sp>
      <p:sp>
        <p:nvSpPr>
          <p:cNvPr id="206" name="Google Shape;206;p7"/>
          <p:cNvSpPr txBox="1"/>
          <p:nvPr/>
        </p:nvSpPr>
        <p:spPr>
          <a:xfrm>
            <a:off x="7973568" y="288036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6F1E7"/>
                </a:solidFill>
                <a:latin typeface="Arial"/>
                <a:ea typeface="Arial"/>
                <a:cs typeface="Arial"/>
                <a:sym typeface="Arial"/>
              </a:rPr>
              <a:t>Use portrait or cinematic image here</a:t>
            </a:r>
            <a:endParaRPr/>
          </a:p>
        </p:txBody>
      </p:sp>
      <p:sp>
        <p:nvSpPr>
          <p:cNvPr id="207" name="Google Shape;207;p7"/>
          <p:cNvSpPr txBox="1"/>
          <p:nvPr/>
        </p:nvSpPr>
        <p:spPr>
          <a:xfrm>
            <a:off x="658368" y="5074920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 u="none" cap="none" strike="noStrike">
                <a:solidFill>
                  <a:srgbClr val="D9AE4A"/>
                </a:solidFill>
                <a:latin typeface="Georgia"/>
                <a:ea typeface="Georgia"/>
                <a:cs typeface="Georgia"/>
                <a:sym typeface="Georgia"/>
              </a:rPr>
              <a:t>Elegant impact. Unmistakable presence.</a:t>
            </a:r>
            <a:endParaRPr/>
          </a:p>
        </p:txBody>
      </p:sp>
      <p:sp>
        <p:nvSpPr>
          <p:cNvPr id="208" name="Google Shape;208;p7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TIFFANY WEBB  •  BOLD &amp; BRILLIANT</a:t>
            </a:r>
            <a:endParaRPr/>
          </a:p>
        </p:txBody>
      </p:sp>
      <p:sp>
        <p:nvSpPr>
          <p:cNvPr id="209" name="Google Shape;209;p7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4B4F"/>
                </a:solidFill>
                <a:latin typeface="Arial"/>
                <a:ea typeface="Arial"/>
                <a:cs typeface="Arial"/>
                <a:sym typeface="Arial"/>
              </a:rPr>
              <a:t>TEMPLATE C  /  HUMAN-FIRST TEACHING</a:t>
            </a:r>
            <a:endParaRPr/>
          </a:p>
        </p:txBody>
      </p:sp>
      <p:sp>
        <p:nvSpPr>
          <p:cNvPr id="216" name="Google Shape;216;p8"/>
          <p:cNvSpPr txBox="1"/>
          <p:nvPr/>
        </p:nvSpPr>
        <p:spPr>
          <a:xfrm>
            <a:off x="640080" y="86868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20E"/>
                </a:solidFill>
                <a:latin typeface="Georgia"/>
                <a:ea typeface="Georgia"/>
                <a:cs typeface="Georgia"/>
                <a:sym typeface="Georgia"/>
              </a:rPr>
              <a:t>TOPIC TITLE</a:t>
            </a:r>
            <a:endParaRPr/>
          </a:p>
        </p:txBody>
      </p:sp>
      <p:sp>
        <p:nvSpPr>
          <p:cNvPr id="217" name="Google Shape;217;p8"/>
          <p:cNvSpPr txBox="1"/>
          <p:nvPr/>
        </p:nvSpPr>
        <p:spPr>
          <a:xfrm>
            <a:off x="658368" y="14630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B2A24"/>
                </a:solidFill>
                <a:latin typeface="Arial"/>
                <a:ea typeface="Arial"/>
                <a:cs typeface="Arial"/>
                <a:sym typeface="Arial"/>
              </a:rPr>
              <a:t>One-sentence introduction to frame why this matters.</a:t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685800" y="2148840"/>
            <a:ext cx="1078992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868680" y="2313432"/>
            <a:ext cx="438912" cy="438912"/>
          </a:xfrm>
          <a:prstGeom prst="rect">
            <a:avLst/>
          </a:prstGeom>
          <a:solidFill>
            <a:srgbClr val="004B4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 txBox="1"/>
          <p:nvPr/>
        </p:nvSpPr>
        <p:spPr>
          <a:xfrm>
            <a:off x="987552" y="2359152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6F1E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21" name="Google Shape;221;p8"/>
          <p:cNvSpPr txBox="1"/>
          <p:nvPr/>
        </p:nvSpPr>
        <p:spPr>
          <a:xfrm>
            <a:off x="1554480" y="2331720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F120E"/>
                </a:solidFill>
                <a:latin typeface="Arial"/>
                <a:ea typeface="Arial"/>
                <a:cs typeface="Arial"/>
                <a:sym typeface="Arial"/>
              </a:rPr>
              <a:t>Talking point one</a:t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685800" y="3200400"/>
            <a:ext cx="1078992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868680" y="3364992"/>
            <a:ext cx="438912" cy="438912"/>
          </a:xfrm>
          <a:prstGeom prst="rect">
            <a:avLst/>
          </a:prstGeom>
          <a:solidFill>
            <a:srgbClr val="D9AE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987552" y="3410712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6F1E7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25" name="Google Shape;225;p8"/>
          <p:cNvSpPr txBox="1"/>
          <p:nvPr/>
        </p:nvSpPr>
        <p:spPr>
          <a:xfrm>
            <a:off x="1554480" y="3383280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F120E"/>
                </a:solidFill>
                <a:latin typeface="Arial"/>
                <a:ea typeface="Arial"/>
                <a:cs typeface="Arial"/>
                <a:sym typeface="Arial"/>
              </a:rPr>
              <a:t>Talking point two</a:t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685800" y="4251960"/>
            <a:ext cx="1078992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868680" y="4416552"/>
            <a:ext cx="438912" cy="438912"/>
          </a:xfrm>
          <a:prstGeom prst="rect">
            <a:avLst/>
          </a:prstGeom>
          <a:solidFill>
            <a:srgbClr val="0F120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 txBox="1"/>
          <p:nvPr/>
        </p:nvSpPr>
        <p:spPr>
          <a:xfrm>
            <a:off x="987552" y="4462272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6F1E7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29" name="Google Shape;229;p8"/>
          <p:cNvSpPr txBox="1"/>
          <p:nvPr/>
        </p:nvSpPr>
        <p:spPr>
          <a:xfrm>
            <a:off x="1554480" y="4434840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F120E"/>
                </a:solidFill>
                <a:latin typeface="Arial"/>
                <a:ea typeface="Arial"/>
                <a:cs typeface="Arial"/>
                <a:sym typeface="Arial"/>
              </a:rPr>
              <a:t>Talking point three</a:t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685800" y="5440680"/>
            <a:ext cx="10789920" cy="777240"/>
          </a:xfrm>
          <a:prstGeom prst="rect">
            <a:avLst/>
          </a:prstGeom>
          <a:solidFill>
            <a:srgbClr val="004B4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 txBox="1"/>
          <p:nvPr/>
        </p:nvSpPr>
        <p:spPr>
          <a:xfrm>
            <a:off x="960120" y="566928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6F1E7"/>
                </a:solidFill>
                <a:latin typeface="Arial"/>
                <a:ea typeface="Arial"/>
                <a:cs typeface="Arial"/>
                <a:sym typeface="Arial"/>
              </a:rPr>
              <a:t>CLOSE WITH A STORY, QUESTION, OR ACTION PROMPT</a:t>
            </a:r>
            <a:endParaRPr/>
          </a:p>
        </p:txBody>
      </p:sp>
      <p:sp>
        <p:nvSpPr>
          <p:cNvPr id="232" name="Google Shape;232;p8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TIFFANY WEBB  •  BOLD &amp; BRILLIANT</a:t>
            </a:r>
            <a:endParaRPr/>
          </a:p>
        </p:txBody>
      </p:sp>
      <p:sp>
        <p:nvSpPr>
          <p:cNvPr id="233" name="Google Shape;233;p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14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TEMPLATE E  /  POINT OF VIEW</a:t>
            </a:r>
            <a:endParaRPr/>
          </a:p>
        </p:txBody>
      </p:sp>
      <p:sp>
        <p:nvSpPr>
          <p:cNvPr id="240" name="Google Shape;240;p9"/>
          <p:cNvSpPr txBox="1"/>
          <p:nvPr/>
        </p:nvSpPr>
        <p:spPr>
          <a:xfrm>
            <a:off x="1143000" y="1325880"/>
            <a:ext cx="98755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600" u="none" cap="none" strike="noStrike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rPr>
              <a:t>“I do not shrink</a:t>
            </a:r>
            <a:br>
              <a:rPr b="0" i="1" lang="en-US" sz="3600" u="none" cap="none" strike="noStrike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1" lang="en-US" sz="3600" u="none" cap="none" strike="noStrike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rPr>
              <a:t>to fit the room.</a:t>
            </a:r>
            <a:br>
              <a:rPr b="0" i="1" lang="en-US" sz="3600" u="none" cap="none" strike="noStrike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1" lang="en-US" sz="3600" u="none" cap="none" strike="noStrike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rPr>
              <a:t>I shape the room</a:t>
            </a:r>
            <a:br>
              <a:rPr b="0" i="1" lang="en-US" sz="3600" u="none" cap="none" strike="noStrike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1" lang="en-US" sz="3600" u="none" cap="none" strike="noStrike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rPr>
              <a:t>around possibility.”</a:t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5074920" y="5029200"/>
            <a:ext cx="2011680" cy="45720"/>
          </a:xfrm>
          <a:prstGeom prst="rect">
            <a:avLst/>
          </a:prstGeom>
          <a:solidFill>
            <a:srgbClr val="D9AE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 txBox="1"/>
          <p:nvPr/>
        </p:nvSpPr>
        <p:spPr>
          <a:xfrm>
            <a:off x="4846320" y="528523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TIFFANY WEBB</a:t>
            </a:r>
            <a:endParaRPr/>
          </a:p>
        </p:txBody>
      </p:sp>
      <p:sp>
        <p:nvSpPr>
          <p:cNvPr id="243" name="Google Shape;243;p9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TIFFANY WEBB  •  BOLD &amp; BRILLIANT</a:t>
            </a:r>
            <a:endParaRPr/>
          </a:p>
        </p:txBody>
      </p:sp>
      <p:sp>
        <p:nvSpPr>
          <p:cNvPr id="244" name="Google Shape;244;p9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B4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 txBox="1"/>
          <p:nvPr/>
        </p:nvSpPr>
        <p:spPr>
          <a:xfrm>
            <a:off x="640080" y="5029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rPr>
              <a:t>DESIGN APPROVAL TEST</a:t>
            </a:r>
            <a:endParaRPr/>
          </a:p>
        </p:txBody>
      </p:sp>
      <p:sp>
        <p:nvSpPr>
          <p:cNvPr id="251" name="Google Shape;251;p10"/>
          <p:cNvSpPr txBox="1"/>
          <p:nvPr/>
        </p:nvSpPr>
        <p:spPr>
          <a:xfrm>
            <a:off x="777240" y="137160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○</a:t>
            </a:r>
            <a:endParaRPr/>
          </a:p>
        </p:txBody>
      </p:sp>
      <p:sp>
        <p:nvSpPr>
          <p:cNvPr id="252" name="Google Shape;252;p10"/>
          <p:cNvSpPr txBox="1"/>
          <p:nvPr/>
        </p:nvSpPr>
        <p:spPr>
          <a:xfrm>
            <a:off x="1188720" y="137160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6F1E7"/>
                </a:solidFill>
                <a:latin typeface="Arial"/>
                <a:ea typeface="Arial"/>
                <a:cs typeface="Arial"/>
                <a:sym typeface="Arial"/>
              </a:rPr>
              <a:t>Is the message clear in five seconds?</a:t>
            </a:r>
            <a:endParaRPr/>
          </a:p>
        </p:txBody>
      </p:sp>
      <p:sp>
        <p:nvSpPr>
          <p:cNvPr id="253" name="Google Shape;253;p10"/>
          <p:cNvSpPr txBox="1"/>
          <p:nvPr/>
        </p:nvSpPr>
        <p:spPr>
          <a:xfrm>
            <a:off x="777240" y="208483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○</a:t>
            </a:r>
            <a:endParaRPr/>
          </a:p>
        </p:txBody>
      </p:sp>
      <p:sp>
        <p:nvSpPr>
          <p:cNvPr id="254" name="Google Shape;254;p10"/>
          <p:cNvSpPr txBox="1"/>
          <p:nvPr/>
        </p:nvSpPr>
        <p:spPr>
          <a:xfrm>
            <a:off x="1188720" y="2084832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6F1E7"/>
                </a:solidFill>
                <a:latin typeface="Arial"/>
                <a:ea typeface="Arial"/>
                <a:cs typeface="Arial"/>
                <a:sym typeface="Arial"/>
              </a:rPr>
              <a:t>Which pillar is visible: Presence, Purpose, or Brilliance?</a:t>
            </a:r>
            <a:endParaRPr/>
          </a:p>
        </p:txBody>
      </p:sp>
      <p:sp>
        <p:nvSpPr>
          <p:cNvPr id="255" name="Google Shape;255;p10"/>
          <p:cNvSpPr txBox="1"/>
          <p:nvPr/>
        </p:nvSpPr>
        <p:spPr>
          <a:xfrm>
            <a:off x="777240" y="279806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○</a:t>
            </a:r>
            <a:endParaRPr/>
          </a:p>
        </p:txBody>
      </p:sp>
      <p:sp>
        <p:nvSpPr>
          <p:cNvPr id="256" name="Google Shape;256;p10"/>
          <p:cNvSpPr txBox="1"/>
          <p:nvPr/>
        </p:nvSpPr>
        <p:spPr>
          <a:xfrm>
            <a:off x="1188720" y="2798064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6F1E7"/>
                </a:solidFill>
                <a:latin typeface="Arial"/>
                <a:ea typeface="Arial"/>
                <a:cs typeface="Arial"/>
                <a:sym typeface="Arial"/>
              </a:rPr>
              <a:t>Does it feel Bold &amp; Brilliant?</a:t>
            </a:r>
            <a:endParaRPr/>
          </a:p>
        </p:txBody>
      </p:sp>
      <p:sp>
        <p:nvSpPr>
          <p:cNvPr id="257" name="Google Shape;257;p10"/>
          <p:cNvSpPr txBox="1"/>
          <p:nvPr/>
        </p:nvSpPr>
        <p:spPr>
          <a:xfrm>
            <a:off x="777240" y="351129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○</a:t>
            </a:r>
            <a:endParaRPr/>
          </a:p>
        </p:txBody>
      </p:sp>
      <p:sp>
        <p:nvSpPr>
          <p:cNvPr id="258" name="Google Shape;258;p10"/>
          <p:cNvSpPr txBox="1"/>
          <p:nvPr/>
        </p:nvSpPr>
        <p:spPr>
          <a:xfrm>
            <a:off x="1188720" y="3511296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6F1E7"/>
                </a:solidFill>
                <a:latin typeface="Arial"/>
                <a:ea typeface="Arial"/>
                <a:cs typeface="Arial"/>
                <a:sym typeface="Arial"/>
              </a:rPr>
              <a:t>Is the visual mode right for the audience?</a:t>
            </a:r>
            <a:endParaRPr/>
          </a:p>
        </p:txBody>
      </p:sp>
      <p:sp>
        <p:nvSpPr>
          <p:cNvPr id="259" name="Google Shape;259;p10"/>
          <p:cNvSpPr txBox="1"/>
          <p:nvPr/>
        </p:nvSpPr>
        <p:spPr>
          <a:xfrm>
            <a:off x="777240" y="422452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○</a:t>
            </a:r>
            <a:endParaRPr/>
          </a:p>
        </p:txBody>
      </p:sp>
      <p:sp>
        <p:nvSpPr>
          <p:cNvPr id="260" name="Google Shape;260;p10"/>
          <p:cNvSpPr txBox="1"/>
          <p:nvPr/>
        </p:nvSpPr>
        <p:spPr>
          <a:xfrm>
            <a:off x="1188720" y="4224528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6F1E7"/>
                </a:solidFill>
                <a:latin typeface="Arial"/>
                <a:ea typeface="Arial"/>
                <a:cs typeface="Arial"/>
                <a:sym typeface="Arial"/>
              </a:rPr>
              <a:t>Is the cultural detail intentional—not decorative?</a:t>
            </a:r>
            <a:endParaRPr/>
          </a:p>
        </p:txBody>
      </p:sp>
      <p:sp>
        <p:nvSpPr>
          <p:cNvPr id="261" name="Google Shape;261;p10"/>
          <p:cNvSpPr txBox="1"/>
          <p:nvPr/>
        </p:nvSpPr>
        <p:spPr>
          <a:xfrm>
            <a:off x="777240" y="493776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○</a:t>
            </a:r>
            <a:endParaRPr/>
          </a:p>
        </p:txBody>
      </p:sp>
      <p:sp>
        <p:nvSpPr>
          <p:cNvPr id="262" name="Google Shape;262;p10"/>
          <p:cNvSpPr txBox="1"/>
          <p:nvPr/>
        </p:nvSpPr>
        <p:spPr>
          <a:xfrm>
            <a:off x="1188720" y="493776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6F1E7"/>
                </a:solidFill>
                <a:latin typeface="Arial"/>
                <a:ea typeface="Arial"/>
                <a:cs typeface="Arial"/>
                <a:sym typeface="Arial"/>
              </a:rPr>
              <a:t>Does it feel elegant, warm, and unmistakably Tiffany Webb?</a:t>
            </a:r>
            <a:endParaRPr/>
          </a:p>
        </p:txBody>
      </p:sp>
      <p:sp>
        <p:nvSpPr>
          <p:cNvPr id="263" name="Google Shape;263;p10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ELEGANT IMPACT. UNMISTAKABLE PRESENCE.</a:t>
            </a:r>
            <a:endParaRPr/>
          </a:p>
        </p:txBody>
      </p:sp>
      <p:sp>
        <p:nvSpPr>
          <p:cNvPr id="264" name="Google Shape;264;p10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TIFFANY WEBB  •  BOLD &amp; BRILLIANT</a:t>
            </a:r>
            <a:endParaRPr/>
          </a:p>
        </p:txBody>
      </p:sp>
      <p:sp>
        <p:nvSpPr>
          <p:cNvPr id="265" name="Google Shape;265;p10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9AE4A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