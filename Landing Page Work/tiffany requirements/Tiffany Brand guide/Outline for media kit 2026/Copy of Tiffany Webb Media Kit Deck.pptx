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DM Sans Bold" charset="1" panose="00000000000000000000"/>
      <p:regular r:id="rId23"/>
    </p:embeddedFont>
    <p:embeddedFont>
      <p:font typeface="Cormorant Garamond Bold" charset="1" panose="00000800000000000000"/>
      <p:regular r:id="rId24"/>
    </p:embeddedFont>
    <p:embeddedFont>
      <p:font typeface="DM Sans" charset="1" panose="00000000000000000000"/>
      <p:regular r:id="rId25"/>
    </p:embeddedFont>
    <p:embeddedFont>
      <p:font typeface="Cormorant Garamond Italics" charset="1" panose="00000500000000000000"/>
      <p:regular r:id="rId27"/>
    </p:embeddedFont>
    <p:embeddedFont>
      <p:font typeface="Cormorant Garamond" charset="1" panose="00000500000000000000"/>
      <p:regular r:id="rId39"/>
    </p:embeddedFont>
    <p:embeddedFont>
      <p:font typeface="Cormorant Garamond Bold Italics" charset="1" panose="000008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fonts/font27.fntdata" Type="http://schemas.openxmlformats.org/officeDocument/2006/relationships/font"/><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14.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focus today is on Tiffany Webb's Premium Media Kit for 2025. Let’s dive into what makes Tiffany an exceptional public health leader, speaker, and strategist.</a:t>
            </a:r>
          </a:p>
          <a:p>
            <a:r>
              <a:rPr lang="en-US"/>
              <a:t/>
            </a:r>
          </a:p>
          <a:p>
            <a:r>
              <a:rPr lang="en-US"/>
              <a:t>First, take a moment to appreciate her credentials: a BBA and a Master’s in Public Health. These qualifications are the foundation of her expertise. </a:t>
            </a:r>
          </a:p>
          <a:p>
            <a:r>
              <a:rPr lang="en-US"/>
              <a:t/>
            </a:r>
          </a:p>
          <a:p>
            <a:r>
              <a:rPr lang="en-US"/>
              <a:t>[Pause for a moment to let the audience absorb this information.]</a:t>
            </a:r>
          </a:p>
          <a:p>
            <a:r>
              <a:rPr lang="en-US"/>
              <a:t/>
            </a:r>
          </a:p>
          <a:p>
            <a:r>
              <a:rPr lang="en-US"/>
              <a:t>Tiffany’s approach is captured beautifully in her tagline: "Bold &amp; Brilliant | Chicago Soul | Louisiana Heart." These words reflect her dynamic personality and the rich cultural influences that shape her work.</a:t>
            </a:r>
          </a:p>
          <a:p>
            <a:r>
              <a:rPr lang="en-US"/>
              <a:t/>
            </a:r>
          </a:p>
          <a:p>
            <a:r>
              <a:rPr lang="en-US"/>
              <a:t>[Emphasize the tagline with a slight pause before and after.]</a:t>
            </a:r>
          </a:p>
          <a:p>
            <a:r>
              <a:rPr lang="en-US"/>
              <a:t/>
            </a:r>
          </a:p>
          <a:p>
            <a:r>
              <a:rPr lang="en-US"/>
              <a:t>As a leader in public health, Tiffany blends her strategic mindset with her passion for community service. Her work is not just about addressing health issues but about transforming them into empowering dialogues and actionable strategies.</a:t>
            </a:r>
          </a:p>
          <a:p>
            <a:r>
              <a:rPr lang="en-US"/>
              <a:t/>
            </a:r>
          </a:p>
          <a:p>
            <a:r>
              <a:rPr lang="en-US"/>
              <a:t>[Conclude with a confident tone to highlight her leadership and impact.]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dive into Tiffany Webb’s story—a journey shaped by the vibrant cultures of Chicago and Louisiana. This unique combination gives Tiffany a robust cultural intelligence and a deep commitment to public health leadership.</a:t>
            </a:r>
          </a:p>
          <a:p>
            <a:r>
              <a:rPr lang="en-US"/>
              <a:t/>
            </a:r>
          </a:p>
          <a:p>
            <a:r>
              <a:rPr lang="en-US"/>
              <a:t>[Pause for a moment to let the audience absorb.]</a:t>
            </a:r>
          </a:p>
          <a:p>
            <a:r>
              <a:rPr lang="en-US"/>
              <a:t/>
            </a:r>
          </a:p>
          <a:p>
            <a:r>
              <a:rPr lang="en-US"/>
              <a:t>Tiffany’s work is all about transforming complex challenges into trustworthy conversations. She’s not just focused on creating strategies; she emphasizes making these strategies accessible and actionable for communities.</a:t>
            </a:r>
          </a:p>
          <a:p>
            <a:r>
              <a:rPr lang="en-US"/>
              <a:t/>
            </a:r>
          </a:p>
          <a:p>
            <a:r>
              <a:rPr lang="en-US"/>
              <a:t>[Emphasize the next quote by pausing before and after.]</a:t>
            </a:r>
          </a:p>
          <a:p>
            <a:r>
              <a:rPr lang="en-US"/>
              <a:t/>
            </a:r>
          </a:p>
          <a:p>
            <a:r>
              <a:rPr lang="en-US"/>
              <a:t>As Tiffany often says, “Prevention begins with conversation and relationships.” This philosophy highlights the importance of dialogue and connection in driving meaningful change.</a:t>
            </a:r>
          </a:p>
          <a:p>
            <a:r>
              <a:rPr lang="en-US"/>
              <a:t/>
            </a:r>
          </a:p>
          <a:p>
            <a:r>
              <a:rPr lang="en-US"/>
              <a:t>[Make eye contact with the audience to engage them.]</a:t>
            </a:r>
          </a:p>
          <a:p>
            <a:r>
              <a:rPr lang="en-US"/>
              <a:t/>
            </a:r>
          </a:p>
          <a:p>
            <a:r>
              <a:rPr lang="en-US"/>
              <a:t>By understanding the roots and motivations behind her work, we can appreciate how her background and beliefs fuel her dedication to service and leadership. This sets the stage for exploring her mission and purpose, which we’ll cover next.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[Pause for a moment to let the slide title resonate: "MISSION &amp; PURPOSE"]</a:t>
            </a:r>
          </a:p>
          <a:p>
            <a:r>
              <a:rPr lang="en-US"/>
              <a:t/>
            </a:r>
          </a:p>
          <a:p>
            <a:r>
              <a:rPr lang="en-US"/>
              <a:t>As we move forward, let's delve into what truly drives Tiffany's work.</a:t>
            </a:r>
          </a:p>
          <a:p>
            <a:r>
              <a:rPr lang="en-US"/>
              <a:t/>
            </a:r>
          </a:p>
          <a:p>
            <a:r>
              <a:rPr lang="en-US"/>
              <a:t>Her leadership is a unique blend of heart and strategy. Tiffany is committed to advancing healthier communities, and she achieves this through education, prevention, service, and forming meaningful partnerships. This approach is not just about implementing evidence-based strategies, but about coupling that evidence with empathy. </a:t>
            </a:r>
          </a:p>
          <a:p>
            <a:r>
              <a:rPr lang="en-US"/>
              <a:t/>
            </a:r>
          </a:p>
          <a:p>
            <a:r>
              <a:rPr lang="en-US"/>
              <a:t>[Emphasize the following point]</a:t>
            </a:r>
          </a:p>
          <a:p>
            <a:r>
              <a:rPr lang="en-US"/>
              <a:t/>
            </a:r>
          </a:p>
          <a:p>
            <a:r>
              <a:rPr lang="en-US"/>
              <a:t>By creating solutions with people, rather than just for them, Tiffany ensures that hope flourishes in places where individuals feel seen, heard, and connected. This is what makes her approach so impactful.</a:t>
            </a:r>
          </a:p>
          <a:p>
            <a:r>
              <a:rPr lang="en-US"/>
              <a:t/>
            </a:r>
          </a:p>
          <a:p>
            <a:r>
              <a:rPr lang="en-US"/>
              <a:t>[Conclude with a reflective pause before transitioning]</a:t>
            </a:r>
          </a:p>
          <a:p>
            <a:r>
              <a:rPr lang="en-US"/>
              <a:t/>
            </a:r>
          </a:p>
          <a:p>
            <a:r>
              <a:rPr lang="en-US"/>
              <a:t>Remember, hope grows where there is connection and understanding. Let's explore how her expertise continues to influence and inspire.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we're diving into Tiffany Webb's professional expertise—an impressive blend of skills that truly moves people. </a:t>
            </a:r>
          </a:p>
          <a:p>
            <a:r>
              <a:rPr lang="en-US"/>
              <a:t/>
            </a:r>
          </a:p>
          <a:p>
            <a:r>
              <a:rPr lang="en-US"/>
              <a:t>[Pause for a moment to let the audience absorb the title.]</a:t>
            </a:r>
          </a:p>
          <a:p>
            <a:r>
              <a:rPr lang="en-US"/>
              <a:t/>
            </a:r>
          </a:p>
          <a:p>
            <a:r>
              <a:rPr lang="en-US"/>
              <a:t>Firstly, let's talk about Public Health Leadership. Tiffany's approach here is both innovative and grounded in real-world experience, allowing her to guide communities through complex health landscapes with clarity and confidence.</a:t>
            </a:r>
          </a:p>
          <a:p>
            <a:r>
              <a:rPr lang="en-US"/>
              <a:t/>
            </a:r>
          </a:p>
          <a:p>
            <a:r>
              <a:rPr lang="en-US"/>
              <a:t>Next, we have Community Engagement &amp; Education. Tiffany excels in creating spaces where learning and connection flourish. Her ability to engage diverse groups ensures that everyone feels included and empowered to participate in meaningful dialogue.</a:t>
            </a:r>
          </a:p>
          <a:p>
            <a:r>
              <a:rPr lang="en-US"/>
              <a:t/>
            </a:r>
          </a:p>
          <a:p>
            <a:r>
              <a:rPr lang="en-US"/>
              <a:t>[Pause for emphasis on engagement.]</a:t>
            </a:r>
          </a:p>
          <a:p>
            <a:r>
              <a:rPr lang="en-US"/>
              <a:t/>
            </a:r>
          </a:p>
          <a:p>
            <a:r>
              <a:rPr lang="en-US"/>
              <a:t>Then, there's Prevention Strategies &amp; Policy. Her expertise in crafting forward-thinking strategies helps communities not only anticipate challenges but also proactively address them, resulting in sustainable health outcomes.</a:t>
            </a:r>
          </a:p>
          <a:p>
            <a:r>
              <a:rPr lang="en-US"/>
              <a:t/>
            </a:r>
          </a:p>
          <a:p>
            <a:r>
              <a:rPr lang="en-US"/>
              <a:t>Finally, Strategic Communication &amp; Advocacy. Tiffany’s communication is strategic and impactful, driving advocacy efforts that bring about real change.</a:t>
            </a:r>
          </a:p>
          <a:p>
            <a:r>
              <a:rPr lang="en-US"/>
              <a:t/>
            </a:r>
          </a:p>
          <a:p>
            <a:r>
              <a:rPr lang="en-US"/>
              <a:t>[Conclude with a smile and a nod.]</a:t>
            </a:r>
          </a:p>
          <a:p>
            <a:r>
              <a:rPr lang="en-US"/>
              <a:t/>
            </a:r>
          </a:p>
          <a:p>
            <a:r>
              <a:rPr lang="en-US"/>
              <a:t>Each of these areas not only defines Tiffany's professional journey but also underscores her commitment to building healthier, more connected communities.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we'll explore the impactful signature speaking topics that Tiffany is renowned for. These are conversations designed to ignite change and inspire action. </a:t>
            </a:r>
          </a:p>
          <a:p>
            <a:r>
              <a:rPr lang="en-US"/>
              <a:t/>
            </a:r>
          </a:p>
          <a:p>
            <a:r>
              <a:rPr lang="en-US"/>
              <a:t>First, Community-Driven Prevention focuses on empowering local communities to take charge of their health initiatives. It's about understanding their unique needs and fostering solutions that are sustainable and effective. [Pause briefly here for emphasis]</a:t>
            </a:r>
          </a:p>
          <a:p>
            <a:r>
              <a:rPr lang="en-US"/>
              <a:t/>
            </a:r>
          </a:p>
          <a:p>
            <a:r>
              <a:rPr lang="en-US"/>
              <a:t>Next, we'll delve into Public Health Equity &amp; Access, which is crucial in ensuring that every individual, regardless of their background, has the opportunity to achieve optimal health. This topic emphasizes the breaking down of barriers and promoting inclusivity in healthcare systems. [Lean forward slightly to engage the audience]</a:t>
            </a:r>
          </a:p>
          <a:p>
            <a:r>
              <a:rPr lang="en-US"/>
              <a:t/>
            </a:r>
          </a:p>
          <a:p>
            <a:r>
              <a:rPr lang="en-US"/>
              <a:t>We'll also cover Leadership in Complex Systems, a vital skill in navigating the intricate networks of public health and community services. Here, Tiffany shares strategies for effective leadership that drives innovation and collaboration.</a:t>
            </a:r>
          </a:p>
          <a:p>
            <a:r>
              <a:rPr lang="en-US"/>
              <a:t/>
            </a:r>
          </a:p>
          <a:p>
            <a:r>
              <a:rPr lang="en-US"/>
              <a:t>Additionally, Building Resilient Communities is about fortifying communities to withstand and thrive amidst challenges. This involves fostering strong networks and support systems.</a:t>
            </a:r>
          </a:p>
          <a:p>
            <a:r>
              <a:rPr lang="en-US"/>
              <a:t/>
            </a:r>
          </a:p>
          <a:p>
            <a:r>
              <a:rPr lang="en-US"/>
              <a:t>Finally, Navigating Difficult Conversations equips audiences with the tools to handle sensitive discussions constructively, ensuring that every voice is heard and valued. [Pause and smile to connect with the audience]</a:t>
            </a:r>
          </a:p>
          <a:p>
            <a:r>
              <a:rPr lang="en-US"/>
              <a:t/>
            </a:r>
          </a:p>
          <a:p>
            <a:r>
              <a:rPr lang="en-US"/>
              <a:t>Each of these topics is crafted to inspire leaders and advocates to take meaningful action in their communities.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we move into discussing the diverse audiences we serve, it's important to recognize the breadth of our reach and the value of our collaborative efforts. [Pause to engage audience]</a:t>
            </a:r>
          </a:p>
          <a:p>
            <a:r>
              <a:rPr lang="en-US"/>
              <a:t/>
            </a:r>
          </a:p>
          <a:p>
            <a:r>
              <a:rPr lang="en-US"/>
              <a:t>Firstly, we cater to nonprofit leaders and healthcare professionals, who are at the forefront of making impactful changes in their communities. These individuals are often navigating limited resources, yet their dedication ensures that vital services reach those in need.</a:t>
            </a:r>
          </a:p>
          <a:p>
            <a:r>
              <a:rPr lang="en-US"/>
              <a:t/>
            </a:r>
          </a:p>
          <a:p>
            <a:r>
              <a:rPr lang="en-US"/>
              <a:t>Next, community organizations and advocates play a critical role. Their grassroots efforts are key to fostering sustainable change, and by partnering with them, we amplify our shared mission for progress.</a:t>
            </a:r>
          </a:p>
          <a:p>
            <a:r>
              <a:rPr lang="en-US"/>
              <a:t/>
            </a:r>
          </a:p>
          <a:p>
            <a:r>
              <a:rPr lang="en-US"/>
              <a:t>Educational institutions and students are also pivotal. By investing in education, we prepare the next generation of leaders, equipping them with the knowledge to drive future innovations in public health and community well-being.</a:t>
            </a:r>
          </a:p>
          <a:p>
            <a:r>
              <a:rPr lang="en-US"/>
              <a:t/>
            </a:r>
          </a:p>
          <a:p>
            <a:r>
              <a:rPr lang="en-US"/>
              <a:t>We also engage with government and policymakers. Their support is essential for implementing large-scale initiatives and policies that can bring about systemic change.</a:t>
            </a:r>
          </a:p>
          <a:p>
            <a:r>
              <a:rPr lang="en-US"/>
              <a:t/>
            </a:r>
          </a:p>
          <a:p>
            <a:r>
              <a:rPr lang="en-US"/>
              <a:t>Finally, corporate social responsibility teams are increasingly recognizing their role in contributing to societal wellbeing. Their involvement helps bridge the gap between corporate interests and community needs, promoting a more inclusive approach to business.</a:t>
            </a:r>
          </a:p>
          <a:p>
            <a:r>
              <a:rPr lang="en-US"/>
              <a:t/>
            </a:r>
          </a:p>
          <a:p>
            <a:r>
              <a:rPr lang="en-US"/>
              <a:t>[Emphasize and pause for effect]</a:t>
            </a:r>
          </a:p>
          <a:p>
            <a:r>
              <a:rPr lang="en-US"/>
              <a:t/>
            </a:r>
          </a:p>
          <a:p>
            <a:r>
              <a:rPr lang="en-US"/>
              <a:t>Together, these audiences form a powerful network united by a shared vision of progress. As we continue, we'll explore some of the career highlights and services that have shaped our journey in this mission.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I am excited to share with you some of the key highlights from my career, a journey deeply rooted in public trust.</a:t>
            </a:r>
          </a:p>
          <a:p>
            <a:r>
              <a:rPr lang="en-US"/>
              <a:t/>
            </a:r>
          </a:p>
          <a:p>
            <a:r>
              <a:rPr lang="en-US"/>
              <a:t>First, let's talk about my leadership roles. [Pause, make eye contact with the audience.] I have been privileged to lead several major public health initiatives, which have not only shaped policies but also fostered healthier communities. </a:t>
            </a:r>
          </a:p>
          <a:p>
            <a:r>
              <a:rPr lang="en-US"/>
              <a:t/>
            </a:r>
          </a:p>
          <a:p>
            <a:r>
              <a:rPr lang="en-US"/>
              <a:t>Next, recognition for service and community impact. [Emphasize with a slight nod.] Throughout my career, I've been honored for my contributions to community welfare, a testament to our collective efforts in enhancing public health.</a:t>
            </a:r>
          </a:p>
          <a:p>
            <a:r>
              <a:rPr lang="en-US"/>
              <a:t/>
            </a:r>
          </a:p>
          <a:p>
            <a:r>
              <a:rPr lang="en-US"/>
              <a:t>And finally, signature prevention programs. These initiatives, which I've had the opportunity to launch, have been pivotal in preventing health crises and promoting wellness across diverse populations. </a:t>
            </a:r>
          </a:p>
          <a:p>
            <a:r>
              <a:rPr lang="en-US"/>
              <a:t/>
            </a:r>
          </a:p>
          <a:p>
            <a:r>
              <a:rPr lang="en-US"/>
              <a:t>[Pause briefly to let the information sink in.]</a:t>
            </a:r>
          </a:p>
          <a:p>
            <a:r>
              <a:rPr lang="en-US"/>
              <a:t/>
            </a:r>
          </a:p>
          <a:p>
            <a:r>
              <a:rPr lang="en-US"/>
              <a:t>Additionally, my presence in media and keynote conversations has allowed me to share insights and foster dialogue on pressing public health issues, further extending our reach and impact. </a:t>
            </a:r>
          </a:p>
          <a:p>
            <a:r>
              <a:rPr lang="en-US"/>
              <a:t/>
            </a:r>
          </a:p>
          <a:p>
            <a:r>
              <a:rPr lang="en-US"/>
              <a:t>[Conclude with a warm smile and a nod.] Thank you for joining me on this journey. Let's continue to build on these successes as we explore more ways to collaborate.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discussing the services we offer, it's important to convey the impact and value we bring to our partners.</a:t>
            </a:r>
          </a:p>
          <a:p>
            <a:r>
              <a:rPr lang="en-US"/>
              <a:t/>
            </a:r>
          </a:p>
          <a:p>
            <a:r>
              <a:rPr lang="en-US"/>
              <a:t>Starting with Keynote Speaking &amp; Panel Moderation, emphasize how our approach creates impactful and memorable experiences. We don't just speak; we aim to move the room and inspire action.</a:t>
            </a:r>
          </a:p>
          <a:p>
            <a:r>
              <a:rPr lang="en-US"/>
              <a:t/>
            </a:r>
          </a:p>
          <a:p>
            <a:r>
              <a:rPr lang="en-US"/>
              <a:t>[Pause here to let the audience envision impactful conversations.]</a:t>
            </a:r>
          </a:p>
          <a:p>
            <a:r>
              <a:rPr lang="en-US"/>
              <a:t/>
            </a:r>
          </a:p>
          <a:p>
            <a:r>
              <a:rPr lang="en-US"/>
              <a:t>Next, with Strategic Consulting &amp; Training, highlight our ability to provide practical guidance to leaders. We understand the complexities they face and offer solutions that are both effective and actionable.</a:t>
            </a:r>
          </a:p>
          <a:p>
            <a:r>
              <a:rPr lang="en-US"/>
              <a:t/>
            </a:r>
          </a:p>
          <a:p>
            <a:r>
              <a:rPr lang="en-US"/>
              <a:t>[Use a confident tone to emphasize the practical benefits offered.]</a:t>
            </a:r>
          </a:p>
          <a:p>
            <a:r>
              <a:rPr lang="en-US"/>
              <a:t/>
            </a:r>
          </a:p>
          <a:p>
            <a:r>
              <a:rPr lang="en-US"/>
              <a:t>For Media &amp; Public Relations Support, stress our commitment to delivering credible messaging. We leverage community insights to ensure our communications resonate and build trust.</a:t>
            </a:r>
          </a:p>
          <a:p>
            <a:r>
              <a:rPr lang="en-US"/>
              <a:t/>
            </a:r>
          </a:p>
          <a:p>
            <a:r>
              <a:rPr lang="en-US"/>
              <a:t>Finally, in Community Outreach Program Design, we focus on creating human-centered programs that encourage active participation. Our goal is to design outreach efforts that are inclusive and engaging.</a:t>
            </a:r>
          </a:p>
          <a:p>
            <a:r>
              <a:rPr lang="en-US"/>
              <a:t/>
            </a:r>
          </a:p>
          <a:p>
            <a:r>
              <a:rPr lang="en-US"/>
              <a:t>[Conclude with a smile, inviting questions or expressions of interest.]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discussing "Events &amp; Strategic Partnerships," focus on the transformative impact Tiffany has within these collaborations. Highlight her unique ability to turn visibility into lasting value by approaching each partnership with a community-first perspective. </a:t>
            </a:r>
          </a:p>
          <a:p>
            <a:r>
              <a:rPr lang="en-US"/>
              <a:t/>
            </a:r>
          </a:p>
          <a:p>
            <a:r>
              <a:rPr lang="en-US"/>
              <a:t>Start by emphasizing her high-impact presence in conferences, nonprofit convenings, institutional programs, and cross-sector collaborations. Explain how this presence is not just about being visible, but about creating meaningful engagement that benefits all parties involved.</a:t>
            </a:r>
          </a:p>
          <a:p>
            <a:r>
              <a:rPr lang="en-US"/>
              <a:t/>
            </a:r>
          </a:p>
          <a:p>
            <a:r>
              <a:rPr lang="en-US"/>
              <a:t>[Tiffany brings a community-first lens to all her initiatives, ensuring that the partnerships she forms are both impactful and sustainable.]</a:t>
            </a:r>
          </a:p>
          <a:p>
            <a:r>
              <a:rPr lang="en-US"/>
              <a:t/>
            </a:r>
          </a:p>
          <a:p>
            <a:r>
              <a:rPr lang="en-US"/>
              <a:t>Next, mention the diverse range of sectors where she is involved, such as conferences, nonprofits, and public institutions. This diversity showcases her adaptability and broad influence across different domains.</a:t>
            </a:r>
          </a:p>
          <a:p>
            <a:r>
              <a:rPr lang="en-US"/>
              <a:t/>
            </a:r>
          </a:p>
          <a:p>
            <a:r>
              <a:rPr lang="en-US"/>
              <a:t>[This diversity demonstrates her adaptability and broad influence across different sectors.]</a:t>
            </a:r>
          </a:p>
          <a:p>
            <a:r>
              <a:rPr lang="en-US"/>
              <a:t/>
            </a:r>
          </a:p>
          <a:p>
            <a:r>
              <a:rPr lang="en-US"/>
              <a:t>Conclude by reinforcing the idea that through her strategic partnerships, Tiffany helps her partners achieve not just immediate visibility but also long-term value and impact.</a:t>
            </a:r>
          </a:p>
          <a:p>
            <a:r>
              <a:rPr lang="en-US"/>
              <a:t/>
            </a:r>
          </a:p>
          <a:p>
            <a:r>
              <a:rPr lang="en-US"/>
              <a:t>[Conclude with a strong emphasis on the longevity and sustainability of the value she creates.]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Today, we're diving into why organizations consistently choose to collaborate with Tiffany. </a:t>
            </a:r>
          </a:p>
          <a:p>
            <a:r>
              <a:rPr lang="en-US"/>
              <a:t/>
            </a:r>
          </a:p>
          <a:p>
            <a:r>
              <a:rPr lang="en-US"/>
              <a:t>Firstly, it's about credibility you can feel. Tiffany doesn't just talk the talk; she walks the walk by building authentic connections that foster trust. This is crucial in any partnership, as trust is the foundation of successful collaboration.</a:t>
            </a:r>
          </a:p>
          <a:p>
            <a:r>
              <a:rPr lang="en-US"/>
              <a:t/>
            </a:r>
          </a:p>
          <a:p>
            <a:r>
              <a:rPr lang="en-US"/>
              <a:t>[Pause for emphasis]</a:t>
            </a:r>
          </a:p>
          <a:p>
            <a:r>
              <a:rPr lang="en-US"/>
              <a:t/>
            </a:r>
          </a:p>
          <a:p>
            <a:r>
              <a:rPr lang="en-US"/>
              <a:t>Next, Tiffany brings deep community insight and cultural competence. Her ability to understand and respect diverse perspectives ensures that her solutions are not only effective but also respectful and inclusive of all stakeholders.</a:t>
            </a:r>
          </a:p>
          <a:p>
            <a:r>
              <a:rPr lang="en-US"/>
              <a:t/>
            </a:r>
          </a:p>
          <a:p>
            <a:r>
              <a:rPr lang="en-US"/>
              <a:t>[Pause to let this point resonate]</a:t>
            </a:r>
          </a:p>
          <a:p>
            <a:r>
              <a:rPr lang="en-US"/>
              <a:t/>
            </a:r>
          </a:p>
          <a:p>
            <a:r>
              <a:rPr lang="en-US"/>
              <a:t>Tiffany marries her expert knowledge with practical solutions. Her strategic approach transforms complex challenges into manageable actions, making a real impact.</a:t>
            </a:r>
          </a:p>
          <a:p>
            <a:r>
              <a:rPr lang="en-US"/>
              <a:t/>
            </a:r>
          </a:p>
          <a:p>
            <a:r>
              <a:rPr lang="en-US"/>
              <a:t>Lastly, her warm, engaging, and confident delivery makes every interaction memorable. Tiffany ensures that her audience not only understands the message but also feels inspired and motivated to act.</a:t>
            </a:r>
          </a:p>
          <a:p>
            <a:r>
              <a:rPr lang="en-US"/>
              <a:t/>
            </a:r>
          </a:p>
          <a:p>
            <a:r>
              <a:rPr lang="en-US"/>
              <a:t>[Conclude with a confident tone]</a:t>
            </a:r>
          </a:p>
          <a:p>
            <a:r>
              <a:rPr lang="en-US"/>
              <a:t/>
            </a:r>
          </a:p>
          <a:p>
            <a:r>
              <a:rPr lang="en-US"/>
              <a:t>These are the qualities that set Tiffany apart and make her the preferred choice for organizations seeking genuine, impactful partnerships.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slide, we're focusing on the diverse range of organizations and partnerships that trust Tiffany's expertise and commitment. </a:t>
            </a:r>
          </a:p>
          <a:p>
            <a:r>
              <a:rPr lang="en-US"/>
              <a:t/>
            </a:r>
          </a:p>
          <a:p>
            <a:r>
              <a:rPr lang="en-US"/>
              <a:t>[Tone: Confident and inclusive]</a:t>
            </a:r>
          </a:p>
          <a:p>
            <a:r>
              <a:rPr lang="en-US"/>
              <a:t/>
            </a:r>
          </a:p>
          <a:p>
            <a:r>
              <a:rPr lang="en-US"/>
              <a:t>Tiffany collaborates with a variety of sectors, including health systems, community organizations, and educational institutions. Her influence extends to the public sector and nonprofit networks, demonstrating her adaptability and comprehensive approach to partnership building.</a:t>
            </a:r>
          </a:p>
          <a:p>
            <a:r>
              <a:rPr lang="en-US"/>
              <a:t/>
            </a:r>
          </a:p>
          <a:p>
            <a:r>
              <a:rPr lang="en-US"/>
              <a:t>[Pause here to allow the audience to absorb the breadth of her collaborations]</a:t>
            </a:r>
          </a:p>
          <a:p>
            <a:r>
              <a:rPr lang="en-US"/>
              <a:t/>
            </a:r>
          </a:p>
          <a:p>
            <a:r>
              <a:rPr lang="en-US"/>
              <a:t>What sets Tiffany apart is her ability to bridge gaps across different sectors—whether it's media and events or grassroots community groups. This wide-reaching trust is a testament to her credibility and the impactful results she consistently delivers.</a:t>
            </a:r>
          </a:p>
          <a:p>
            <a:r>
              <a:rPr lang="en-US"/>
              <a:t/>
            </a:r>
          </a:p>
          <a:p>
            <a:r>
              <a:rPr lang="en-US"/>
              <a:t>[Conclude with a welcoming gesture to emphasize inclusivity]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slide, we're focusing on the media resources available for promoting Tiffany's speaking engagements. [Pause for a moment to let the audience absorb the slide title.]</a:t>
            </a:r>
          </a:p>
          <a:p>
            <a:r>
              <a:rPr lang="en-US"/>
              <a:t/>
            </a:r>
          </a:p>
          <a:p>
            <a:r>
              <a:rPr lang="en-US"/>
              <a:t>First, highlight the availability of high-resolution photos and headshots. These are essential for event promotions and can be used in various media outlets. [Pause briefly for impact.]</a:t>
            </a:r>
          </a:p>
          <a:p>
            <a:r>
              <a:rPr lang="en-US"/>
              <a:t/>
            </a:r>
          </a:p>
          <a:p>
            <a:r>
              <a:rPr lang="en-US"/>
              <a:t>Next, mention the comprehensive speaker bios and talking points. These resources ensure that media and event organizers have all the necessary information to effectively introduce Tiffany and convey her key messages. [Emphasize "effectively introduce."]</a:t>
            </a:r>
          </a:p>
          <a:p>
            <a:r>
              <a:rPr lang="en-US"/>
              <a:t/>
            </a:r>
          </a:p>
          <a:p>
            <a:r>
              <a:rPr lang="en-US"/>
              <a:t>Finally, draw attention to the video clips and past speaking engagements. These are valuable tools that showcase Tiffany's dynamic speaking style and the impact she has had in previous events. [Pause to let this point resonate.]</a:t>
            </a:r>
          </a:p>
          <a:p>
            <a:r>
              <a:rPr lang="en-US"/>
              <a:t/>
            </a:r>
          </a:p>
          <a:p>
            <a:r>
              <a:rPr lang="en-US"/>
              <a:t>With these resources, Tiffany is well-prepared to make a lasting impression in any media setting.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this slide, we want to emphasize the powerful impact that Tiffany has had, as shared by others who have experienced her work firsthand. </a:t>
            </a:r>
          </a:p>
          <a:p>
            <a:r>
              <a:rPr lang="en-US"/>
              <a:t/>
            </a:r>
          </a:p>
          <a:p>
            <a:r>
              <a:rPr lang="en-US"/>
              <a:t>Begin by setting the stage with enthusiasm: “Now, let’s dive into some real stories about Tiffany’s impact.” [Pause to let the audience anticipate.]</a:t>
            </a:r>
          </a:p>
          <a:p>
            <a:r>
              <a:rPr lang="en-US"/>
              <a:t/>
            </a:r>
          </a:p>
          <a:p>
            <a:r>
              <a:rPr lang="en-US"/>
              <a:t>Highlight that testimonials provide genuine insights and reflect the positive changes Tiffany has fostered. Encourage your audience to listen for the heartfelt experiences and successes shared by others. [Pause briefly after each testimonial to let the impact sink in.]</a:t>
            </a:r>
          </a:p>
          <a:p>
            <a:r>
              <a:rPr lang="en-US"/>
              <a:t/>
            </a:r>
          </a:p>
          <a:p>
            <a:r>
              <a:rPr lang="en-US"/>
              <a:t>Wrap up by inviting the audience to consider how they might also benefit from Tiffany’s influence, setting a positive tone for the next slide about contact and booking. </a:t>
            </a:r>
          </a:p>
          <a:p>
            <a:r>
              <a:rPr lang="en-US"/>
              <a:t/>
            </a:r>
          </a:p>
          <a:p>
            <a:r>
              <a:rPr lang="en-US"/>
              <a:t>[Conclude with a confident smile.]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we wrap up this presentation, let's focus on how you can connect with me and become part of the impactful journey we're creating together. </a:t>
            </a:r>
          </a:p>
          <a:p>
            <a:r>
              <a:rPr lang="en-US"/>
              <a:t/>
            </a:r>
          </a:p>
          <a:p>
            <a:r>
              <a:rPr lang="en-US"/>
              <a:t>First, for any booking inquiries, you can reach me directly at my email: Tiffanywebb89@yahoo.com. I'm always thrilled to discuss potential collaborations and opportunities to make a difference.</a:t>
            </a:r>
          </a:p>
          <a:p>
            <a:r>
              <a:rPr lang="en-US"/>
              <a:t/>
            </a:r>
          </a:p>
          <a:p>
            <a:r>
              <a:rPr lang="en-US"/>
              <a:t>[Pause briefly to emphasize the points]</a:t>
            </a:r>
          </a:p>
          <a:p>
            <a:r>
              <a:rPr lang="en-US"/>
              <a:t/>
            </a:r>
          </a:p>
          <a:p>
            <a:r>
              <a:rPr lang="en-US"/>
              <a:t>Next, my website, tiffanywebbimpact.com, is your go-to resource for all things related to my work. Whether you're looking for more information or want to explore the various projects I've been involved in, it's all there for you.</a:t>
            </a:r>
          </a:p>
          <a:p>
            <a:r>
              <a:rPr lang="en-US"/>
              <a:t/>
            </a:r>
          </a:p>
          <a:p>
            <a:r>
              <a:rPr lang="en-US"/>
              <a:t>And of course, don't forget to follow me on social media at @Tiffanywebb.Impact. It's a great way to stay updated on my latest activities and insights.</a:t>
            </a:r>
          </a:p>
          <a:p>
            <a:r>
              <a:rPr lang="en-US"/>
              <a:t/>
            </a:r>
          </a:p>
          <a:p>
            <a:r>
              <a:rPr lang="en-US"/>
              <a:t>[Smile and maintain eye contact with the audience]</a:t>
            </a:r>
          </a:p>
          <a:p>
            <a:r>
              <a:rPr lang="en-US"/>
              <a:t/>
            </a:r>
          </a:p>
          <a:p>
            <a:r>
              <a:rPr lang="en-US"/>
              <a:t>Remember, my work is fueled by the vibrant spirit of a Chicago heart and the soulful warmth of Louisiana. Together, let's create meaningful impact and drive positive change.</a:t>
            </a:r>
          </a:p>
          <a:p>
            <a:r>
              <a:rPr lang="en-US"/>
              <a:t/>
            </a:r>
          </a:p>
          <a:p>
            <a:r>
              <a:rPr lang="en-US"/>
              <a:t>[Conclude with enthusiasm and a gesture of openness]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3D33"/>
        </a:solidFill>
      </p:bgPr>
    </p:bg>
    <p:spTree>
      <p:nvGrpSpPr>
        <p:cNvPr id="1" name=""/>
        <p:cNvGrpSpPr/>
        <p:nvPr/>
      </p:nvGrpSpPr>
      <p:grpSpPr>
        <a:xfrm>
          <a:off x="0" y="0"/>
          <a:ext cx="0" cy="0"/>
          <a:chOff x="0" y="0"/>
          <a:chExt cx="0" cy="0"/>
        </a:xfrm>
      </p:grpSpPr>
      <p:sp>
        <p:nvSpPr>
          <p:cNvPr name="Freeform 2" id="2"/>
          <p:cNvSpPr/>
          <p:nvPr/>
        </p:nvSpPr>
        <p:spPr>
          <a:xfrm flipH="false" flipV="false" rot="0">
            <a:off x="9786778" y="0"/>
            <a:ext cx="8382000" cy="10287000"/>
          </a:xfrm>
          <a:custGeom>
            <a:avLst/>
            <a:gdLst/>
            <a:ahLst/>
            <a:cxnLst/>
            <a:rect r="r" b="b" t="t" l="l"/>
            <a:pathLst>
              <a:path h="10287000" w="8382000">
                <a:moveTo>
                  <a:pt x="0" y="0"/>
                </a:moveTo>
                <a:lnTo>
                  <a:pt x="8382000" y="0"/>
                </a:lnTo>
                <a:lnTo>
                  <a:pt x="8382000" y="10287000"/>
                </a:lnTo>
                <a:lnTo>
                  <a:pt x="0" y="10287000"/>
                </a:lnTo>
                <a:lnTo>
                  <a:pt x="0" y="0"/>
                </a:lnTo>
                <a:close/>
              </a:path>
            </a:pathLst>
          </a:custGeom>
          <a:blipFill>
            <a:blip r:embed="rId3"/>
            <a:stretch>
              <a:fillRect l="0" t="-10468" r="0" b="-10468"/>
            </a:stretch>
          </a:blipFill>
          <a:ln cap="sq">
            <a:noFill/>
            <a:prstDash val="solid"/>
            <a:miter/>
          </a:ln>
        </p:spPr>
      </p:sp>
      <p:grpSp>
        <p:nvGrpSpPr>
          <p:cNvPr name="Group 3" id="3"/>
          <p:cNvGrpSpPr/>
          <p:nvPr/>
        </p:nvGrpSpPr>
        <p:grpSpPr>
          <a:xfrm rot="0">
            <a:off x="8477250" y="0"/>
            <a:ext cx="4000500" cy="10287000"/>
            <a:chOff x="0" y="0"/>
            <a:chExt cx="5334000" cy="13716000"/>
          </a:xfrm>
        </p:grpSpPr>
        <p:sp>
          <p:nvSpPr>
            <p:cNvPr name="Freeform 4" id="4"/>
            <p:cNvSpPr/>
            <p:nvPr/>
          </p:nvSpPr>
          <p:spPr>
            <a:xfrm flipH="false" flipV="false" rot="0">
              <a:off x="0" y="0"/>
              <a:ext cx="5334000" cy="13716000"/>
            </a:xfrm>
            <a:custGeom>
              <a:avLst/>
              <a:gdLst/>
              <a:ahLst/>
              <a:cxnLst/>
              <a:rect r="r" b="b" t="t" l="l"/>
              <a:pathLst>
                <a:path h="13716000" w="5334000">
                  <a:moveTo>
                    <a:pt x="0" y="0"/>
                  </a:moveTo>
                  <a:lnTo>
                    <a:pt x="5334000" y="0"/>
                  </a:lnTo>
                  <a:lnTo>
                    <a:pt x="5334000" y="13716000"/>
                  </a:lnTo>
                  <a:lnTo>
                    <a:pt x="0" y="13716000"/>
                  </a:lnTo>
                  <a:close/>
                </a:path>
              </a:pathLst>
            </a:custGeom>
            <a:solidFill>
              <a:srgbClr val="123D33">
                <a:alpha val="71765"/>
              </a:srgbClr>
            </a:solidFill>
            <a:ln cap="sq">
              <a:noFill/>
              <a:prstDash val="solid"/>
              <a:miter/>
            </a:ln>
          </p:spPr>
        </p:sp>
        <p:sp>
          <p:nvSpPr>
            <p:cNvPr name="TextBox 5" id="5"/>
            <p:cNvSpPr txBox="true"/>
            <p:nvPr/>
          </p:nvSpPr>
          <p:spPr>
            <a:xfrm>
              <a:off x="0" y="-38100"/>
              <a:ext cx="5334000" cy="13754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047750" y="819150"/>
            <a:ext cx="76200" cy="1809750"/>
            <a:chOff x="0" y="0"/>
            <a:chExt cx="101600" cy="2413000"/>
          </a:xfrm>
        </p:grpSpPr>
        <p:sp>
          <p:nvSpPr>
            <p:cNvPr name="Freeform 7" id="7"/>
            <p:cNvSpPr/>
            <p:nvPr/>
          </p:nvSpPr>
          <p:spPr>
            <a:xfrm flipH="false" flipV="false" rot="0">
              <a:off x="0" y="0"/>
              <a:ext cx="101600" cy="2413000"/>
            </a:xfrm>
            <a:custGeom>
              <a:avLst/>
              <a:gdLst/>
              <a:ahLst/>
              <a:cxnLst/>
              <a:rect r="r" b="b" t="t" l="l"/>
              <a:pathLst>
                <a:path h="2413000" w="101600">
                  <a:moveTo>
                    <a:pt x="0" y="0"/>
                  </a:moveTo>
                  <a:lnTo>
                    <a:pt x="101600" y="0"/>
                  </a:lnTo>
                  <a:lnTo>
                    <a:pt x="101600" y="2413000"/>
                  </a:lnTo>
                  <a:lnTo>
                    <a:pt x="0" y="2413000"/>
                  </a:lnTo>
                  <a:close/>
                </a:path>
              </a:pathLst>
            </a:custGeom>
            <a:solidFill>
              <a:srgbClr val="C59A4A"/>
            </a:solidFill>
            <a:ln cap="sq">
              <a:noFill/>
              <a:prstDash val="solid"/>
              <a:miter/>
            </a:ln>
          </p:spPr>
        </p:sp>
        <p:sp>
          <p:nvSpPr>
            <p:cNvPr name="TextBox 8" id="8"/>
            <p:cNvSpPr txBox="true"/>
            <p:nvPr/>
          </p:nvSpPr>
          <p:spPr>
            <a:xfrm>
              <a:off x="0" y="-38100"/>
              <a:ext cx="101600" cy="2451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428750" y="857250"/>
            <a:ext cx="6477000" cy="222885"/>
          </a:xfrm>
          <a:prstGeom prst="rect">
            <a:avLst/>
          </a:prstGeom>
        </p:spPr>
        <p:txBody>
          <a:bodyPr anchor="t" rtlCol="false" tIns="0" lIns="0" bIns="0" rIns="0">
            <a:spAutoFit/>
          </a:bodyPr>
          <a:lstStyle/>
          <a:p>
            <a:pPr algn="l">
              <a:lnSpc>
                <a:spcPts val="1889"/>
              </a:lnSpc>
            </a:pPr>
            <a:r>
              <a:rPr lang="en-US" sz="1350" spc="243" b="true">
                <a:solidFill>
                  <a:srgbClr val="C59A4A"/>
                </a:solidFill>
                <a:latin typeface="DM Sans Bold"/>
                <a:ea typeface="DM Sans Bold"/>
                <a:cs typeface="DM Sans Bold"/>
                <a:sym typeface="DM Sans Bold"/>
              </a:rPr>
              <a:t>PREMIUM MEDIA KIT  •  2025</a:t>
            </a:r>
          </a:p>
        </p:txBody>
      </p:sp>
      <p:sp>
        <p:nvSpPr>
          <p:cNvPr name="TextBox 10" id="10"/>
          <p:cNvSpPr txBox="true"/>
          <p:nvPr/>
        </p:nvSpPr>
        <p:spPr>
          <a:xfrm rot="0">
            <a:off x="1381125" y="2752725"/>
            <a:ext cx="9048750" cy="1866900"/>
          </a:xfrm>
          <a:prstGeom prst="rect">
            <a:avLst/>
          </a:prstGeom>
        </p:spPr>
        <p:txBody>
          <a:bodyPr anchor="t" rtlCol="false" tIns="0" lIns="0" bIns="0" rIns="0">
            <a:spAutoFit/>
          </a:bodyPr>
          <a:lstStyle/>
          <a:p>
            <a:pPr algn="l">
              <a:lnSpc>
                <a:spcPts val="7125"/>
              </a:lnSpc>
            </a:pPr>
            <a:r>
              <a:rPr lang="en-US" sz="7500" b="true">
                <a:solidFill>
                  <a:srgbClr val="F7F0E4"/>
                </a:solidFill>
                <a:latin typeface="Cormorant Garamond Bold"/>
                <a:ea typeface="Cormorant Garamond Bold"/>
                <a:cs typeface="Cormorant Garamond Bold"/>
                <a:sym typeface="Cormorant Garamond Bold"/>
              </a:rPr>
              <a:t>Tiffany Webb,</a:t>
            </a:r>
          </a:p>
          <a:p>
            <a:pPr algn="l">
              <a:lnSpc>
                <a:spcPts val="7125"/>
              </a:lnSpc>
            </a:pPr>
            <a:r>
              <a:rPr lang="en-US" sz="7500" b="true">
                <a:solidFill>
                  <a:srgbClr val="F7F0E4"/>
                </a:solidFill>
                <a:latin typeface="Cormorant Garamond Bold"/>
                <a:ea typeface="Cormorant Garamond Bold"/>
                <a:cs typeface="Cormorant Garamond Bold"/>
                <a:sym typeface="Cormorant Garamond Bold"/>
              </a:rPr>
              <a:t>BBA, MHP</a:t>
            </a:r>
          </a:p>
        </p:txBody>
      </p:sp>
      <p:grpSp>
        <p:nvGrpSpPr>
          <p:cNvPr name="Group 11" id="11"/>
          <p:cNvGrpSpPr/>
          <p:nvPr/>
        </p:nvGrpSpPr>
        <p:grpSpPr>
          <a:xfrm rot="0">
            <a:off x="1428750" y="5905500"/>
            <a:ext cx="1619250" cy="47625"/>
            <a:chOff x="0" y="0"/>
            <a:chExt cx="2159000" cy="63500"/>
          </a:xfrm>
        </p:grpSpPr>
        <p:sp>
          <p:nvSpPr>
            <p:cNvPr name="Freeform 12" id="12"/>
            <p:cNvSpPr/>
            <p:nvPr/>
          </p:nvSpPr>
          <p:spPr>
            <a:xfrm flipH="false" flipV="false" rot="0">
              <a:off x="0" y="0"/>
              <a:ext cx="2159000" cy="63500"/>
            </a:xfrm>
            <a:custGeom>
              <a:avLst/>
              <a:gdLst/>
              <a:ahLst/>
              <a:cxnLst/>
              <a:rect r="r" b="b" t="t" l="l"/>
              <a:pathLst>
                <a:path h="63500" w="2159000">
                  <a:moveTo>
                    <a:pt x="0" y="0"/>
                  </a:moveTo>
                  <a:lnTo>
                    <a:pt x="2159000" y="0"/>
                  </a:lnTo>
                  <a:lnTo>
                    <a:pt x="2159000" y="63500"/>
                  </a:lnTo>
                  <a:lnTo>
                    <a:pt x="0" y="63500"/>
                  </a:lnTo>
                  <a:close/>
                </a:path>
              </a:pathLst>
            </a:custGeom>
            <a:solidFill>
              <a:srgbClr val="C59A4A"/>
            </a:solidFill>
            <a:ln cap="sq">
              <a:noFill/>
              <a:prstDash val="solid"/>
              <a:miter/>
            </a:ln>
          </p:spPr>
        </p:sp>
        <p:sp>
          <p:nvSpPr>
            <p:cNvPr name="TextBox 13" id="13"/>
            <p:cNvSpPr txBox="true"/>
            <p:nvPr/>
          </p:nvSpPr>
          <p:spPr>
            <a:xfrm>
              <a:off x="0" y="-38100"/>
              <a:ext cx="2159000" cy="1016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428750" y="6153150"/>
            <a:ext cx="7810500" cy="350520"/>
          </a:xfrm>
          <a:prstGeom prst="rect">
            <a:avLst/>
          </a:prstGeom>
        </p:spPr>
        <p:txBody>
          <a:bodyPr anchor="t" rtlCol="false" tIns="0" lIns="0" bIns="0" rIns="0">
            <a:spAutoFit/>
          </a:bodyPr>
          <a:lstStyle/>
          <a:p>
            <a:pPr algn="l">
              <a:lnSpc>
                <a:spcPts val="2835"/>
              </a:lnSpc>
            </a:pPr>
            <a:r>
              <a:rPr lang="en-US" sz="2100">
                <a:solidFill>
                  <a:srgbClr val="F7F0E4"/>
                </a:solidFill>
                <a:latin typeface="DM Sans"/>
                <a:ea typeface="DM Sans"/>
                <a:cs typeface="DM Sans"/>
                <a:sym typeface="DM Sans"/>
              </a:rPr>
              <a:t>Bold &amp; Brilliant  |  Chicago Soul  |  Louisiana Heart</a:t>
            </a:r>
          </a:p>
        </p:txBody>
      </p:sp>
      <p:sp>
        <p:nvSpPr>
          <p:cNvPr name="TextBox 15" id="15"/>
          <p:cNvSpPr txBox="true"/>
          <p:nvPr/>
        </p:nvSpPr>
        <p:spPr>
          <a:xfrm rot="0">
            <a:off x="1428750" y="8591550"/>
            <a:ext cx="7620000" cy="222885"/>
          </a:xfrm>
          <a:prstGeom prst="rect">
            <a:avLst/>
          </a:prstGeom>
        </p:spPr>
        <p:txBody>
          <a:bodyPr anchor="t" rtlCol="false" tIns="0" lIns="0" bIns="0" rIns="0">
            <a:spAutoFit/>
          </a:bodyPr>
          <a:lstStyle/>
          <a:p>
            <a:pPr algn="l">
              <a:lnSpc>
                <a:spcPts val="1889"/>
              </a:lnSpc>
            </a:pPr>
            <a:r>
              <a:rPr lang="en-US" sz="1350" spc="243" b="true">
                <a:solidFill>
                  <a:srgbClr val="A8B9A6"/>
                </a:solidFill>
                <a:latin typeface="DM Sans Bold"/>
                <a:ea typeface="DM Sans Bold"/>
                <a:cs typeface="DM Sans Bold"/>
                <a:sym typeface="DM Sans Bold"/>
              </a:rPr>
              <a:t>PUBLIC HEALTH LEADER  •  SPEAKER  •  STRATEGIST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0E4"/>
        </a:solidFill>
      </p:bgPr>
    </p:bg>
    <p:spTree>
      <p:nvGrpSpPr>
        <p:cNvPr id="1" name=""/>
        <p:cNvGrpSpPr/>
        <p:nvPr/>
      </p:nvGrpSpPr>
      <p:grpSpPr>
        <a:xfrm>
          <a:off x="0" y="0"/>
          <a:ext cx="0" cy="0"/>
          <a:chOff x="0" y="0"/>
          <a:chExt cx="0" cy="0"/>
        </a:xfrm>
      </p:grpSpPr>
      <p:grpSp>
        <p:nvGrpSpPr>
          <p:cNvPr name="Group 2" id="2"/>
          <p:cNvGrpSpPr/>
          <p:nvPr/>
        </p:nvGrpSpPr>
        <p:grpSpPr>
          <a:xfrm rot="0">
            <a:off x="-952500" y="-952500"/>
            <a:ext cx="6667500" cy="3810000"/>
            <a:chOff x="0" y="0"/>
            <a:chExt cx="8890000" cy="5080000"/>
          </a:xfrm>
        </p:grpSpPr>
        <p:sp>
          <p:nvSpPr>
            <p:cNvPr name="Freeform 3" id="3"/>
            <p:cNvSpPr/>
            <p:nvPr/>
          </p:nvSpPr>
          <p:spPr>
            <a:xfrm flipH="false" flipV="false" rot="0">
              <a:off x="0" y="0"/>
              <a:ext cx="8890000" cy="5080000"/>
            </a:xfrm>
            <a:custGeom>
              <a:avLst/>
              <a:gdLst/>
              <a:ahLst/>
              <a:cxnLst/>
              <a:rect r="r" b="b" t="t" l="l"/>
              <a:pathLst>
                <a:path h="5080000" w="8890000">
                  <a:moveTo>
                    <a:pt x="0" y="0"/>
                  </a:moveTo>
                  <a:lnTo>
                    <a:pt x="8890000" y="0"/>
                  </a:lnTo>
                  <a:lnTo>
                    <a:pt x="8890000" y="5080000"/>
                  </a:lnTo>
                  <a:lnTo>
                    <a:pt x="0" y="5080000"/>
                  </a:lnTo>
                  <a:close/>
                </a:path>
              </a:pathLst>
            </a:custGeom>
            <a:solidFill>
              <a:srgbClr val="E56F61">
                <a:alpha val="11765"/>
              </a:srgbClr>
            </a:solidFill>
            <a:ln cap="sq">
              <a:noFill/>
              <a:prstDash val="solid"/>
              <a:miter/>
            </a:ln>
          </p:spPr>
        </p:sp>
        <p:sp>
          <p:nvSpPr>
            <p:cNvPr name="TextBox 4" id="4"/>
            <p:cNvSpPr txBox="true"/>
            <p:nvPr/>
          </p:nvSpPr>
          <p:spPr>
            <a:xfrm>
              <a:off x="0" y="-38100"/>
              <a:ext cx="8890000" cy="51181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10096500" y="0"/>
            <a:ext cx="8191500" cy="10287000"/>
          </a:xfrm>
          <a:custGeom>
            <a:avLst/>
            <a:gdLst/>
            <a:ahLst/>
            <a:cxnLst/>
            <a:rect r="r" b="b" t="t" l="l"/>
            <a:pathLst>
              <a:path h="10287000" w="8191500">
                <a:moveTo>
                  <a:pt x="0" y="0"/>
                </a:moveTo>
                <a:lnTo>
                  <a:pt x="8191500" y="0"/>
                </a:lnTo>
                <a:lnTo>
                  <a:pt x="8191500" y="10287000"/>
                </a:lnTo>
                <a:lnTo>
                  <a:pt x="0" y="10287000"/>
                </a:lnTo>
                <a:lnTo>
                  <a:pt x="0" y="0"/>
                </a:lnTo>
                <a:close/>
              </a:path>
            </a:pathLst>
          </a:custGeom>
          <a:blipFill>
            <a:blip r:embed="rId3"/>
            <a:stretch>
              <a:fillRect l="-60159" t="0" r="-60159" b="0"/>
            </a:stretch>
          </a:blipFill>
          <a:ln cap="sq">
            <a:noFill/>
            <a:prstDash val="solid"/>
            <a:miter/>
          </a:ln>
        </p:spPr>
      </p:sp>
      <p:sp>
        <p:nvSpPr>
          <p:cNvPr name="TextBox 6" id="6"/>
          <p:cNvSpPr txBox="true"/>
          <p:nvPr/>
        </p:nvSpPr>
        <p:spPr>
          <a:xfrm rot="0">
            <a:off x="1047750" y="838200"/>
            <a:ext cx="47625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01  /  THE STORY</a:t>
            </a:r>
          </a:p>
        </p:txBody>
      </p:sp>
      <p:sp>
        <p:nvSpPr>
          <p:cNvPr name="TextBox 7" id="7"/>
          <p:cNvSpPr txBox="true"/>
          <p:nvPr/>
        </p:nvSpPr>
        <p:spPr>
          <a:xfrm rot="0">
            <a:off x="1047750" y="1704975"/>
            <a:ext cx="7810500" cy="1428369"/>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Meet</a:t>
            </a:r>
          </a:p>
          <a:p>
            <a:pPr algn="l">
              <a:lnSpc>
                <a:spcPts val="5508"/>
              </a:lnSpc>
            </a:pPr>
            <a:r>
              <a:rPr lang="en-US" sz="5400" b="true">
                <a:solidFill>
                  <a:srgbClr val="123D33"/>
                </a:solidFill>
                <a:latin typeface="Cormorant Garamond Bold"/>
                <a:ea typeface="Cormorant Garamond Bold"/>
                <a:cs typeface="Cormorant Garamond Bold"/>
                <a:sym typeface="Cormorant Garamond Bold"/>
              </a:rPr>
              <a:t>Tiffany Webb</a:t>
            </a:r>
          </a:p>
        </p:txBody>
      </p:sp>
      <p:sp>
        <p:nvSpPr>
          <p:cNvPr name="TextBox 8" id="8"/>
          <p:cNvSpPr txBox="true"/>
          <p:nvPr/>
        </p:nvSpPr>
        <p:spPr>
          <a:xfrm rot="0">
            <a:off x="1095375" y="4048125"/>
            <a:ext cx="7429500" cy="1840706"/>
          </a:xfrm>
          <a:prstGeom prst="rect">
            <a:avLst/>
          </a:prstGeom>
        </p:spPr>
        <p:txBody>
          <a:bodyPr anchor="t" rtlCol="false" tIns="0" lIns="0" bIns="0" rIns="0">
            <a:spAutoFit/>
          </a:bodyPr>
          <a:lstStyle/>
          <a:p>
            <a:pPr algn="l">
              <a:lnSpc>
                <a:spcPts val="2936"/>
              </a:lnSpc>
            </a:pPr>
            <a:r>
              <a:rPr lang="en-US" sz="2025">
                <a:solidFill>
                  <a:srgbClr val="17211F"/>
                </a:solidFill>
                <a:latin typeface="DM Sans"/>
                <a:ea typeface="DM Sans"/>
                <a:cs typeface="DM Sans"/>
                <a:sym typeface="DM Sans"/>
              </a:rPr>
              <a:t>Rooted in Chicago and shaped by Louisiana heritage, Tiffany brings cultural intelligence, public health leadership, and an unwavering commitment to service. Her work turns complex challenges into conversations communities can trust—and strategies they can use.</a:t>
            </a:r>
          </a:p>
        </p:txBody>
      </p:sp>
      <p:grpSp>
        <p:nvGrpSpPr>
          <p:cNvPr name="Group 9" id="9"/>
          <p:cNvGrpSpPr/>
          <p:nvPr/>
        </p:nvGrpSpPr>
        <p:grpSpPr>
          <a:xfrm rot="0">
            <a:off x="1095375" y="7239000"/>
            <a:ext cx="333375" cy="1524000"/>
            <a:chOff x="0" y="0"/>
            <a:chExt cx="444500" cy="2032000"/>
          </a:xfrm>
        </p:grpSpPr>
        <p:sp>
          <p:nvSpPr>
            <p:cNvPr name="Freeform 10" id="10"/>
            <p:cNvSpPr/>
            <p:nvPr/>
          </p:nvSpPr>
          <p:spPr>
            <a:xfrm flipH="false" flipV="false" rot="0">
              <a:off x="0" y="0"/>
              <a:ext cx="444500" cy="2032000"/>
            </a:xfrm>
            <a:custGeom>
              <a:avLst/>
              <a:gdLst/>
              <a:ahLst/>
              <a:cxnLst/>
              <a:rect r="r" b="b" t="t" l="l"/>
              <a:pathLst>
                <a:path h="2032000" w="444500">
                  <a:moveTo>
                    <a:pt x="0" y="0"/>
                  </a:moveTo>
                  <a:lnTo>
                    <a:pt x="444500" y="0"/>
                  </a:lnTo>
                  <a:lnTo>
                    <a:pt x="444500" y="2032000"/>
                  </a:lnTo>
                  <a:lnTo>
                    <a:pt x="0" y="2032000"/>
                  </a:lnTo>
                  <a:close/>
                </a:path>
              </a:pathLst>
            </a:custGeom>
            <a:solidFill>
              <a:srgbClr val="C59A4A"/>
            </a:solidFill>
            <a:ln cap="sq">
              <a:noFill/>
              <a:prstDash val="solid"/>
              <a:miter/>
            </a:ln>
          </p:spPr>
        </p:sp>
        <p:sp>
          <p:nvSpPr>
            <p:cNvPr name="TextBox 11" id="11"/>
            <p:cNvSpPr txBox="true"/>
            <p:nvPr/>
          </p:nvSpPr>
          <p:spPr>
            <a:xfrm>
              <a:off x="0" y="-38100"/>
              <a:ext cx="444500" cy="20701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1714500" y="7258050"/>
            <a:ext cx="6572250" cy="915352"/>
          </a:xfrm>
          <a:prstGeom prst="rect">
            <a:avLst/>
          </a:prstGeom>
        </p:spPr>
        <p:txBody>
          <a:bodyPr anchor="t" rtlCol="false" tIns="0" lIns="0" bIns="0" rIns="0">
            <a:spAutoFit/>
          </a:bodyPr>
          <a:lstStyle/>
          <a:p>
            <a:pPr algn="l">
              <a:lnSpc>
                <a:spcPts val="3622"/>
              </a:lnSpc>
            </a:pPr>
            <a:r>
              <a:rPr lang="en-US" sz="3150" i="true">
                <a:solidFill>
                  <a:srgbClr val="5A2148"/>
                </a:solidFill>
                <a:latin typeface="Cormorant Garamond Italics"/>
                <a:ea typeface="Cormorant Garamond Italics"/>
                <a:cs typeface="Cormorant Garamond Italics"/>
                <a:sym typeface="Cormorant Garamond Italics"/>
              </a:rPr>
              <a:t>“Prevention begins with conversation and relationships.”</a:t>
            </a:r>
          </a:p>
        </p:txBody>
      </p:sp>
      <p:sp>
        <p:nvSpPr>
          <p:cNvPr name="TextBox 13" id="13"/>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7F0E4"/>
        </a:solidFill>
      </p:bgPr>
    </p:bg>
    <p:spTree>
      <p:nvGrpSpPr>
        <p:cNvPr id="1" name=""/>
        <p:cNvGrpSpPr/>
        <p:nvPr/>
      </p:nvGrpSpPr>
      <p:grpSpPr>
        <a:xfrm>
          <a:off x="0" y="0"/>
          <a:ext cx="0" cy="0"/>
          <a:chOff x="0" y="0"/>
          <a:chExt cx="0" cy="0"/>
        </a:xfrm>
      </p:grpSpPr>
      <p:grpSp>
        <p:nvGrpSpPr>
          <p:cNvPr name="Group 2" id="2"/>
          <p:cNvGrpSpPr/>
          <p:nvPr/>
        </p:nvGrpSpPr>
        <p:grpSpPr>
          <a:xfrm rot="0">
            <a:off x="13049250" y="5810250"/>
            <a:ext cx="5905500" cy="5905500"/>
            <a:chOff x="0" y="0"/>
            <a:chExt cx="7874000" cy="7874000"/>
          </a:xfrm>
        </p:grpSpPr>
        <p:sp>
          <p:nvSpPr>
            <p:cNvPr name="Freeform 3" id="3"/>
            <p:cNvSpPr/>
            <p:nvPr/>
          </p:nvSpPr>
          <p:spPr>
            <a:xfrm flipH="false" flipV="false" rot="0">
              <a:off x="0" y="0"/>
              <a:ext cx="7874000" cy="7874000"/>
            </a:xfrm>
            <a:custGeom>
              <a:avLst/>
              <a:gdLst/>
              <a:ahLst/>
              <a:cxnLst/>
              <a:rect r="r" b="b" t="t" l="l"/>
              <a:pathLst>
                <a:path h="7874000" w="7874000">
                  <a:moveTo>
                    <a:pt x="0" y="0"/>
                  </a:moveTo>
                  <a:lnTo>
                    <a:pt x="7874000" y="0"/>
                  </a:lnTo>
                  <a:lnTo>
                    <a:pt x="7874000" y="7874000"/>
                  </a:lnTo>
                  <a:lnTo>
                    <a:pt x="0" y="7874000"/>
                  </a:lnTo>
                  <a:close/>
                </a:path>
              </a:pathLst>
            </a:custGeom>
            <a:solidFill>
              <a:srgbClr val="C65F36">
                <a:alpha val="11765"/>
              </a:srgbClr>
            </a:solidFill>
            <a:ln cap="sq">
              <a:noFill/>
              <a:prstDash val="solid"/>
              <a:miter/>
            </a:ln>
          </p:spPr>
        </p:sp>
        <p:sp>
          <p:nvSpPr>
            <p:cNvPr name="TextBox 4" id="4"/>
            <p:cNvSpPr txBox="true"/>
            <p:nvPr/>
          </p:nvSpPr>
          <p:spPr>
            <a:xfrm>
              <a:off x="0" y="-38100"/>
              <a:ext cx="7874000" cy="7912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838200"/>
            <a:ext cx="57150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MISSION &amp; PURPOSE</a:t>
            </a:r>
          </a:p>
        </p:txBody>
      </p:sp>
      <p:sp>
        <p:nvSpPr>
          <p:cNvPr name="TextBox 6" id="6"/>
          <p:cNvSpPr txBox="true"/>
          <p:nvPr/>
        </p:nvSpPr>
        <p:spPr>
          <a:xfrm rot="0">
            <a:off x="1047750" y="1905000"/>
            <a:ext cx="13335000" cy="1764411"/>
          </a:xfrm>
          <a:prstGeom prst="rect">
            <a:avLst/>
          </a:prstGeom>
        </p:spPr>
        <p:txBody>
          <a:bodyPr anchor="t" rtlCol="false" tIns="0" lIns="0" bIns="0" rIns="0">
            <a:spAutoFit/>
          </a:bodyPr>
          <a:lstStyle/>
          <a:p>
            <a:pPr algn="l">
              <a:lnSpc>
                <a:spcPts val="6762"/>
              </a:lnSpc>
            </a:pPr>
            <a:r>
              <a:rPr lang="en-US" sz="6900" b="true">
                <a:solidFill>
                  <a:srgbClr val="123D33"/>
                </a:solidFill>
                <a:latin typeface="Cormorant Garamond Bold"/>
                <a:ea typeface="Cormorant Garamond Bold"/>
                <a:cs typeface="Cormorant Garamond Bold"/>
                <a:sym typeface="Cormorant Garamond Bold"/>
              </a:rPr>
              <a:t>Leadership with</a:t>
            </a:r>
          </a:p>
          <a:p>
            <a:pPr algn="l">
              <a:lnSpc>
                <a:spcPts val="6762"/>
              </a:lnSpc>
            </a:pPr>
            <a:r>
              <a:rPr lang="en-US" sz="6900" b="true">
                <a:solidFill>
                  <a:srgbClr val="123D33"/>
                </a:solidFill>
                <a:latin typeface="Cormorant Garamond Bold"/>
                <a:ea typeface="Cormorant Garamond Bold"/>
                <a:cs typeface="Cormorant Garamond Bold"/>
                <a:sym typeface="Cormorant Garamond Bold"/>
              </a:rPr>
              <a:t>heart and strategy.</a:t>
            </a:r>
          </a:p>
        </p:txBody>
      </p:sp>
      <p:sp>
        <p:nvSpPr>
          <p:cNvPr name="TextBox 7" id="7"/>
          <p:cNvSpPr txBox="true"/>
          <p:nvPr/>
        </p:nvSpPr>
        <p:spPr>
          <a:xfrm rot="0">
            <a:off x="7620000" y="4524375"/>
            <a:ext cx="8096250" cy="1097756"/>
          </a:xfrm>
          <a:prstGeom prst="rect">
            <a:avLst/>
          </a:prstGeom>
        </p:spPr>
        <p:txBody>
          <a:bodyPr anchor="t" rtlCol="false" tIns="0" lIns="0" bIns="0" rIns="0">
            <a:spAutoFit/>
          </a:bodyPr>
          <a:lstStyle/>
          <a:p>
            <a:pPr algn="l">
              <a:lnSpc>
                <a:spcPts val="2936"/>
              </a:lnSpc>
            </a:pPr>
            <a:r>
              <a:rPr lang="en-US" sz="2025">
                <a:solidFill>
                  <a:srgbClr val="17211F"/>
                </a:solidFill>
                <a:latin typeface="DM Sans"/>
                <a:ea typeface="DM Sans"/>
                <a:cs typeface="DM Sans"/>
                <a:sym typeface="DM Sans"/>
              </a:rPr>
              <a:t>Tiffany advances healthier communities through education, prevention, service, and meaningful partnership. She pairs evidence with empathy—building solutions with people, not simply for them.</a:t>
            </a:r>
          </a:p>
        </p:txBody>
      </p:sp>
      <p:grpSp>
        <p:nvGrpSpPr>
          <p:cNvPr name="Group 8" id="8"/>
          <p:cNvGrpSpPr/>
          <p:nvPr/>
        </p:nvGrpSpPr>
        <p:grpSpPr>
          <a:xfrm rot="0">
            <a:off x="1047750" y="3857625"/>
            <a:ext cx="4476750" cy="133350"/>
            <a:chOff x="0" y="0"/>
            <a:chExt cx="5969000" cy="177800"/>
          </a:xfrm>
        </p:grpSpPr>
        <p:sp>
          <p:nvSpPr>
            <p:cNvPr name="Freeform 9" id="9"/>
            <p:cNvSpPr/>
            <p:nvPr/>
          </p:nvSpPr>
          <p:spPr>
            <a:xfrm flipH="false" flipV="false" rot="0">
              <a:off x="0" y="0"/>
              <a:ext cx="5969000" cy="177800"/>
            </a:xfrm>
            <a:custGeom>
              <a:avLst/>
              <a:gdLst/>
              <a:ahLst/>
              <a:cxnLst/>
              <a:rect r="r" b="b" t="t" l="l"/>
              <a:pathLst>
                <a:path h="177800" w="5969000">
                  <a:moveTo>
                    <a:pt x="0" y="0"/>
                  </a:moveTo>
                  <a:lnTo>
                    <a:pt x="5969000" y="0"/>
                  </a:lnTo>
                  <a:lnTo>
                    <a:pt x="5969000" y="177800"/>
                  </a:lnTo>
                  <a:lnTo>
                    <a:pt x="0" y="177800"/>
                  </a:lnTo>
                  <a:close/>
                </a:path>
              </a:pathLst>
            </a:custGeom>
            <a:solidFill>
              <a:srgbClr val="C65F36"/>
            </a:solidFill>
            <a:ln cap="sq">
              <a:noFill/>
              <a:prstDash val="solid"/>
              <a:miter/>
            </a:ln>
          </p:spPr>
        </p:sp>
        <p:sp>
          <p:nvSpPr>
            <p:cNvPr name="TextBox 10" id="10"/>
            <p:cNvSpPr txBox="true"/>
            <p:nvPr/>
          </p:nvSpPr>
          <p:spPr>
            <a:xfrm>
              <a:off x="0" y="-38100"/>
              <a:ext cx="5969000" cy="2159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047750" y="7181850"/>
            <a:ext cx="13144500" cy="585788"/>
          </a:xfrm>
          <a:prstGeom prst="rect">
            <a:avLst/>
          </a:prstGeom>
        </p:spPr>
        <p:txBody>
          <a:bodyPr anchor="t" rtlCol="false" tIns="0" lIns="0" bIns="0" rIns="0">
            <a:spAutoFit/>
          </a:bodyPr>
          <a:lstStyle/>
          <a:p>
            <a:pPr algn="l">
              <a:lnSpc>
                <a:spcPts val="4537"/>
              </a:lnSpc>
            </a:pPr>
            <a:r>
              <a:rPr lang="en-US" sz="4125" i="true">
                <a:solidFill>
                  <a:srgbClr val="5A2148"/>
                </a:solidFill>
                <a:latin typeface="Cormorant Garamond Italics"/>
                <a:ea typeface="Cormorant Garamond Italics"/>
                <a:cs typeface="Cormorant Garamond Italics"/>
                <a:sym typeface="Cormorant Garamond Italics"/>
              </a:rPr>
              <a:t>Hope grows where people feel seen, heard, and connected.</a:t>
            </a:r>
          </a:p>
        </p:txBody>
      </p:sp>
      <p:sp>
        <p:nvSpPr>
          <p:cNvPr name="TextBox 12" id="12"/>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0E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6667500" cy="10287000"/>
          </a:xfrm>
          <a:custGeom>
            <a:avLst/>
            <a:gdLst/>
            <a:ahLst/>
            <a:cxnLst/>
            <a:rect r="r" b="b" t="t" l="l"/>
            <a:pathLst>
              <a:path h="10287000" w="6667500">
                <a:moveTo>
                  <a:pt x="0" y="0"/>
                </a:moveTo>
                <a:lnTo>
                  <a:pt x="6667500" y="0"/>
                </a:lnTo>
                <a:lnTo>
                  <a:pt x="6667500" y="10287000"/>
                </a:lnTo>
                <a:lnTo>
                  <a:pt x="0" y="10287000"/>
                </a:lnTo>
                <a:lnTo>
                  <a:pt x="0" y="0"/>
                </a:lnTo>
                <a:close/>
              </a:path>
            </a:pathLst>
          </a:custGeom>
          <a:blipFill>
            <a:blip r:embed="rId3"/>
            <a:stretch>
              <a:fillRect l="-1975" t="0" r="-1975" b="0"/>
            </a:stretch>
          </a:blipFill>
          <a:ln cap="sq">
            <a:noFill/>
            <a:prstDash val="solid"/>
            <a:miter/>
          </a:ln>
        </p:spPr>
      </p:sp>
      <p:grpSp>
        <p:nvGrpSpPr>
          <p:cNvPr name="Group 3" id="3"/>
          <p:cNvGrpSpPr/>
          <p:nvPr/>
        </p:nvGrpSpPr>
        <p:grpSpPr>
          <a:xfrm rot="0">
            <a:off x="6667500" y="0"/>
            <a:ext cx="266700" cy="10287000"/>
            <a:chOff x="0" y="0"/>
            <a:chExt cx="355600" cy="13716000"/>
          </a:xfrm>
        </p:grpSpPr>
        <p:sp>
          <p:nvSpPr>
            <p:cNvPr name="Freeform 4" id="4"/>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9A6B47"/>
            </a:solidFill>
            <a:ln cap="sq">
              <a:noFill/>
              <a:prstDash val="solid"/>
              <a:miter/>
            </a:ln>
          </p:spPr>
        </p:sp>
        <p:sp>
          <p:nvSpPr>
            <p:cNvPr name="TextBox 5" id="5"/>
            <p:cNvSpPr txBox="true"/>
            <p:nvPr/>
          </p:nvSpPr>
          <p:spPr>
            <a:xfrm>
              <a:off x="0" y="-38100"/>
              <a:ext cx="3556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7810500" y="742950"/>
            <a:ext cx="66675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PROFESSIONAL EXPERTISE</a:t>
            </a:r>
          </a:p>
        </p:txBody>
      </p:sp>
      <p:sp>
        <p:nvSpPr>
          <p:cNvPr name="TextBox 7" id="7"/>
          <p:cNvSpPr txBox="true"/>
          <p:nvPr/>
        </p:nvSpPr>
        <p:spPr>
          <a:xfrm rot="0">
            <a:off x="7810500" y="1466850"/>
            <a:ext cx="8953500" cy="1428369"/>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Expertise that</a:t>
            </a:r>
          </a:p>
          <a:p>
            <a:pPr algn="l">
              <a:lnSpc>
                <a:spcPts val="5508"/>
              </a:lnSpc>
            </a:pPr>
            <a:r>
              <a:rPr lang="en-US" sz="5400" b="true">
                <a:solidFill>
                  <a:srgbClr val="123D33"/>
                </a:solidFill>
                <a:latin typeface="Cormorant Garamond Bold"/>
                <a:ea typeface="Cormorant Garamond Bold"/>
                <a:cs typeface="Cormorant Garamond Bold"/>
                <a:sym typeface="Cormorant Garamond Bold"/>
              </a:rPr>
              <a:t>moves people.</a:t>
            </a:r>
          </a:p>
        </p:txBody>
      </p:sp>
      <p:grpSp>
        <p:nvGrpSpPr>
          <p:cNvPr name="Group 8" id="8"/>
          <p:cNvGrpSpPr/>
          <p:nvPr/>
        </p:nvGrpSpPr>
        <p:grpSpPr>
          <a:xfrm rot="0">
            <a:off x="7810500" y="3781425"/>
            <a:ext cx="8382000" cy="571500"/>
            <a:chOff x="0" y="0"/>
            <a:chExt cx="11176000" cy="762000"/>
          </a:xfrm>
        </p:grpSpPr>
        <p:sp>
          <p:nvSpPr>
            <p:cNvPr name="TextBox 9" id="9"/>
            <p:cNvSpPr txBox="true"/>
            <p:nvPr/>
          </p:nvSpPr>
          <p:spPr>
            <a:xfrm rot="0">
              <a:off x="0" y="127000"/>
              <a:ext cx="889000" cy="342900"/>
            </a:xfrm>
            <a:prstGeom prst="rect">
              <a:avLst/>
            </a:prstGeom>
          </p:spPr>
          <p:txBody>
            <a:bodyPr anchor="t" rtlCol="false" tIns="0" lIns="0" bIns="0" rIns="0">
              <a:spAutoFit/>
            </a:bodyPr>
            <a:lstStyle/>
            <a:p>
              <a:pPr algn="l">
                <a:lnSpc>
                  <a:spcPts val="2100"/>
                </a:lnSpc>
              </a:pPr>
              <a:r>
                <a:rPr lang="en-US" sz="1500" b="true">
                  <a:solidFill>
                    <a:srgbClr val="C59A4A"/>
                  </a:solidFill>
                  <a:latin typeface="DM Sans Bold"/>
                  <a:ea typeface="DM Sans Bold"/>
                  <a:cs typeface="DM Sans Bold"/>
                  <a:sym typeface="DM Sans Bold"/>
                </a:rPr>
                <a:t>01</a:t>
              </a:r>
            </a:p>
          </p:txBody>
        </p:sp>
        <p:sp>
          <p:nvSpPr>
            <p:cNvPr name="TextBox 10" id="10"/>
            <p:cNvSpPr txBox="true"/>
            <p:nvPr/>
          </p:nvSpPr>
          <p:spPr>
            <a:xfrm rot="0">
              <a:off x="1270000" y="28575"/>
              <a:ext cx="9906000" cy="494665"/>
            </a:xfrm>
            <a:prstGeom prst="rect">
              <a:avLst/>
            </a:prstGeom>
          </p:spPr>
          <p:txBody>
            <a:bodyPr anchor="t" rtlCol="false" tIns="0" lIns="0" bIns="0" rIns="0">
              <a:spAutoFit/>
            </a:bodyPr>
            <a:lstStyle/>
            <a:p>
              <a:pPr algn="l">
                <a:lnSpc>
                  <a:spcPts val="2835"/>
                </a:lnSpc>
              </a:pPr>
              <a:r>
                <a:rPr lang="en-US" sz="2625" b="true">
                  <a:solidFill>
                    <a:srgbClr val="17211F"/>
                  </a:solidFill>
                  <a:latin typeface="Cormorant Garamond Bold"/>
                  <a:ea typeface="Cormorant Garamond Bold"/>
                  <a:cs typeface="Cormorant Garamond Bold"/>
                  <a:sym typeface="Cormorant Garamond Bold"/>
                </a:rPr>
                <a:t>Public Health Leadership</a:t>
              </a:r>
            </a:p>
          </p:txBody>
        </p:sp>
        <p:grpSp>
          <p:nvGrpSpPr>
            <p:cNvPr name="Group 11" id="11"/>
            <p:cNvGrpSpPr/>
            <p:nvPr/>
          </p:nvGrpSpPr>
          <p:grpSpPr>
            <a:xfrm rot="0">
              <a:off x="0" y="736600"/>
              <a:ext cx="10160000" cy="25400"/>
              <a:chOff x="0" y="0"/>
              <a:chExt cx="10160000" cy="25400"/>
            </a:xfrm>
          </p:grpSpPr>
          <p:sp>
            <p:nvSpPr>
              <p:cNvPr name="Freeform 12" id="12"/>
              <p:cNvSpPr/>
              <p:nvPr/>
            </p:nvSpPr>
            <p:spPr>
              <a:xfrm flipH="false" flipV="false" rot="0">
                <a:off x="0" y="0"/>
                <a:ext cx="10160000" cy="25400"/>
              </a:xfrm>
              <a:custGeom>
                <a:avLst/>
                <a:gdLst/>
                <a:ahLst/>
                <a:cxnLst/>
                <a:rect r="r" b="b" t="t" l="l"/>
                <a:pathLst>
                  <a:path h="25400" w="10160000">
                    <a:moveTo>
                      <a:pt x="0" y="0"/>
                    </a:moveTo>
                    <a:lnTo>
                      <a:pt x="10160000" y="0"/>
                    </a:lnTo>
                    <a:lnTo>
                      <a:pt x="10160000" y="25400"/>
                    </a:lnTo>
                    <a:lnTo>
                      <a:pt x="0" y="25400"/>
                    </a:lnTo>
                    <a:close/>
                  </a:path>
                </a:pathLst>
              </a:custGeom>
              <a:solidFill>
                <a:srgbClr val="9A6B47"/>
              </a:solidFill>
              <a:ln cap="sq">
                <a:noFill/>
                <a:prstDash val="solid"/>
                <a:miter/>
              </a:ln>
            </p:spPr>
          </p:sp>
          <p:sp>
            <p:nvSpPr>
              <p:cNvPr name="TextBox 13" id="13"/>
              <p:cNvSpPr txBox="true"/>
              <p:nvPr/>
            </p:nvSpPr>
            <p:spPr>
              <a:xfrm>
                <a:off x="0" y="-38100"/>
                <a:ext cx="10160000" cy="63500"/>
              </a:xfrm>
              <a:prstGeom prst="rect">
                <a:avLst/>
              </a:prstGeom>
            </p:spPr>
            <p:txBody>
              <a:bodyPr anchor="ctr" rtlCol="false" tIns="50800" lIns="50800" bIns="50800" rIns="50800"/>
              <a:lstStyle/>
              <a:p>
                <a:pPr algn="l">
                  <a:lnSpc>
                    <a:spcPts val="1679"/>
                  </a:lnSpc>
                </a:pPr>
              </a:p>
            </p:txBody>
          </p:sp>
        </p:grpSp>
      </p:grpSp>
      <p:grpSp>
        <p:nvGrpSpPr>
          <p:cNvPr name="Group 14" id="14"/>
          <p:cNvGrpSpPr/>
          <p:nvPr/>
        </p:nvGrpSpPr>
        <p:grpSpPr>
          <a:xfrm rot="0">
            <a:off x="7810500" y="5019675"/>
            <a:ext cx="8382000" cy="571500"/>
            <a:chOff x="0" y="0"/>
            <a:chExt cx="11176000" cy="762000"/>
          </a:xfrm>
        </p:grpSpPr>
        <p:sp>
          <p:nvSpPr>
            <p:cNvPr name="TextBox 15" id="15"/>
            <p:cNvSpPr txBox="true"/>
            <p:nvPr/>
          </p:nvSpPr>
          <p:spPr>
            <a:xfrm rot="0">
              <a:off x="0" y="127000"/>
              <a:ext cx="889000" cy="342900"/>
            </a:xfrm>
            <a:prstGeom prst="rect">
              <a:avLst/>
            </a:prstGeom>
          </p:spPr>
          <p:txBody>
            <a:bodyPr anchor="t" rtlCol="false" tIns="0" lIns="0" bIns="0" rIns="0">
              <a:spAutoFit/>
            </a:bodyPr>
            <a:lstStyle/>
            <a:p>
              <a:pPr algn="l">
                <a:lnSpc>
                  <a:spcPts val="2100"/>
                </a:lnSpc>
              </a:pPr>
              <a:r>
                <a:rPr lang="en-US" sz="1500" b="true">
                  <a:solidFill>
                    <a:srgbClr val="C59A4A"/>
                  </a:solidFill>
                  <a:latin typeface="DM Sans Bold"/>
                  <a:ea typeface="DM Sans Bold"/>
                  <a:cs typeface="DM Sans Bold"/>
                  <a:sym typeface="DM Sans Bold"/>
                </a:rPr>
                <a:t>02</a:t>
              </a:r>
            </a:p>
          </p:txBody>
        </p:sp>
        <p:sp>
          <p:nvSpPr>
            <p:cNvPr name="TextBox 16" id="16"/>
            <p:cNvSpPr txBox="true"/>
            <p:nvPr/>
          </p:nvSpPr>
          <p:spPr>
            <a:xfrm rot="0">
              <a:off x="1270000" y="28575"/>
              <a:ext cx="9906000" cy="494665"/>
            </a:xfrm>
            <a:prstGeom prst="rect">
              <a:avLst/>
            </a:prstGeom>
          </p:spPr>
          <p:txBody>
            <a:bodyPr anchor="t" rtlCol="false" tIns="0" lIns="0" bIns="0" rIns="0">
              <a:spAutoFit/>
            </a:bodyPr>
            <a:lstStyle/>
            <a:p>
              <a:pPr algn="l">
                <a:lnSpc>
                  <a:spcPts val="2835"/>
                </a:lnSpc>
              </a:pPr>
              <a:r>
                <a:rPr lang="en-US" sz="2625" b="true">
                  <a:solidFill>
                    <a:srgbClr val="17211F"/>
                  </a:solidFill>
                  <a:latin typeface="Cormorant Garamond Bold"/>
                  <a:ea typeface="Cormorant Garamond Bold"/>
                  <a:cs typeface="Cormorant Garamond Bold"/>
                  <a:sym typeface="Cormorant Garamond Bold"/>
                </a:rPr>
                <a:t>Community Engagement &amp; Education</a:t>
              </a:r>
            </a:p>
          </p:txBody>
        </p:sp>
        <p:grpSp>
          <p:nvGrpSpPr>
            <p:cNvPr name="Group 17" id="17"/>
            <p:cNvGrpSpPr/>
            <p:nvPr/>
          </p:nvGrpSpPr>
          <p:grpSpPr>
            <a:xfrm rot="0">
              <a:off x="0" y="736600"/>
              <a:ext cx="10160000" cy="25400"/>
              <a:chOff x="0" y="0"/>
              <a:chExt cx="10160000" cy="25400"/>
            </a:xfrm>
          </p:grpSpPr>
          <p:sp>
            <p:nvSpPr>
              <p:cNvPr name="Freeform 18" id="18"/>
              <p:cNvSpPr/>
              <p:nvPr/>
            </p:nvSpPr>
            <p:spPr>
              <a:xfrm flipH="false" flipV="false" rot="0">
                <a:off x="0" y="0"/>
                <a:ext cx="10160000" cy="25400"/>
              </a:xfrm>
              <a:custGeom>
                <a:avLst/>
                <a:gdLst/>
                <a:ahLst/>
                <a:cxnLst/>
                <a:rect r="r" b="b" t="t" l="l"/>
                <a:pathLst>
                  <a:path h="25400" w="10160000">
                    <a:moveTo>
                      <a:pt x="0" y="0"/>
                    </a:moveTo>
                    <a:lnTo>
                      <a:pt x="10160000" y="0"/>
                    </a:lnTo>
                    <a:lnTo>
                      <a:pt x="10160000" y="25400"/>
                    </a:lnTo>
                    <a:lnTo>
                      <a:pt x="0" y="25400"/>
                    </a:lnTo>
                    <a:close/>
                  </a:path>
                </a:pathLst>
              </a:custGeom>
              <a:solidFill>
                <a:srgbClr val="9A6B47"/>
              </a:solidFill>
              <a:ln cap="sq">
                <a:noFill/>
                <a:prstDash val="solid"/>
                <a:miter/>
              </a:ln>
            </p:spPr>
          </p:sp>
          <p:sp>
            <p:nvSpPr>
              <p:cNvPr name="TextBox 19" id="19"/>
              <p:cNvSpPr txBox="true"/>
              <p:nvPr/>
            </p:nvSpPr>
            <p:spPr>
              <a:xfrm>
                <a:off x="0" y="-38100"/>
                <a:ext cx="10160000" cy="63500"/>
              </a:xfrm>
              <a:prstGeom prst="rect">
                <a:avLst/>
              </a:prstGeom>
            </p:spPr>
            <p:txBody>
              <a:bodyPr anchor="ctr" rtlCol="false" tIns="50800" lIns="50800" bIns="50800" rIns="50800"/>
              <a:lstStyle/>
              <a:p>
                <a:pPr algn="l">
                  <a:lnSpc>
                    <a:spcPts val="1679"/>
                  </a:lnSpc>
                </a:pPr>
              </a:p>
            </p:txBody>
          </p:sp>
        </p:grpSp>
      </p:grpSp>
      <p:grpSp>
        <p:nvGrpSpPr>
          <p:cNvPr name="Group 20" id="20"/>
          <p:cNvGrpSpPr/>
          <p:nvPr/>
        </p:nvGrpSpPr>
        <p:grpSpPr>
          <a:xfrm rot="0">
            <a:off x="7810500" y="6257925"/>
            <a:ext cx="8382000" cy="571500"/>
            <a:chOff x="0" y="0"/>
            <a:chExt cx="11176000" cy="762000"/>
          </a:xfrm>
        </p:grpSpPr>
        <p:sp>
          <p:nvSpPr>
            <p:cNvPr name="TextBox 21" id="21"/>
            <p:cNvSpPr txBox="true"/>
            <p:nvPr/>
          </p:nvSpPr>
          <p:spPr>
            <a:xfrm rot="0">
              <a:off x="0" y="127000"/>
              <a:ext cx="889000" cy="342900"/>
            </a:xfrm>
            <a:prstGeom prst="rect">
              <a:avLst/>
            </a:prstGeom>
          </p:spPr>
          <p:txBody>
            <a:bodyPr anchor="t" rtlCol="false" tIns="0" lIns="0" bIns="0" rIns="0">
              <a:spAutoFit/>
            </a:bodyPr>
            <a:lstStyle/>
            <a:p>
              <a:pPr algn="l">
                <a:lnSpc>
                  <a:spcPts val="2100"/>
                </a:lnSpc>
              </a:pPr>
              <a:r>
                <a:rPr lang="en-US" sz="1500" b="true">
                  <a:solidFill>
                    <a:srgbClr val="C59A4A"/>
                  </a:solidFill>
                  <a:latin typeface="DM Sans Bold"/>
                  <a:ea typeface="DM Sans Bold"/>
                  <a:cs typeface="DM Sans Bold"/>
                  <a:sym typeface="DM Sans Bold"/>
                </a:rPr>
                <a:t>03</a:t>
              </a:r>
            </a:p>
          </p:txBody>
        </p:sp>
        <p:sp>
          <p:nvSpPr>
            <p:cNvPr name="TextBox 22" id="22"/>
            <p:cNvSpPr txBox="true"/>
            <p:nvPr/>
          </p:nvSpPr>
          <p:spPr>
            <a:xfrm rot="0">
              <a:off x="1270000" y="28575"/>
              <a:ext cx="9906000" cy="494665"/>
            </a:xfrm>
            <a:prstGeom prst="rect">
              <a:avLst/>
            </a:prstGeom>
          </p:spPr>
          <p:txBody>
            <a:bodyPr anchor="t" rtlCol="false" tIns="0" lIns="0" bIns="0" rIns="0">
              <a:spAutoFit/>
            </a:bodyPr>
            <a:lstStyle/>
            <a:p>
              <a:pPr algn="l">
                <a:lnSpc>
                  <a:spcPts val="2835"/>
                </a:lnSpc>
              </a:pPr>
              <a:r>
                <a:rPr lang="en-US" sz="2625" b="true">
                  <a:solidFill>
                    <a:srgbClr val="17211F"/>
                  </a:solidFill>
                  <a:latin typeface="Cormorant Garamond Bold"/>
                  <a:ea typeface="Cormorant Garamond Bold"/>
                  <a:cs typeface="Cormorant Garamond Bold"/>
                  <a:sym typeface="Cormorant Garamond Bold"/>
                </a:rPr>
                <a:t>Prevention Strategies &amp; Policy</a:t>
              </a:r>
            </a:p>
          </p:txBody>
        </p:sp>
        <p:grpSp>
          <p:nvGrpSpPr>
            <p:cNvPr name="Group 23" id="23"/>
            <p:cNvGrpSpPr/>
            <p:nvPr/>
          </p:nvGrpSpPr>
          <p:grpSpPr>
            <a:xfrm rot="0">
              <a:off x="0" y="736600"/>
              <a:ext cx="10160000" cy="25400"/>
              <a:chOff x="0" y="0"/>
              <a:chExt cx="10160000" cy="25400"/>
            </a:xfrm>
          </p:grpSpPr>
          <p:sp>
            <p:nvSpPr>
              <p:cNvPr name="Freeform 24" id="24"/>
              <p:cNvSpPr/>
              <p:nvPr/>
            </p:nvSpPr>
            <p:spPr>
              <a:xfrm flipH="false" flipV="false" rot="0">
                <a:off x="0" y="0"/>
                <a:ext cx="10160000" cy="25400"/>
              </a:xfrm>
              <a:custGeom>
                <a:avLst/>
                <a:gdLst/>
                <a:ahLst/>
                <a:cxnLst/>
                <a:rect r="r" b="b" t="t" l="l"/>
                <a:pathLst>
                  <a:path h="25400" w="10160000">
                    <a:moveTo>
                      <a:pt x="0" y="0"/>
                    </a:moveTo>
                    <a:lnTo>
                      <a:pt x="10160000" y="0"/>
                    </a:lnTo>
                    <a:lnTo>
                      <a:pt x="10160000" y="25400"/>
                    </a:lnTo>
                    <a:lnTo>
                      <a:pt x="0" y="25400"/>
                    </a:lnTo>
                    <a:close/>
                  </a:path>
                </a:pathLst>
              </a:custGeom>
              <a:solidFill>
                <a:srgbClr val="9A6B47"/>
              </a:solidFill>
              <a:ln cap="sq">
                <a:noFill/>
                <a:prstDash val="solid"/>
                <a:miter/>
              </a:ln>
            </p:spPr>
          </p:sp>
          <p:sp>
            <p:nvSpPr>
              <p:cNvPr name="TextBox 25" id="25"/>
              <p:cNvSpPr txBox="true"/>
              <p:nvPr/>
            </p:nvSpPr>
            <p:spPr>
              <a:xfrm>
                <a:off x="0" y="-38100"/>
                <a:ext cx="10160000" cy="63500"/>
              </a:xfrm>
              <a:prstGeom prst="rect">
                <a:avLst/>
              </a:prstGeom>
            </p:spPr>
            <p:txBody>
              <a:bodyPr anchor="ctr" rtlCol="false" tIns="50800" lIns="50800" bIns="50800" rIns="50800"/>
              <a:lstStyle/>
              <a:p>
                <a:pPr algn="l">
                  <a:lnSpc>
                    <a:spcPts val="1679"/>
                  </a:lnSpc>
                </a:pPr>
              </a:p>
            </p:txBody>
          </p:sp>
        </p:grpSp>
      </p:grpSp>
      <p:grpSp>
        <p:nvGrpSpPr>
          <p:cNvPr name="Group 26" id="26"/>
          <p:cNvGrpSpPr/>
          <p:nvPr/>
        </p:nvGrpSpPr>
        <p:grpSpPr>
          <a:xfrm rot="0">
            <a:off x="7810500" y="7496175"/>
            <a:ext cx="8382000" cy="571500"/>
            <a:chOff x="0" y="0"/>
            <a:chExt cx="11176000" cy="762000"/>
          </a:xfrm>
        </p:grpSpPr>
        <p:sp>
          <p:nvSpPr>
            <p:cNvPr name="TextBox 27" id="27"/>
            <p:cNvSpPr txBox="true"/>
            <p:nvPr/>
          </p:nvSpPr>
          <p:spPr>
            <a:xfrm rot="0">
              <a:off x="0" y="127000"/>
              <a:ext cx="889000" cy="342900"/>
            </a:xfrm>
            <a:prstGeom prst="rect">
              <a:avLst/>
            </a:prstGeom>
          </p:spPr>
          <p:txBody>
            <a:bodyPr anchor="t" rtlCol="false" tIns="0" lIns="0" bIns="0" rIns="0">
              <a:spAutoFit/>
            </a:bodyPr>
            <a:lstStyle/>
            <a:p>
              <a:pPr algn="l">
                <a:lnSpc>
                  <a:spcPts val="2100"/>
                </a:lnSpc>
              </a:pPr>
              <a:r>
                <a:rPr lang="en-US" sz="1500" b="true">
                  <a:solidFill>
                    <a:srgbClr val="C59A4A"/>
                  </a:solidFill>
                  <a:latin typeface="DM Sans Bold"/>
                  <a:ea typeface="DM Sans Bold"/>
                  <a:cs typeface="DM Sans Bold"/>
                  <a:sym typeface="DM Sans Bold"/>
                </a:rPr>
                <a:t>04</a:t>
              </a:r>
            </a:p>
          </p:txBody>
        </p:sp>
        <p:sp>
          <p:nvSpPr>
            <p:cNvPr name="TextBox 28" id="28"/>
            <p:cNvSpPr txBox="true"/>
            <p:nvPr/>
          </p:nvSpPr>
          <p:spPr>
            <a:xfrm rot="0">
              <a:off x="1270000" y="28575"/>
              <a:ext cx="9906000" cy="494665"/>
            </a:xfrm>
            <a:prstGeom prst="rect">
              <a:avLst/>
            </a:prstGeom>
          </p:spPr>
          <p:txBody>
            <a:bodyPr anchor="t" rtlCol="false" tIns="0" lIns="0" bIns="0" rIns="0">
              <a:spAutoFit/>
            </a:bodyPr>
            <a:lstStyle/>
            <a:p>
              <a:pPr algn="l">
                <a:lnSpc>
                  <a:spcPts val="2835"/>
                </a:lnSpc>
              </a:pPr>
              <a:r>
                <a:rPr lang="en-US" sz="2625" b="true">
                  <a:solidFill>
                    <a:srgbClr val="17211F"/>
                  </a:solidFill>
                  <a:latin typeface="Cormorant Garamond Bold"/>
                  <a:ea typeface="Cormorant Garamond Bold"/>
                  <a:cs typeface="Cormorant Garamond Bold"/>
                  <a:sym typeface="Cormorant Garamond Bold"/>
                </a:rPr>
                <a:t>Strategic Communication &amp; Advocacy</a:t>
              </a:r>
            </a:p>
          </p:txBody>
        </p:sp>
        <p:grpSp>
          <p:nvGrpSpPr>
            <p:cNvPr name="Group 29" id="29"/>
            <p:cNvGrpSpPr/>
            <p:nvPr/>
          </p:nvGrpSpPr>
          <p:grpSpPr>
            <a:xfrm rot="0">
              <a:off x="0" y="736600"/>
              <a:ext cx="10160000" cy="25400"/>
              <a:chOff x="0" y="0"/>
              <a:chExt cx="10160000" cy="25400"/>
            </a:xfrm>
          </p:grpSpPr>
          <p:sp>
            <p:nvSpPr>
              <p:cNvPr name="Freeform 30" id="30"/>
              <p:cNvSpPr/>
              <p:nvPr/>
            </p:nvSpPr>
            <p:spPr>
              <a:xfrm flipH="false" flipV="false" rot="0">
                <a:off x="0" y="0"/>
                <a:ext cx="10160000" cy="25400"/>
              </a:xfrm>
              <a:custGeom>
                <a:avLst/>
                <a:gdLst/>
                <a:ahLst/>
                <a:cxnLst/>
                <a:rect r="r" b="b" t="t" l="l"/>
                <a:pathLst>
                  <a:path h="25400" w="10160000">
                    <a:moveTo>
                      <a:pt x="0" y="0"/>
                    </a:moveTo>
                    <a:lnTo>
                      <a:pt x="10160000" y="0"/>
                    </a:lnTo>
                    <a:lnTo>
                      <a:pt x="10160000" y="25400"/>
                    </a:lnTo>
                    <a:lnTo>
                      <a:pt x="0" y="25400"/>
                    </a:lnTo>
                    <a:close/>
                  </a:path>
                </a:pathLst>
              </a:custGeom>
              <a:solidFill>
                <a:srgbClr val="9A6B47"/>
              </a:solidFill>
              <a:ln cap="sq">
                <a:noFill/>
                <a:prstDash val="solid"/>
                <a:miter/>
              </a:ln>
            </p:spPr>
          </p:sp>
          <p:sp>
            <p:nvSpPr>
              <p:cNvPr name="TextBox 31" id="31"/>
              <p:cNvSpPr txBox="true"/>
              <p:nvPr/>
            </p:nvSpPr>
            <p:spPr>
              <a:xfrm>
                <a:off x="0" y="-38100"/>
                <a:ext cx="10160000" cy="63500"/>
              </a:xfrm>
              <a:prstGeom prst="rect">
                <a:avLst/>
              </a:prstGeom>
            </p:spPr>
            <p:txBody>
              <a:bodyPr anchor="ctr" rtlCol="false" tIns="50800" lIns="50800" bIns="50800" rIns="50800"/>
              <a:lstStyle/>
              <a:p>
                <a:pPr algn="l">
                  <a:lnSpc>
                    <a:spcPts val="1679"/>
                  </a:lnSpc>
                </a:pPr>
              </a:p>
            </p:txBody>
          </p:sp>
        </p:grpSp>
      </p:grpSp>
      <p:sp>
        <p:nvSpPr>
          <p:cNvPr name="TextBox 32" id="32"/>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5A2148"/>
        </a:solidFill>
      </p:bgPr>
    </p:bg>
    <p:spTree>
      <p:nvGrpSpPr>
        <p:cNvPr id="1" name=""/>
        <p:cNvGrpSpPr/>
        <p:nvPr/>
      </p:nvGrpSpPr>
      <p:grpSpPr>
        <a:xfrm>
          <a:off x="0" y="0"/>
          <a:ext cx="0" cy="0"/>
          <a:chOff x="0" y="0"/>
          <a:chExt cx="0" cy="0"/>
        </a:xfrm>
      </p:grpSpPr>
      <p:sp>
        <p:nvSpPr>
          <p:cNvPr name="TextBox 2" id="2"/>
          <p:cNvSpPr txBox="true"/>
          <p:nvPr/>
        </p:nvSpPr>
        <p:spPr>
          <a:xfrm rot="0">
            <a:off x="1047750" y="742950"/>
            <a:ext cx="7620000" cy="222885"/>
          </a:xfrm>
          <a:prstGeom prst="rect">
            <a:avLst/>
          </a:prstGeom>
        </p:spPr>
        <p:txBody>
          <a:bodyPr anchor="t" rtlCol="false" tIns="0" lIns="0" bIns="0" rIns="0">
            <a:spAutoFit/>
          </a:bodyPr>
          <a:lstStyle/>
          <a:p>
            <a:pPr algn="l">
              <a:lnSpc>
                <a:spcPts val="1889"/>
              </a:lnSpc>
            </a:pPr>
            <a:r>
              <a:rPr lang="en-US" sz="1350" spc="243" b="true">
                <a:solidFill>
                  <a:srgbClr val="E56F61"/>
                </a:solidFill>
                <a:latin typeface="DM Sans Bold"/>
                <a:ea typeface="DM Sans Bold"/>
                <a:cs typeface="DM Sans Bold"/>
                <a:sym typeface="DM Sans Bold"/>
              </a:rPr>
              <a:t>SIGNATURE SPEAKING TOPICS</a:t>
            </a:r>
          </a:p>
        </p:txBody>
      </p:sp>
      <p:sp>
        <p:nvSpPr>
          <p:cNvPr name="TextBox 3" id="3"/>
          <p:cNvSpPr txBox="true"/>
          <p:nvPr/>
        </p:nvSpPr>
        <p:spPr>
          <a:xfrm rot="0">
            <a:off x="1047750" y="1562100"/>
            <a:ext cx="8572500" cy="1428369"/>
          </a:xfrm>
          <a:prstGeom prst="rect">
            <a:avLst/>
          </a:prstGeom>
        </p:spPr>
        <p:txBody>
          <a:bodyPr anchor="t" rtlCol="false" tIns="0" lIns="0" bIns="0" rIns="0">
            <a:spAutoFit/>
          </a:bodyPr>
          <a:lstStyle/>
          <a:p>
            <a:pPr algn="l">
              <a:lnSpc>
                <a:spcPts val="5508"/>
              </a:lnSpc>
            </a:pPr>
            <a:r>
              <a:rPr lang="en-US" sz="5400" b="true">
                <a:solidFill>
                  <a:srgbClr val="F7F0E4"/>
                </a:solidFill>
                <a:latin typeface="Cormorant Garamond Bold"/>
                <a:ea typeface="Cormorant Garamond Bold"/>
                <a:cs typeface="Cormorant Garamond Bold"/>
                <a:sym typeface="Cormorant Garamond Bold"/>
              </a:rPr>
              <a:t>Conversations</a:t>
            </a:r>
          </a:p>
          <a:p>
            <a:pPr algn="l">
              <a:lnSpc>
                <a:spcPts val="5508"/>
              </a:lnSpc>
            </a:pPr>
            <a:r>
              <a:rPr lang="en-US" sz="5400" b="true">
                <a:solidFill>
                  <a:srgbClr val="F7F0E4"/>
                </a:solidFill>
                <a:latin typeface="Cormorant Garamond Bold"/>
                <a:ea typeface="Cormorant Garamond Bold"/>
                <a:cs typeface="Cormorant Garamond Bold"/>
                <a:sym typeface="Cormorant Garamond Bold"/>
              </a:rPr>
              <a:t>that create change.</a:t>
            </a:r>
          </a:p>
        </p:txBody>
      </p:sp>
      <p:grpSp>
        <p:nvGrpSpPr>
          <p:cNvPr name="Group 4" id="4"/>
          <p:cNvGrpSpPr/>
          <p:nvPr/>
        </p:nvGrpSpPr>
        <p:grpSpPr>
          <a:xfrm rot="0">
            <a:off x="1047750" y="5524500"/>
            <a:ext cx="2857500" cy="2857500"/>
            <a:chOff x="0" y="0"/>
            <a:chExt cx="3810000" cy="3810000"/>
          </a:xfrm>
        </p:grpSpPr>
        <p:sp>
          <p:nvSpPr>
            <p:cNvPr name="Freeform 5" id="5"/>
            <p:cNvSpPr/>
            <p:nvPr/>
          </p:nvSpPr>
          <p:spPr>
            <a:xfrm flipH="false" flipV="false" rot="0">
              <a:off x="0" y="0"/>
              <a:ext cx="3810000" cy="3810000"/>
            </a:xfrm>
            <a:custGeom>
              <a:avLst/>
              <a:gdLst/>
              <a:ahLst/>
              <a:cxnLst/>
              <a:rect r="r" b="b" t="t" l="l"/>
              <a:pathLst>
                <a:path h="3810000" w="3810000">
                  <a:moveTo>
                    <a:pt x="0" y="0"/>
                  </a:moveTo>
                  <a:lnTo>
                    <a:pt x="3810000" y="0"/>
                  </a:lnTo>
                  <a:lnTo>
                    <a:pt x="3810000" y="3810000"/>
                  </a:lnTo>
                  <a:lnTo>
                    <a:pt x="0" y="3810000"/>
                  </a:lnTo>
                  <a:close/>
                </a:path>
              </a:pathLst>
            </a:custGeom>
            <a:solidFill>
              <a:srgbClr val="E56F61">
                <a:alpha val="89804"/>
              </a:srgbClr>
            </a:solidFill>
            <a:ln cap="sq">
              <a:noFill/>
              <a:prstDash val="solid"/>
              <a:miter/>
            </a:ln>
          </p:spPr>
        </p:sp>
        <p:sp>
          <p:nvSpPr>
            <p:cNvPr name="TextBox 6" id="6"/>
            <p:cNvSpPr txBox="true"/>
            <p:nvPr/>
          </p:nvSpPr>
          <p:spPr>
            <a:xfrm>
              <a:off x="0" y="-38100"/>
              <a:ext cx="3810000" cy="3848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9810750" y="1857375"/>
            <a:ext cx="7143750" cy="666750"/>
            <a:chOff x="0" y="0"/>
            <a:chExt cx="9525000" cy="889000"/>
          </a:xfrm>
        </p:grpSpPr>
        <p:sp>
          <p:nvSpPr>
            <p:cNvPr name="TextBox 8" id="8"/>
            <p:cNvSpPr txBox="true"/>
            <p:nvPr/>
          </p:nvSpPr>
          <p:spPr>
            <a:xfrm rot="0">
              <a:off x="635000" y="142875"/>
              <a:ext cx="8890000" cy="624205"/>
            </a:xfrm>
            <a:prstGeom prst="rect">
              <a:avLst/>
            </a:prstGeom>
          </p:spPr>
          <p:txBody>
            <a:bodyPr anchor="t" rtlCol="false" tIns="0" lIns="0" bIns="0" rIns="0">
              <a:spAutoFit/>
            </a:bodyPr>
            <a:lstStyle/>
            <a:p>
              <a:pPr algn="l">
                <a:lnSpc>
                  <a:spcPts val="3990"/>
                </a:lnSpc>
              </a:pPr>
              <a:r>
                <a:rPr lang="en-US" sz="2850" b="true">
                  <a:solidFill>
                    <a:srgbClr val="F7F0E4"/>
                  </a:solidFill>
                  <a:latin typeface="Cormorant Garamond Bold"/>
                  <a:ea typeface="Cormorant Garamond Bold"/>
                  <a:cs typeface="Cormorant Garamond Bold"/>
                  <a:sym typeface="Cormorant Garamond Bold"/>
                </a:rPr>
                <a:t>Community-Driven Prevention</a:t>
              </a:r>
            </a:p>
          </p:txBody>
        </p:sp>
        <p:grpSp>
          <p:nvGrpSpPr>
            <p:cNvPr name="Group 9" id="9"/>
            <p:cNvGrpSpPr/>
            <p:nvPr/>
          </p:nvGrpSpPr>
          <p:grpSpPr>
            <a:xfrm rot="0">
              <a:off x="0" y="0"/>
              <a:ext cx="101600" cy="889000"/>
              <a:chOff x="0" y="0"/>
              <a:chExt cx="101600" cy="889000"/>
            </a:xfrm>
          </p:grpSpPr>
          <p:sp>
            <p:nvSpPr>
              <p:cNvPr name="Freeform 10" id="10"/>
              <p:cNvSpPr/>
              <p:nvPr/>
            </p:nvSpPr>
            <p:spPr>
              <a:xfrm flipH="false" flipV="false" rot="0">
                <a:off x="0" y="0"/>
                <a:ext cx="101600" cy="889000"/>
              </a:xfrm>
              <a:custGeom>
                <a:avLst/>
                <a:gdLst/>
                <a:ahLst/>
                <a:cxnLst/>
                <a:rect r="r" b="b" t="t" l="l"/>
                <a:pathLst>
                  <a:path h="889000" w="101600">
                    <a:moveTo>
                      <a:pt x="0" y="0"/>
                    </a:moveTo>
                    <a:lnTo>
                      <a:pt x="101600" y="0"/>
                    </a:lnTo>
                    <a:lnTo>
                      <a:pt x="101600" y="889000"/>
                    </a:lnTo>
                    <a:lnTo>
                      <a:pt x="0" y="889000"/>
                    </a:lnTo>
                    <a:close/>
                  </a:path>
                </a:pathLst>
              </a:custGeom>
              <a:solidFill>
                <a:srgbClr val="C59A4A"/>
              </a:solidFill>
              <a:ln cap="sq">
                <a:noFill/>
                <a:prstDash val="solid"/>
                <a:miter/>
              </a:ln>
            </p:spPr>
          </p:sp>
          <p:sp>
            <p:nvSpPr>
              <p:cNvPr name="TextBox 11" id="11"/>
              <p:cNvSpPr txBox="true"/>
              <p:nvPr/>
            </p:nvSpPr>
            <p:spPr>
              <a:xfrm>
                <a:off x="0" y="-38100"/>
                <a:ext cx="101600" cy="927100"/>
              </a:xfrm>
              <a:prstGeom prst="rect">
                <a:avLst/>
              </a:prstGeom>
            </p:spPr>
            <p:txBody>
              <a:bodyPr anchor="ctr" rtlCol="false" tIns="50800" lIns="50800" bIns="50800" rIns="50800"/>
              <a:lstStyle/>
              <a:p>
                <a:pPr algn="l">
                  <a:lnSpc>
                    <a:spcPts val="1679"/>
                  </a:lnSpc>
                </a:pPr>
              </a:p>
            </p:txBody>
          </p:sp>
        </p:grpSp>
      </p:grpSp>
      <p:grpSp>
        <p:nvGrpSpPr>
          <p:cNvPr name="Group 12" id="12"/>
          <p:cNvGrpSpPr/>
          <p:nvPr/>
        </p:nvGrpSpPr>
        <p:grpSpPr>
          <a:xfrm rot="0">
            <a:off x="9810750" y="3190875"/>
            <a:ext cx="7143750" cy="666750"/>
            <a:chOff x="0" y="0"/>
            <a:chExt cx="9525000" cy="889000"/>
          </a:xfrm>
        </p:grpSpPr>
        <p:sp>
          <p:nvSpPr>
            <p:cNvPr name="TextBox 13" id="13"/>
            <p:cNvSpPr txBox="true"/>
            <p:nvPr/>
          </p:nvSpPr>
          <p:spPr>
            <a:xfrm rot="0">
              <a:off x="635000" y="142875"/>
              <a:ext cx="8890000" cy="624205"/>
            </a:xfrm>
            <a:prstGeom prst="rect">
              <a:avLst/>
            </a:prstGeom>
          </p:spPr>
          <p:txBody>
            <a:bodyPr anchor="t" rtlCol="false" tIns="0" lIns="0" bIns="0" rIns="0">
              <a:spAutoFit/>
            </a:bodyPr>
            <a:lstStyle/>
            <a:p>
              <a:pPr algn="l">
                <a:lnSpc>
                  <a:spcPts val="3990"/>
                </a:lnSpc>
              </a:pPr>
              <a:r>
                <a:rPr lang="en-US" sz="2850" b="true">
                  <a:solidFill>
                    <a:srgbClr val="F7F0E4"/>
                  </a:solidFill>
                  <a:latin typeface="Cormorant Garamond Bold"/>
                  <a:ea typeface="Cormorant Garamond Bold"/>
                  <a:cs typeface="Cormorant Garamond Bold"/>
                  <a:sym typeface="Cormorant Garamond Bold"/>
                </a:rPr>
                <a:t>Public Health Equity &amp; Access</a:t>
              </a:r>
            </a:p>
          </p:txBody>
        </p:sp>
        <p:grpSp>
          <p:nvGrpSpPr>
            <p:cNvPr name="Group 14" id="14"/>
            <p:cNvGrpSpPr/>
            <p:nvPr/>
          </p:nvGrpSpPr>
          <p:grpSpPr>
            <a:xfrm rot="0">
              <a:off x="0" y="0"/>
              <a:ext cx="101600" cy="889000"/>
              <a:chOff x="0" y="0"/>
              <a:chExt cx="101600" cy="889000"/>
            </a:xfrm>
          </p:grpSpPr>
          <p:sp>
            <p:nvSpPr>
              <p:cNvPr name="Freeform 15" id="15"/>
              <p:cNvSpPr/>
              <p:nvPr/>
            </p:nvSpPr>
            <p:spPr>
              <a:xfrm flipH="false" flipV="false" rot="0">
                <a:off x="0" y="0"/>
                <a:ext cx="101600" cy="889000"/>
              </a:xfrm>
              <a:custGeom>
                <a:avLst/>
                <a:gdLst/>
                <a:ahLst/>
                <a:cxnLst/>
                <a:rect r="r" b="b" t="t" l="l"/>
                <a:pathLst>
                  <a:path h="889000" w="101600">
                    <a:moveTo>
                      <a:pt x="0" y="0"/>
                    </a:moveTo>
                    <a:lnTo>
                      <a:pt x="101600" y="0"/>
                    </a:lnTo>
                    <a:lnTo>
                      <a:pt x="101600" y="889000"/>
                    </a:lnTo>
                    <a:lnTo>
                      <a:pt x="0" y="889000"/>
                    </a:lnTo>
                    <a:close/>
                  </a:path>
                </a:pathLst>
              </a:custGeom>
              <a:solidFill>
                <a:srgbClr val="C59A4A"/>
              </a:solidFill>
              <a:ln cap="sq">
                <a:noFill/>
                <a:prstDash val="solid"/>
                <a:miter/>
              </a:ln>
            </p:spPr>
          </p:sp>
          <p:sp>
            <p:nvSpPr>
              <p:cNvPr name="TextBox 16" id="16"/>
              <p:cNvSpPr txBox="true"/>
              <p:nvPr/>
            </p:nvSpPr>
            <p:spPr>
              <a:xfrm>
                <a:off x="0" y="-38100"/>
                <a:ext cx="101600" cy="927100"/>
              </a:xfrm>
              <a:prstGeom prst="rect">
                <a:avLst/>
              </a:prstGeom>
            </p:spPr>
            <p:txBody>
              <a:bodyPr anchor="ctr" rtlCol="false" tIns="50800" lIns="50800" bIns="50800" rIns="50800"/>
              <a:lstStyle/>
              <a:p>
                <a:pPr algn="l">
                  <a:lnSpc>
                    <a:spcPts val="1679"/>
                  </a:lnSpc>
                </a:pPr>
              </a:p>
            </p:txBody>
          </p:sp>
        </p:grpSp>
      </p:grpSp>
      <p:grpSp>
        <p:nvGrpSpPr>
          <p:cNvPr name="Group 17" id="17"/>
          <p:cNvGrpSpPr/>
          <p:nvPr/>
        </p:nvGrpSpPr>
        <p:grpSpPr>
          <a:xfrm rot="0">
            <a:off x="9810750" y="4524375"/>
            <a:ext cx="7143750" cy="666750"/>
            <a:chOff x="0" y="0"/>
            <a:chExt cx="9525000" cy="889000"/>
          </a:xfrm>
        </p:grpSpPr>
        <p:sp>
          <p:nvSpPr>
            <p:cNvPr name="TextBox 18" id="18"/>
            <p:cNvSpPr txBox="true"/>
            <p:nvPr/>
          </p:nvSpPr>
          <p:spPr>
            <a:xfrm rot="0">
              <a:off x="635000" y="142875"/>
              <a:ext cx="8890000" cy="624205"/>
            </a:xfrm>
            <a:prstGeom prst="rect">
              <a:avLst/>
            </a:prstGeom>
          </p:spPr>
          <p:txBody>
            <a:bodyPr anchor="t" rtlCol="false" tIns="0" lIns="0" bIns="0" rIns="0">
              <a:spAutoFit/>
            </a:bodyPr>
            <a:lstStyle/>
            <a:p>
              <a:pPr algn="l">
                <a:lnSpc>
                  <a:spcPts val="3990"/>
                </a:lnSpc>
              </a:pPr>
              <a:r>
                <a:rPr lang="en-US" sz="2850" b="true">
                  <a:solidFill>
                    <a:srgbClr val="E56F61"/>
                  </a:solidFill>
                  <a:latin typeface="Cormorant Garamond Bold"/>
                  <a:ea typeface="Cormorant Garamond Bold"/>
                  <a:cs typeface="Cormorant Garamond Bold"/>
                  <a:sym typeface="Cormorant Garamond Bold"/>
                </a:rPr>
                <a:t>Leadership in Complex Systems</a:t>
              </a:r>
            </a:p>
          </p:txBody>
        </p:sp>
        <p:grpSp>
          <p:nvGrpSpPr>
            <p:cNvPr name="Group 19" id="19"/>
            <p:cNvGrpSpPr/>
            <p:nvPr/>
          </p:nvGrpSpPr>
          <p:grpSpPr>
            <a:xfrm rot="0">
              <a:off x="0" y="0"/>
              <a:ext cx="101600" cy="889000"/>
              <a:chOff x="0" y="0"/>
              <a:chExt cx="101600" cy="889000"/>
            </a:xfrm>
          </p:grpSpPr>
          <p:sp>
            <p:nvSpPr>
              <p:cNvPr name="Freeform 20" id="20"/>
              <p:cNvSpPr/>
              <p:nvPr/>
            </p:nvSpPr>
            <p:spPr>
              <a:xfrm flipH="false" flipV="false" rot="0">
                <a:off x="0" y="0"/>
                <a:ext cx="101600" cy="889000"/>
              </a:xfrm>
              <a:custGeom>
                <a:avLst/>
                <a:gdLst/>
                <a:ahLst/>
                <a:cxnLst/>
                <a:rect r="r" b="b" t="t" l="l"/>
                <a:pathLst>
                  <a:path h="889000" w="101600">
                    <a:moveTo>
                      <a:pt x="0" y="0"/>
                    </a:moveTo>
                    <a:lnTo>
                      <a:pt x="101600" y="0"/>
                    </a:lnTo>
                    <a:lnTo>
                      <a:pt x="101600" y="889000"/>
                    </a:lnTo>
                    <a:lnTo>
                      <a:pt x="0" y="889000"/>
                    </a:lnTo>
                    <a:close/>
                  </a:path>
                </a:pathLst>
              </a:custGeom>
              <a:solidFill>
                <a:srgbClr val="E56F61"/>
              </a:solidFill>
              <a:ln cap="sq">
                <a:noFill/>
                <a:prstDash val="solid"/>
                <a:miter/>
              </a:ln>
            </p:spPr>
          </p:sp>
          <p:sp>
            <p:nvSpPr>
              <p:cNvPr name="TextBox 21" id="21"/>
              <p:cNvSpPr txBox="true"/>
              <p:nvPr/>
            </p:nvSpPr>
            <p:spPr>
              <a:xfrm>
                <a:off x="0" y="-38100"/>
                <a:ext cx="101600" cy="927100"/>
              </a:xfrm>
              <a:prstGeom prst="rect">
                <a:avLst/>
              </a:prstGeom>
            </p:spPr>
            <p:txBody>
              <a:bodyPr anchor="ctr" rtlCol="false" tIns="50800" lIns="50800" bIns="50800" rIns="50800"/>
              <a:lstStyle/>
              <a:p>
                <a:pPr algn="l">
                  <a:lnSpc>
                    <a:spcPts val="1679"/>
                  </a:lnSpc>
                </a:pPr>
              </a:p>
            </p:txBody>
          </p:sp>
        </p:grpSp>
      </p:grpSp>
      <p:grpSp>
        <p:nvGrpSpPr>
          <p:cNvPr name="Group 22" id="22"/>
          <p:cNvGrpSpPr/>
          <p:nvPr/>
        </p:nvGrpSpPr>
        <p:grpSpPr>
          <a:xfrm rot="0">
            <a:off x="9810750" y="5857875"/>
            <a:ext cx="7143750" cy="666750"/>
            <a:chOff x="0" y="0"/>
            <a:chExt cx="9525000" cy="889000"/>
          </a:xfrm>
        </p:grpSpPr>
        <p:sp>
          <p:nvSpPr>
            <p:cNvPr name="TextBox 23" id="23"/>
            <p:cNvSpPr txBox="true"/>
            <p:nvPr/>
          </p:nvSpPr>
          <p:spPr>
            <a:xfrm rot="0">
              <a:off x="635000" y="142875"/>
              <a:ext cx="8890000" cy="624205"/>
            </a:xfrm>
            <a:prstGeom prst="rect">
              <a:avLst/>
            </a:prstGeom>
          </p:spPr>
          <p:txBody>
            <a:bodyPr anchor="t" rtlCol="false" tIns="0" lIns="0" bIns="0" rIns="0">
              <a:spAutoFit/>
            </a:bodyPr>
            <a:lstStyle/>
            <a:p>
              <a:pPr algn="l">
                <a:lnSpc>
                  <a:spcPts val="3990"/>
                </a:lnSpc>
              </a:pPr>
              <a:r>
                <a:rPr lang="en-US" sz="2850" b="true">
                  <a:solidFill>
                    <a:srgbClr val="F7F0E4"/>
                  </a:solidFill>
                  <a:latin typeface="Cormorant Garamond Bold"/>
                  <a:ea typeface="Cormorant Garamond Bold"/>
                  <a:cs typeface="Cormorant Garamond Bold"/>
                  <a:sym typeface="Cormorant Garamond Bold"/>
                </a:rPr>
                <a:t>Building Resilient Communities</a:t>
              </a:r>
            </a:p>
          </p:txBody>
        </p:sp>
        <p:grpSp>
          <p:nvGrpSpPr>
            <p:cNvPr name="Group 24" id="24"/>
            <p:cNvGrpSpPr/>
            <p:nvPr/>
          </p:nvGrpSpPr>
          <p:grpSpPr>
            <a:xfrm rot="0">
              <a:off x="0" y="0"/>
              <a:ext cx="101600" cy="889000"/>
              <a:chOff x="0" y="0"/>
              <a:chExt cx="101600" cy="889000"/>
            </a:xfrm>
          </p:grpSpPr>
          <p:sp>
            <p:nvSpPr>
              <p:cNvPr name="Freeform 25" id="25"/>
              <p:cNvSpPr/>
              <p:nvPr/>
            </p:nvSpPr>
            <p:spPr>
              <a:xfrm flipH="false" flipV="false" rot="0">
                <a:off x="0" y="0"/>
                <a:ext cx="101600" cy="889000"/>
              </a:xfrm>
              <a:custGeom>
                <a:avLst/>
                <a:gdLst/>
                <a:ahLst/>
                <a:cxnLst/>
                <a:rect r="r" b="b" t="t" l="l"/>
                <a:pathLst>
                  <a:path h="889000" w="101600">
                    <a:moveTo>
                      <a:pt x="0" y="0"/>
                    </a:moveTo>
                    <a:lnTo>
                      <a:pt x="101600" y="0"/>
                    </a:lnTo>
                    <a:lnTo>
                      <a:pt x="101600" y="889000"/>
                    </a:lnTo>
                    <a:lnTo>
                      <a:pt x="0" y="889000"/>
                    </a:lnTo>
                    <a:close/>
                  </a:path>
                </a:pathLst>
              </a:custGeom>
              <a:solidFill>
                <a:srgbClr val="C59A4A"/>
              </a:solidFill>
              <a:ln cap="sq">
                <a:noFill/>
                <a:prstDash val="solid"/>
                <a:miter/>
              </a:ln>
            </p:spPr>
          </p:sp>
          <p:sp>
            <p:nvSpPr>
              <p:cNvPr name="TextBox 26" id="26"/>
              <p:cNvSpPr txBox="true"/>
              <p:nvPr/>
            </p:nvSpPr>
            <p:spPr>
              <a:xfrm>
                <a:off x="0" y="-38100"/>
                <a:ext cx="101600" cy="927100"/>
              </a:xfrm>
              <a:prstGeom prst="rect">
                <a:avLst/>
              </a:prstGeom>
            </p:spPr>
            <p:txBody>
              <a:bodyPr anchor="ctr" rtlCol="false" tIns="50800" lIns="50800" bIns="50800" rIns="50800"/>
              <a:lstStyle/>
              <a:p>
                <a:pPr algn="l">
                  <a:lnSpc>
                    <a:spcPts val="1679"/>
                  </a:lnSpc>
                </a:pPr>
              </a:p>
            </p:txBody>
          </p:sp>
        </p:grpSp>
      </p:grpSp>
      <p:grpSp>
        <p:nvGrpSpPr>
          <p:cNvPr name="Group 27" id="27"/>
          <p:cNvGrpSpPr/>
          <p:nvPr/>
        </p:nvGrpSpPr>
        <p:grpSpPr>
          <a:xfrm rot="0">
            <a:off x="9810750" y="7191375"/>
            <a:ext cx="7143750" cy="666750"/>
            <a:chOff x="0" y="0"/>
            <a:chExt cx="9525000" cy="889000"/>
          </a:xfrm>
        </p:grpSpPr>
        <p:sp>
          <p:nvSpPr>
            <p:cNvPr name="TextBox 28" id="28"/>
            <p:cNvSpPr txBox="true"/>
            <p:nvPr/>
          </p:nvSpPr>
          <p:spPr>
            <a:xfrm rot="0">
              <a:off x="635000" y="142875"/>
              <a:ext cx="8890000" cy="624205"/>
            </a:xfrm>
            <a:prstGeom prst="rect">
              <a:avLst/>
            </a:prstGeom>
          </p:spPr>
          <p:txBody>
            <a:bodyPr anchor="t" rtlCol="false" tIns="0" lIns="0" bIns="0" rIns="0">
              <a:spAutoFit/>
            </a:bodyPr>
            <a:lstStyle/>
            <a:p>
              <a:pPr algn="l">
                <a:lnSpc>
                  <a:spcPts val="3990"/>
                </a:lnSpc>
              </a:pPr>
              <a:r>
                <a:rPr lang="en-US" sz="2850" b="true">
                  <a:solidFill>
                    <a:srgbClr val="F7F0E4"/>
                  </a:solidFill>
                  <a:latin typeface="Cormorant Garamond Bold"/>
                  <a:ea typeface="Cormorant Garamond Bold"/>
                  <a:cs typeface="Cormorant Garamond Bold"/>
                  <a:sym typeface="Cormorant Garamond Bold"/>
                </a:rPr>
                <a:t>Navigating Difficult Conversations</a:t>
              </a:r>
            </a:p>
          </p:txBody>
        </p:sp>
        <p:grpSp>
          <p:nvGrpSpPr>
            <p:cNvPr name="Group 29" id="29"/>
            <p:cNvGrpSpPr/>
            <p:nvPr/>
          </p:nvGrpSpPr>
          <p:grpSpPr>
            <a:xfrm rot="0">
              <a:off x="0" y="0"/>
              <a:ext cx="101600" cy="889000"/>
              <a:chOff x="0" y="0"/>
              <a:chExt cx="101600" cy="889000"/>
            </a:xfrm>
          </p:grpSpPr>
          <p:sp>
            <p:nvSpPr>
              <p:cNvPr name="Freeform 30" id="30"/>
              <p:cNvSpPr/>
              <p:nvPr/>
            </p:nvSpPr>
            <p:spPr>
              <a:xfrm flipH="false" flipV="false" rot="0">
                <a:off x="0" y="0"/>
                <a:ext cx="101600" cy="889000"/>
              </a:xfrm>
              <a:custGeom>
                <a:avLst/>
                <a:gdLst/>
                <a:ahLst/>
                <a:cxnLst/>
                <a:rect r="r" b="b" t="t" l="l"/>
                <a:pathLst>
                  <a:path h="889000" w="101600">
                    <a:moveTo>
                      <a:pt x="0" y="0"/>
                    </a:moveTo>
                    <a:lnTo>
                      <a:pt x="101600" y="0"/>
                    </a:lnTo>
                    <a:lnTo>
                      <a:pt x="101600" y="889000"/>
                    </a:lnTo>
                    <a:lnTo>
                      <a:pt x="0" y="889000"/>
                    </a:lnTo>
                    <a:close/>
                  </a:path>
                </a:pathLst>
              </a:custGeom>
              <a:solidFill>
                <a:srgbClr val="C59A4A"/>
              </a:solidFill>
              <a:ln cap="sq">
                <a:noFill/>
                <a:prstDash val="solid"/>
                <a:miter/>
              </a:ln>
            </p:spPr>
          </p:sp>
          <p:sp>
            <p:nvSpPr>
              <p:cNvPr name="TextBox 31" id="31"/>
              <p:cNvSpPr txBox="true"/>
              <p:nvPr/>
            </p:nvSpPr>
            <p:spPr>
              <a:xfrm>
                <a:off x="0" y="-38100"/>
                <a:ext cx="101600" cy="927100"/>
              </a:xfrm>
              <a:prstGeom prst="rect">
                <a:avLst/>
              </a:prstGeom>
            </p:spPr>
            <p:txBody>
              <a:bodyPr anchor="ctr" rtlCol="false" tIns="50800" lIns="50800" bIns="50800" rIns="50800"/>
              <a:lstStyle/>
              <a:p>
                <a:pPr algn="l">
                  <a:lnSpc>
                    <a:spcPts val="1679"/>
                  </a:lnSpc>
                </a:pPr>
              </a:p>
            </p:txBody>
          </p:sp>
        </p:grpSp>
      </p:grpSp>
      <p:sp>
        <p:nvSpPr>
          <p:cNvPr name="TextBox 32" id="32"/>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F7F0E4"/>
                </a:solidFill>
                <a:latin typeface="DM Sans Bold"/>
                <a:ea typeface="DM Sans Bold"/>
                <a:cs typeface="DM Sans Bold"/>
                <a:sym typeface="DM Sans Bo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0E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525000" cy="10287000"/>
          </a:xfrm>
          <a:custGeom>
            <a:avLst/>
            <a:gdLst/>
            <a:ahLst/>
            <a:cxnLst/>
            <a:rect r="r" b="b" t="t" l="l"/>
            <a:pathLst>
              <a:path h="10287000" w="9525000">
                <a:moveTo>
                  <a:pt x="0" y="0"/>
                </a:moveTo>
                <a:lnTo>
                  <a:pt x="9525000" y="0"/>
                </a:lnTo>
                <a:lnTo>
                  <a:pt x="9525000" y="10287000"/>
                </a:lnTo>
                <a:lnTo>
                  <a:pt x="0" y="10287000"/>
                </a:lnTo>
                <a:lnTo>
                  <a:pt x="0" y="0"/>
                </a:lnTo>
                <a:close/>
              </a:path>
            </a:pathLst>
          </a:custGeom>
          <a:blipFill>
            <a:blip r:embed="rId3"/>
            <a:stretch>
              <a:fillRect l="-44736" t="0" r="-44736" b="0"/>
            </a:stretch>
          </a:blipFill>
          <a:ln cap="sq">
            <a:noFill/>
            <a:prstDash val="solid"/>
            <a:miter/>
          </a:ln>
        </p:spPr>
      </p:sp>
      <p:sp>
        <p:nvSpPr>
          <p:cNvPr name="TextBox 3" id="3"/>
          <p:cNvSpPr txBox="true"/>
          <p:nvPr/>
        </p:nvSpPr>
        <p:spPr>
          <a:xfrm rot="0">
            <a:off x="10477500" y="790575"/>
            <a:ext cx="57150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AUDIENCES SERVED</a:t>
            </a:r>
          </a:p>
        </p:txBody>
      </p:sp>
      <p:sp>
        <p:nvSpPr>
          <p:cNvPr name="TextBox 4" id="4"/>
          <p:cNvSpPr txBox="true"/>
          <p:nvPr/>
        </p:nvSpPr>
        <p:spPr>
          <a:xfrm rot="0">
            <a:off x="10477500" y="1562100"/>
            <a:ext cx="6667500" cy="1428369"/>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Built for</a:t>
            </a:r>
          </a:p>
          <a:p>
            <a:pPr algn="l">
              <a:lnSpc>
                <a:spcPts val="5508"/>
              </a:lnSpc>
            </a:pPr>
            <a:r>
              <a:rPr lang="en-US" sz="5400" b="true">
                <a:solidFill>
                  <a:srgbClr val="123D33"/>
                </a:solidFill>
                <a:latin typeface="Cormorant Garamond Bold"/>
                <a:ea typeface="Cormorant Garamond Bold"/>
                <a:cs typeface="Cormorant Garamond Bold"/>
                <a:sym typeface="Cormorant Garamond Bold"/>
              </a:rPr>
              <a:t>shared progress.</a:t>
            </a:r>
          </a:p>
        </p:txBody>
      </p:sp>
      <p:sp>
        <p:nvSpPr>
          <p:cNvPr name="TextBox 5" id="5"/>
          <p:cNvSpPr txBox="true"/>
          <p:nvPr/>
        </p:nvSpPr>
        <p:spPr>
          <a:xfrm rot="0">
            <a:off x="10572750" y="4467225"/>
            <a:ext cx="6477000" cy="2825591"/>
          </a:xfrm>
          <a:prstGeom prst="rect">
            <a:avLst/>
          </a:prstGeom>
        </p:spPr>
        <p:txBody>
          <a:bodyPr anchor="t" rtlCol="false" tIns="0" lIns="0" bIns="0" rIns="0">
            <a:spAutoFit/>
          </a:bodyPr>
          <a:lstStyle/>
          <a:p>
            <a:pPr algn="l">
              <a:lnSpc>
                <a:spcPts val="2531"/>
              </a:lnSpc>
            </a:pPr>
            <a:r>
              <a:rPr lang="en-US" sz="2025" b="true">
                <a:solidFill>
                  <a:srgbClr val="17211F"/>
                </a:solidFill>
                <a:latin typeface="DM Sans Bold"/>
                <a:ea typeface="DM Sans Bold"/>
                <a:cs typeface="DM Sans Bold"/>
                <a:sym typeface="DM Sans Bold"/>
              </a:rPr>
              <a:t>Nonprofit Leaders &amp; Healthcare Professionals</a:t>
            </a:r>
          </a:p>
          <a:p>
            <a:pPr algn="l">
              <a:lnSpc>
                <a:spcPts val="2531"/>
              </a:lnSpc>
            </a:pPr>
          </a:p>
          <a:p>
            <a:pPr algn="l">
              <a:lnSpc>
                <a:spcPts val="2531"/>
              </a:lnSpc>
            </a:pPr>
            <a:r>
              <a:rPr lang="en-US" sz="2025" b="true">
                <a:solidFill>
                  <a:srgbClr val="17211F"/>
                </a:solidFill>
                <a:latin typeface="DM Sans Bold"/>
                <a:ea typeface="DM Sans Bold"/>
                <a:cs typeface="DM Sans Bold"/>
                <a:sym typeface="DM Sans Bold"/>
              </a:rPr>
              <a:t>Community Organizations &amp; Advocates</a:t>
            </a:r>
          </a:p>
          <a:p>
            <a:pPr algn="l">
              <a:lnSpc>
                <a:spcPts val="2531"/>
              </a:lnSpc>
            </a:pPr>
          </a:p>
          <a:p>
            <a:pPr algn="l">
              <a:lnSpc>
                <a:spcPts val="2531"/>
              </a:lnSpc>
            </a:pPr>
            <a:r>
              <a:rPr lang="en-US" sz="2025" b="true">
                <a:solidFill>
                  <a:srgbClr val="17211F"/>
                </a:solidFill>
                <a:latin typeface="DM Sans Bold"/>
                <a:ea typeface="DM Sans Bold"/>
                <a:cs typeface="DM Sans Bold"/>
                <a:sym typeface="DM Sans Bold"/>
              </a:rPr>
              <a:t>Educational Institutions &amp; Students</a:t>
            </a:r>
          </a:p>
          <a:p>
            <a:pPr algn="l">
              <a:lnSpc>
                <a:spcPts val="2531"/>
              </a:lnSpc>
            </a:pPr>
          </a:p>
          <a:p>
            <a:pPr algn="l">
              <a:lnSpc>
                <a:spcPts val="2531"/>
              </a:lnSpc>
            </a:pPr>
            <a:r>
              <a:rPr lang="en-US" sz="2025" b="true">
                <a:solidFill>
                  <a:srgbClr val="17211F"/>
                </a:solidFill>
                <a:latin typeface="DM Sans Bold"/>
                <a:ea typeface="DM Sans Bold"/>
                <a:cs typeface="DM Sans Bold"/>
                <a:sym typeface="DM Sans Bold"/>
              </a:rPr>
              <a:t>Government &amp; Policy Makers</a:t>
            </a:r>
          </a:p>
          <a:p>
            <a:pPr algn="l">
              <a:lnSpc>
                <a:spcPts val="2531"/>
              </a:lnSpc>
            </a:pPr>
          </a:p>
          <a:p>
            <a:pPr algn="l">
              <a:lnSpc>
                <a:spcPts val="2531"/>
              </a:lnSpc>
            </a:pPr>
            <a:r>
              <a:rPr lang="en-US" sz="2025" b="true">
                <a:solidFill>
                  <a:srgbClr val="17211F"/>
                </a:solidFill>
                <a:latin typeface="DM Sans Bold"/>
                <a:ea typeface="DM Sans Bold"/>
                <a:cs typeface="DM Sans Bold"/>
                <a:sym typeface="DM Sans Bold"/>
              </a:rPr>
              <a:t>Corporate Social Responsibility Teams</a:t>
            </a:r>
          </a:p>
        </p:txBody>
      </p:sp>
      <p:sp>
        <p:nvSpPr>
          <p:cNvPr name="TextBox 6" id="6"/>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23D33"/>
        </a:solidFill>
      </p:bgPr>
    </p:bg>
    <p:spTree>
      <p:nvGrpSpPr>
        <p:cNvPr id="1" name=""/>
        <p:cNvGrpSpPr/>
        <p:nvPr/>
      </p:nvGrpSpPr>
      <p:grpSpPr>
        <a:xfrm>
          <a:off x="0" y="0"/>
          <a:ext cx="0" cy="0"/>
          <a:chOff x="0" y="0"/>
          <a:chExt cx="0" cy="0"/>
        </a:xfrm>
      </p:grpSpPr>
      <p:grpSp>
        <p:nvGrpSpPr>
          <p:cNvPr name="Group 2" id="2"/>
          <p:cNvGrpSpPr/>
          <p:nvPr/>
        </p:nvGrpSpPr>
        <p:grpSpPr>
          <a:xfrm rot="0">
            <a:off x="13144500" y="0"/>
            <a:ext cx="28575" cy="10287000"/>
            <a:chOff x="0" y="0"/>
            <a:chExt cx="38100" cy="13716000"/>
          </a:xfrm>
        </p:grpSpPr>
        <p:sp>
          <p:nvSpPr>
            <p:cNvPr name="Freeform 3" id="3"/>
            <p:cNvSpPr/>
            <p:nvPr/>
          </p:nvSpPr>
          <p:spPr>
            <a:xfrm flipH="false" flipV="false" rot="0">
              <a:off x="0" y="0"/>
              <a:ext cx="38100" cy="13716000"/>
            </a:xfrm>
            <a:custGeom>
              <a:avLst/>
              <a:gdLst/>
              <a:ahLst/>
              <a:cxnLst/>
              <a:rect r="r" b="b" t="t" l="l"/>
              <a:pathLst>
                <a:path h="13716000" w="38100">
                  <a:moveTo>
                    <a:pt x="0" y="0"/>
                  </a:moveTo>
                  <a:lnTo>
                    <a:pt x="38100" y="0"/>
                  </a:lnTo>
                  <a:lnTo>
                    <a:pt x="38100" y="13716000"/>
                  </a:lnTo>
                  <a:lnTo>
                    <a:pt x="0" y="13716000"/>
                  </a:lnTo>
                  <a:close/>
                </a:path>
              </a:pathLst>
            </a:custGeom>
            <a:solidFill>
              <a:srgbClr val="C59A4A">
                <a:alpha val="29804"/>
              </a:srgbClr>
            </a:solidFill>
            <a:ln cap="sq">
              <a:noFill/>
              <a:prstDash val="solid"/>
              <a:miter/>
            </a:ln>
          </p:spPr>
        </p:sp>
        <p:sp>
          <p:nvSpPr>
            <p:cNvPr name="TextBox 4" id="4"/>
            <p:cNvSpPr txBox="true"/>
            <p:nvPr/>
          </p:nvSpPr>
          <p:spPr>
            <a:xfrm>
              <a:off x="0" y="-38100"/>
              <a:ext cx="381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14478000" y="0"/>
            <a:ext cx="28575" cy="10287000"/>
            <a:chOff x="0" y="0"/>
            <a:chExt cx="38100" cy="13716000"/>
          </a:xfrm>
        </p:grpSpPr>
        <p:sp>
          <p:nvSpPr>
            <p:cNvPr name="Freeform 6" id="6"/>
            <p:cNvSpPr/>
            <p:nvPr/>
          </p:nvSpPr>
          <p:spPr>
            <a:xfrm flipH="false" flipV="false" rot="0">
              <a:off x="0" y="0"/>
              <a:ext cx="38100" cy="13716000"/>
            </a:xfrm>
            <a:custGeom>
              <a:avLst/>
              <a:gdLst/>
              <a:ahLst/>
              <a:cxnLst/>
              <a:rect r="r" b="b" t="t" l="l"/>
              <a:pathLst>
                <a:path h="13716000" w="38100">
                  <a:moveTo>
                    <a:pt x="0" y="0"/>
                  </a:moveTo>
                  <a:lnTo>
                    <a:pt x="38100" y="0"/>
                  </a:lnTo>
                  <a:lnTo>
                    <a:pt x="38100" y="13716000"/>
                  </a:lnTo>
                  <a:lnTo>
                    <a:pt x="0" y="13716000"/>
                  </a:lnTo>
                  <a:close/>
                </a:path>
              </a:pathLst>
            </a:custGeom>
            <a:solidFill>
              <a:srgbClr val="C59A4A">
                <a:alpha val="29804"/>
              </a:srgbClr>
            </a:solidFill>
            <a:ln cap="sq">
              <a:noFill/>
              <a:prstDash val="solid"/>
              <a:miter/>
            </a:ln>
          </p:spPr>
        </p:sp>
        <p:sp>
          <p:nvSpPr>
            <p:cNvPr name="TextBox 7" id="7"/>
            <p:cNvSpPr txBox="true"/>
            <p:nvPr/>
          </p:nvSpPr>
          <p:spPr>
            <a:xfrm>
              <a:off x="0" y="-38100"/>
              <a:ext cx="38100" cy="137541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15811500" y="0"/>
            <a:ext cx="28575" cy="10287000"/>
            <a:chOff x="0" y="0"/>
            <a:chExt cx="38100" cy="13716000"/>
          </a:xfrm>
        </p:grpSpPr>
        <p:sp>
          <p:nvSpPr>
            <p:cNvPr name="Freeform 9" id="9"/>
            <p:cNvSpPr/>
            <p:nvPr/>
          </p:nvSpPr>
          <p:spPr>
            <a:xfrm flipH="false" flipV="false" rot="0">
              <a:off x="0" y="0"/>
              <a:ext cx="38100" cy="13716000"/>
            </a:xfrm>
            <a:custGeom>
              <a:avLst/>
              <a:gdLst/>
              <a:ahLst/>
              <a:cxnLst/>
              <a:rect r="r" b="b" t="t" l="l"/>
              <a:pathLst>
                <a:path h="13716000" w="38100">
                  <a:moveTo>
                    <a:pt x="0" y="0"/>
                  </a:moveTo>
                  <a:lnTo>
                    <a:pt x="38100" y="0"/>
                  </a:lnTo>
                  <a:lnTo>
                    <a:pt x="38100" y="13716000"/>
                  </a:lnTo>
                  <a:lnTo>
                    <a:pt x="0" y="13716000"/>
                  </a:lnTo>
                  <a:close/>
                </a:path>
              </a:pathLst>
            </a:custGeom>
            <a:solidFill>
              <a:srgbClr val="C59A4A">
                <a:alpha val="29804"/>
              </a:srgbClr>
            </a:solidFill>
            <a:ln cap="sq">
              <a:noFill/>
              <a:prstDash val="solid"/>
              <a:miter/>
            </a:ln>
          </p:spPr>
        </p:sp>
        <p:sp>
          <p:nvSpPr>
            <p:cNvPr name="TextBox 10" id="10"/>
            <p:cNvSpPr txBox="true"/>
            <p:nvPr/>
          </p:nvSpPr>
          <p:spPr>
            <a:xfrm>
              <a:off x="0" y="-38100"/>
              <a:ext cx="38100" cy="137541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047750" y="742950"/>
            <a:ext cx="6667500" cy="222885"/>
          </a:xfrm>
          <a:prstGeom prst="rect">
            <a:avLst/>
          </a:prstGeom>
        </p:spPr>
        <p:txBody>
          <a:bodyPr anchor="t" rtlCol="false" tIns="0" lIns="0" bIns="0" rIns="0">
            <a:spAutoFit/>
          </a:bodyPr>
          <a:lstStyle/>
          <a:p>
            <a:pPr algn="l">
              <a:lnSpc>
                <a:spcPts val="1889"/>
              </a:lnSpc>
            </a:pPr>
            <a:r>
              <a:rPr lang="en-US" sz="1350" spc="243" b="true">
                <a:solidFill>
                  <a:srgbClr val="C59A4A"/>
                </a:solidFill>
                <a:latin typeface="DM Sans Bold"/>
                <a:ea typeface="DM Sans Bold"/>
                <a:cs typeface="DM Sans Bold"/>
                <a:sym typeface="DM Sans Bold"/>
              </a:rPr>
              <a:t>SELECTED CAREER HIGHLIGHTS</a:t>
            </a:r>
          </a:p>
        </p:txBody>
      </p:sp>
      <p:sp>
        <p:nvSpPr>
          <p:cNvPr name="TextBox 12" id="12"/>
          <p:cNvSpPr txBox="true"/>
          <p:nvPr/>
        </p:nvSpPr>
        <p:spPr>
          <a:xfrm rot="0">
            <a:off x="1047750" y="1514475"/>
            <a:ext cx="8763000" cy="1428369"/>
          </a:xfrm>
          <a:prstGeom prst="rect">
            <a:avLst/>
          </a:prstGeom>
        </p:spPr>
        <p:txBody>
          <a:bodyPr anchor="t" rtlCol="false" tIns="0" lIns="0" bIns="0" rIns="0">
            <a:spAutoFit/>
          </a:bodyPr>
          <a:lstStyle/>
          <a:p>
            <a:pPr algn="l">
              <a:lnSpc>
                <a:spcPts val="5508"/>
              </a:lnSpc>
            </a:pPr>
            <a:r>
              <a:rPr lang="en-US" sz="5400" b="true">
                <a:solidFill>
                  <a:srgbClr val="F7F0E4"/>
                </a:solidFill>
                <a:latin typeface="Cormorant Garamond Bold"/>
                <a:ea typeface="Cormorant Garamond Bold"/>
                <a:cs typeface="Cormorant Garamond Bold"/>
                <a:sym typeface="Cormorant Garamond Bold"/>
              </a:rPr>
              <a:t>A career built</a:t>
            </a:r>
          </a:p>
          <a:p>
            <a:pPr algn="l">
              <a:lnSpc>
                <a:spcPts val="5508"/>
              </a:lnSpc>
            </a:pPr>
            <a:r>
              <a:rPr lang="en-US" sz="5400" b="true">
                <a:solidFill>
                  <a:srgbClr val="F7F0E4"/>
                </a:solidFill>
                <a:latin typeface="Cormorant Garamond Bold"/>
                <a:ea typeface="Cormorant Garamond Bold"/>
                <a:cs typeface="Cormorant Garamond Bold"/>
                <a:sym typeface="Cormorant Garamond Bold"/>
              </a:rPr>
              <a:t>on public trust.</a:t>
            </a:r>
          </a:p>
        </p:txBody>
      </p:sp>
      <p:sp>
        <p:nvSpPr>
          <p:cNvPr name="AutoShape 13" id="13"/>
          <p:cNvSpPr/>
          <p:nvPr/>
        </p:nvSpPr>
        <p:spPr>
          <a:xfrm>
            <a:off x="2952750" y="4572000"/>
            <a:ext cx="0" cy="4000500"/>
          </a:xfrm>
          <a:prstGeom prst="line">
            <a:avLst/>
          </a:prstGeom>
          <a:ln cap="flat" w="28575">
            <a:solidFill>
              <a:srgbClr val="C59A4A"/>
            </a:solidFill>
            <a:prstDash val="solid"/>
            <a:headEnd type="none" len="sm" w="sm"/>
            <a:tailEnd type="none" len="sm" w="sm"/>
          </a:ln>
        </p:spPr>
      </p:sp>
      <p:grpSp>
        <p:nvGrpSpPr>
          <p:cNvPr name="Group 14" id="14"/>
          <p:cNvGrpSpPr/>
          <p:nvPr/>
        </p:nvGrpSpPr>
        <p:grpSpPr>
          <a:xfrm rot="0">
            <a:off x="2809875" y="4667250"/>
            <a:ext cx="10429875" cy="392430"/>
            <a:chOff x="0" y="0"/>
            <a:chExt cx="13906500" cy="523240"/>
          </a:xfrm>
        </p:grpSpPr>
        <p:grpSp>
          <p:nvGrpSpPr>
            <p:cNvPr name="Group 15" id="15"/>
            <p:cNvGrpSpPr/>
            <p:nvPr/>
          </p:nvGrpSpPr>
          <p:grpSpPr>
            <a:xfrm rot="0">
              <a:off x="0" y="38100"/>
              <a:ext cx="381000" cy="381000"/>
              <a:chOff x="0" y="0"/>
              <a:chExt cx="381000" cy="381000"/>
            </a:xfrm>
          </p:grpSpPr>
          <p:sp>
            <p:nvSpPr>
              <p:cNvPr name="Freeform 16" id="16"/>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close/>
                  </a:path>
                </a:pathLst>
              </a:custGeom>
              <a:solidFill>
                <a:srgbClr val="C65F36"/>
              </a:solidFill>
              <a:ln cap="sq">
                <a:noFill/>
                <a:prstDash val="solid"/>
                <a:miter/>
              </a:ln>
            </p:spPr>
          </p:sp>
          <p:sp>
            <p:nvSpPr>
              <p:cNvPr name="TextBox 17" id="17"/>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2222500" y="28575"/>
              <a:ext cx="11684000" cy="494665"/>
            </a:xfrm>
            <a:prstGeom prst="rect">
              <a:avLst/>
            </a:prstGeom>
          </p:spPr>
          <p:txBody>
            <a:bodyPr anchor="t" rtlCol="false" tIns="0" lIns="0" bIns="0" rIns="0">
              <a:spAutoFit/>
            </a:bodyPr>
            <a:lstStyle/>
            <a:p>
              <a:pPr algn="l">
                <a:lnSpc>
                  <a:spcPts val="2835"/>
                </a:lnSpc>
              </a:pPr>
              <a:r>
                <a:rPr lang="en-US" sz="2625" b="true">
                  <a:solidFill>
                    <a:srgbClr val="F7F0E4"/>
                  </a:solidFill>
                  <a:latin typeface="Cormorant Garamond Bold"/>
                  <a:ea typeface="Cormorant Garamond Bold"/>
                  <a:cs typeface="Cormorant Garamond Bold"/>
                  <a:sym typeface="Cormorant Garamond Bold"/>
                </a:rPr>
                <a:t>Leadership roles across major public health initiatives</a:t>
              </a:r>
            </a:p>
          </p:txBody>
        </p:sp>
      </p:grpSp>
      <p:grpSp>
        <p:nvGrpSpPr>
          <p:cNvPr name="Group 19" id="19"/>
          <p:cNvGrpSpPr/>
          <p:nvPr/>
        </p:nvGrpSpPr>
        <p:grpSpPr>
          <a:xfrm rot="0">
            <a:off x="2809875" y="5810250"/>
            <a:ext cx="10429875" cy="392430"/>
            <a:chOff x="0" y="0"/>
            <a:chExt cx="13906500" cy="523240"/>
          </a:xfrm>
        </p:grpSpPr>
        <p:grpSp>
          <p:nvGrpSpPr>
            <p:cNvPr name="Group 20" id="20"/>
            <p:cNvGrpSpPr/>
            <p:nvPr/>
          </p:nvGrpSpPr>
          <p:grpSpPr>
            <a:xfrm rot="0">
              <a:off x="0" y="38100"/>
              <a:ext cx="381000" cy="381000"/>
              <a:chOff x="0" y="0"/>
              <a:chExt cx="381000" cy="381000"/>
            </a:xfrm>
          </p:grpSpPr>
          <p:sp>
            <p:nvSpPr>
              <p:cNvPr name="Freeform 21" id="2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close/>
                  </a:path>
                </a:pathLst>
              </a:custGeom>
              <a:solidFill>
                <a:srgbClr val="C65F36"/>
              </a:solidFill>
              <a:ln cap="sq">
                <a:noFill/>
                <a:prstDash val="solid"/>
                <a:miter/>
              </a:ln>
            </p:spPr>
          </p:sp>
          <p:sp>
            <p:nvSpPr>
              <p:cNvPr name="TextBox 22" id="22"/>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2222500" y="28575"/>
              <a:ext cx="11684000" cy="494665"/>
            </a:xfrm>
            <a:prstGeom prst="rect">
              <a:avLst/>
            </a:prstGeom>
          </p:spPr>
          <p:txBody>
            <a:bodyPr anchor="t" rtlCol="false" tIns="0" lIns="0" bIns="0" rIns="0">
              <a:spAutoFit/>
            </a:bodyPr>
            <a:lstStyle/>
            <a:p>
              <a:pPr algn="l">
                <a:lnSpc>
                  <a:spcPts val="2835"/>
                </a:lnSpc>
              </a:pPr>
              <a:r>
                <a:rPr lang="en-US" sz="2625" b="true">
                  <a:solidFill>
                    <a:srgbClr val="F7F0E4"/>
                  </a:solidFill>
                  <a:latin typeface="Cormorant Garamond Bold"/>
                  <a:ea typeface="Cormorant Garamond Bold"/>
                  <a:cs typeface="Cormorant Garamond Bold"/>
                  <a:sym typeface="Cormorant Garamond Bold"/>
                </a:rPr>
                <a:t>Recognition for service and community impact</a:t>
              </a:r>
            </a:p>
          </p:txBody>
        </p:sp>
      </p:grpSp>
      <p:grpSp>
        <p:nvGrpSpPr>
          <p:cNvPr name="Group 24" id="24"/>
          <p:cNvGrpSpPr/>
          <p:nvPr/>
        </p:nvGrpSpPr>
        <p:grpSpPr>
          <a:xfrm rot="0">
            <a:off x="2809875" y="6953250"/>
            <a:ext cx="10429875" cy="392430"/>
            <a:chOff x="0" y="0"/>
            <a:chExt cx="13906500" cy="523240"/>
          </a:xfrm>
        </p:grpSpPr>
        <p:grpSp>
          <p:nvGrpSpPr>
            <p:cNvPr name="Group 25" id="25"/>
            <p:cNvGrpSpPr/>
            <p:nvPr/>
          </p:nvGrpSpPr>
          <p:grpSpPr>
            <a:xfrm rot="0">
              <a:off x="0" y="38100"/>
              <a:ext cx="381000" cy="381000"/>
              <a:chOff x="0" y="0"/>
              <a:chExt cx="381000" cy="381000"/>
            </a:xfrm>
          </p:grpSpPr>
          <p:sp>
            <p:nvSpPr>
              <p:cNvPr name="Freeform 26" id="26"/>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close/>
                  </a:path>
                </a:pathLst>
              </a:custGeom>
              <a:solidFill>
                <a:srgbClr val="C65F36"/>
              </a:solidFill>
              <a:ln cap="sq">
                <a:noFill/>
                <a:prstDash val="solid"/>
                <a:miter/>
              </a:ln>
            </p:spPr>
          </p:sp>
          <p:sp>
            <p:nvSpPr>
              <p:cNvPr name="TextBox 27" id="27"/>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2222500" y="28575"/>
              <a:ext cx="11684000" cy="494665"/>
            </a:xfrm>
            <a:prstGeom prst="rect">
              <a:avLst/>
            </a:prstGeom>
          </p:spPr>
          <p:txBody>
            <a:bodyPr anchor="t" rtlCol="false" tIns="0" lIns="0" bIns="0" rIns="0">
              <a:spAutoFit/>
            </a:bodyPr>
            <a:lstStyle/>
            <a:p>
              <a:pPr algn="l">
                <a:lnSpc>
                  <a:spcPts val="2835"/>
                </a:lnSpc>
              </a:pPr>
              <a:r>
                <a:rPr lang="en-US" sz="2625" b="true">
                  <a:solidFill>
                    <a:srgbClr val="F7F0E4"/>
                  </a:solidFill>
                  <a:latin typeface="Cormorant Garamond Bold"/>
                  <a:ea typeface="Cormorant Garamond Bold"/>
                  <a:cs typeface="Cormorant Garamond Bold"/>
                  <a:sym typeface="Cormorant Garamond Bold"/>
                </a:rPr>
                <a:t>Signature prevention programs launched</a:t>
              </a:r>
            </a:p>
          </p:txBody>
        </p:sp>
      </p:grpSp>
      <p:grpSp>
        <p:nvGrpSpPr>
          <p:cNvPr name="Group 29" id="29"/>
          <p:cNvGrpSpPr/>
          <p:nvPr/>
        </p:nvGrpSpPr>
        <p:grpSpPr>
          <a:xfrm rot="0">
            <a:off x="2809875" y="8096250"/>
            <a:ext cx="10429875" cy="392430"/>
            <a:chOff x="0" y="0"/>
            <a:chExt cx="13906500" cy="523240"/>
          </a:xfrm>
        </p:grpSpPr>
        <p:grpSp>
          <p:nvGrpSpPr>
            <p:cNvPr name="Group 30" id="30"/>
            <p:cNvGrpSpPr/>
            <p:nvPr/>
          </p:nvGrpSpPr>
          <p:grpSpPr>
            <a:xfrm rot="0">
              <a:off x="0" y="38100"/>
              <a:ext cx="381000" cy="381000"/>
              <a:chOff x="0" y="0"/>
              <a:chExt cx="381000" cy="381000"/>
            </a:xfrm>
          </p:grpSpPr>
          <p:sp>
            <p:nvSpPr>
              <p:cNvPr name="Freeform 31" id="3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close/>
                  </a:path>
                </a:pathLst>
              </a:custGeom>
              <a:solidFill>
                <a:srgbClr val="C65F36"/>
              </a:solidFill>
              <a:ln cap="sq">
                <a:noFill/>
                <a:prstDash val="solid"/>
                <a:miter/>
              </a:ln>
            </p:spPr>
          </p:sp>
          <p:sp>
            <p:nvSpPr>
              <p:cNvPr name="TextBox 32" id="32"/>
              <p:cNvSpPr txBox="true"/>
              <p:nvPr/>
            </p:nvSpPr>
            <p:spPr>
              <a:xfrm>
                <a:off x="0" y="-38100"/>
                <a:ext cx="381000" cy="419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2222500" y="28575"/>
              <a:ext cx="11684000" cy="494665"/>
            </a:xfrm>
            <a:prstGeom prst="rect">
              <a:avLst/>
            </a:prstGeom>
          </p:spPr>
          <p:txBody>
            <a:bodyPr anchor="t" rtlCol="false" tIns="0" lIns="0" bIns="0" rIns="0">
              <a:spAutoFit/>
            </a:bodyPr>
            <a:lstStyle/>
            <a:p>
              <a:pPr algn="l">
                <a:lnSpc>
                  <a:spcPts val="2835"/>
                </a:lnSpc>
              </a:pPr>
              <a:r>
                <a:rPr lang="en-US" sz="2625" b="true">
                  <a:solidFill>
                    <a:srgbClr val="F7F0E4"/>
                  </a:solidFill>
                  <a:latin typeface="Cormorant Garamond Bold"/>
                  <a:ea typeface="Cormorant Garamond Bold"/>
                  <a:cs typeface="Cormorant Garamond Bold"/>
                  <a:sym typeface="Cormorant Garamond Bold"/>
                </a:rPr>
                <a:t>Media appearances and keynote conversations</a:t>
              </a:r>
            </a:p>
          </p:txBody>
        </p:sp>
      </p:grpSp>
      <p:sp>
        <p:nvSpPr>
          <p:cNvPr name="TextBox 34" id="34"/>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F7F0E4"/>
                </a:solidFill>
                <a:latin typeface="DM Sans Bold"/>
                <a:ea typeface="DM Sans Bold"/>
                <a:cs typeface="DM Sans Bold"/>
                <a:sym typeface="DM Sans Bold"/>
              </a:rPr>
              <a:t>07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7F0E4"/>
        </a:solidFill>
      </p:bgPr>
    </p:bg>
    <p:spTree>
      <p:nvGrpSpPr>
        <p:cNvPr id="1" name=""/>
        <p:cNvGrpSpPr/>
        <p:nvPr/>
      </p:nvGrpSpPr>
      <p:grpSpPr>
        <a:xfrm>
          <a:off x="0" y="0"/>
          <a:ext cx="0" cy="0"/>
          <a:chOff x="0" y="0"/>
          <a:chExt cx="0" cy="0"/>
        </a:xfrm>
      </p:grpSpPr>
      <p:sp>
        <p:nvSpPr>
          <p:cNvPr name="TextBox 2" id="2"/>
          <p:cNvSpPr txBox="true"/>
          <p:nvPr/>
        </p:nvSpPr>
        <p:spPr>
          <a:xfrm rot="0">
            <a:off x="1047750" y="695325"/>
            <a:ext cx="28575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SERVICES</a:t>
            </a:r>
          </a:p>
        </p:txBody>
      </p:sp>
      <p:sp>
        <p:nvSpPr>
          <p:cNvPr name="TextBox 3" id="3"/>
          <p:cNvSpPr txBox="true"/>
          <p:nvPr/>
        </p:nvSpPr>
        <p:spPr>
          <a:xfrm rot="0">
            <a:off x="1047750" y="1466850"/>
            <a:ext cx="7143750" cy="1428369"/>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Ways to work</a:t>
            </a:r>
          </a:p>
          <a:p>
            <a:pPr algn="l">
              <a:lnSpc>
                <a:spcPts val="5508"/>
              </a:lnSpc>
            </a:pPr>
            <a:r>
              <a:rPr lang="en-US" sz="5400" b="true">
                <a:solidFill>
                  <a:srgbClr val="123D33"/>
                </a:solidFill>
                <a:latin typeface="Cormorant Garamond Bold"/>
                <a:ea typeface="Cormorant Garamond Bold"/>
                <a:cs typeface="Cormorant Garamond Bold"/>
                <a:sym typeface="Cormorant Garamond Bold"/>
              </a:rPr>
              <a:t>together.</a:t>
            </a:r>
          </a:p>
        </p:txBody>
      </p:sp>
      <p:grpSp>
        <p:nvGrpSpPr>
          <p:cNvPr name="Group 4" id="4"/>
          <p:cNvGrpSpPr/>
          <p:nvPr/>
        </p:nvGrpSpPr>
        <p:grpSpPr>
          <a:xfrm rot="0">
            <a:off x="-762000" y="5715000"/>
            <a:ext cx="6477000" cy="3143250"/>
            <a:chOff x="0" y="0"/>
            <a:chExt cx="8636000" cy="4191000"/>
          </a:xfrm>
        </p:grpSpPr>
        <p:sp>
          <p:nvSpPr>
            <p:cNvPr name="Freeform 5" id="5"/>
            <p:cNvSpPr/>
            <p:nvPr/>
          </p:nvSpPr>
          <p:spPr>
            <a:xfrm flipH="false" flipV="false" rot="0">
              <a:off x="0" y="0"/>
              <a:ext cx="8636000" cy="4191000"/>
            </a:xfrm>
            <a:custGeom>
              <a:avLst/>
              <a:gdLst/>
              <a:ahLst/>
              <a:cxnLst/>
              <a:rect r="r" b="b" t="t" l="l"/>
              <a:pathLst>
                <a:path h="4191000" w="8636000">
                  <a:moveTo>
                    <a:pt x="0" y="0"/>
                  </a:moveTo>
                  <a:lnTo>
                    <a:pt x="8636000" y="0"/>
                  </a:lnTo>
                  <a:lnTo>
                    <a:pt x="8636000" y="4191000"/>
                  </a:lnTo>
                  <a:lnTo>
                    <a:pt x="0" y="4191000"/>
                  </a:lnTo>
                  <a:close/>
                </a:path>
              </a:pathLst>
            </a:custGeom>
            <a:solidFill>
              <a:srgbClr val="C65F36">
                <a:alpha val="17647"/>
              </a:srgbClr>
            </a:solidFill>
            <a:ln cap="sq">
              <a:noFill/>
              <a:prstDash val="solid"/>
              <a:miter/>
            </a:ln>
          </p:spPr>
        </p:sp>
        <p:sp>
          <p:nvSpPr>
            <p:cNvPr name="TextBox 6" id="6"/>
            <p:cNvSpPr txBox="true"/>
            <p:nvPr/>
          </p:nvSpPr>
          <p:spPr>
            <a:xfrm>
              <a:off x="0" y="-38100"/>
              <a:ext cx="8636000" cy="4229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8667750" y="1619250"/>
            <a:ext cx="3714750" cy="2952750"/>
            <a:chOff x="0" y="0"/>
            <a:chExt cx="4953000" cy="3937000"/>
          </a:xfrm>
        </p:grpSpPr>
        <p:grpSp>
          <p:nvGrpSpPr>
            <p:cNvPr name="Group 8" id="8"/>
            <p:cNvGrpSpPr/>
            <p:nvPr/>
          </p:nvGrpSpPr>
          <p:grpSpPr>
            <a:xfrm rot="0">
              <a:off x="0" y="0"/>
              <a:ext cx="4953000" cy="3937000"/>
              <a:chOff x="0" y="0"/>
              <a:chExt cx="4953000" cy="3937000"/>
            </a:xfrm>
          </p:grpSpPr>
          <p:sp>
            <p:nvSpPr>
              <p:cNvPr name="Freeform 9" id="9"/>
              <p:cNvSpPr/>
              <p:nvPr/>
            </p:nvSpPr>
            <p:spPr>
              <a:xfrm flipH="false" flipV="false" rot="0">
                <a:off x="0" y="0"/>
                <a:ext cx="4953000" cy="3937000"/>
              </a:xfrm>
              <a:custGeom>
                <a:avLst/>
                <a:gdLst/>
                <a:ahLst/>
                <a:cxnLst/>
                <a:rect r="r" b="b" t="t" l="l"/>
                <a:pathLst>
                  <a:path h="3937000" w="4953000">
                    <a:moveTo>
                      <a:pt x="0" y="0"/>
                    </a:moveTo>
                    <a:lnTo>
                      <a:pt x="4953000" y="0"/>
                    </a:lnTo>
                    <a:lnTo>
                      <a:pt x="4953000" y="3937000"/>
                    </a:lnTo>
                    <a:lnTo>
                      <a:pt x="0" y="3937000"/>
                    </a:lnTo>
                    <a:close/>
                  </a:path>
                </a:pathLst>
              </a:custGeom>
              <a:solidFill>
                <a:srgbClr val="FFFFFF"/>
              </a:solidFill>
              <a:ln cap="sq">
                <a:noFill/>
                <a:prstDash val="solid"/>
                <a:miter/>
              </a:ln>
            </p:spPr>
          </p:sp>
          <p:sp>
            <p:nvSpPr>
              <p:cNvPr name="TextBox 10" id="10"/>
              <p:cNvSpPr txBox="true"/>
              <p:nvPr/>
            </p:nvSpPr>
            <p:spPr>
              <a:xfrm>
                <a:off x="0" y="-38100"/>
                <a:ext cx="4953000" cy="39751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0" y="0"/>
              <a:ext cx="4953000" cy="63500"/>
              <a:chOff x="0" y="0"/>
              <a:chExt cx="4953000" cy="63500"/>
            </a:xfrm>
          </p:grpSpPr>
          <p:sp>
            <p:nvSpPr>
              <p:cNvPr name="Freeform 12" id="12"/>
              <p:cNvSpPr/>
              <p:nvPr/>
            </p:nvSpPr>
            <p:spPr>
              <a:xfrm flipH="false" flipV="false" rot="0">
                <a:off x="0" y="0"/>
                <a:ext cx="4953000" cy="63500"/>
              </a:xfrm>
              <a:custGeom>
                <a:avLst/>
                <a:gdLst/>
                <a:ahLst/>
                <a:cxnLst/>
                <a:rect r="r" b="b" t="t" l="l"/>
                <a:pathLst>
                  <a:path h="63500" w="4953000">
                    <a:moveTo>
                      <a:pt x="0" y="0"/>
                    </a:moveTo>
                    <a:lnTo>
                      <a:pt x="4953000" y="0"/>
                    </a:lnTo>
                    <a:lnTo>
                      <a:pt x="4953000" y="63500"/>
                    </a:lnTo>
                    <a:lnTo>
                      <a:pt x="0" y="63500"/>
                    </a:lnTo>
                    <a:close/>
                  </a:path>
                </a:pathLst>
              </a:custGeom>
              <a:solidFill>
                <a:srgbClr val="C59A4A"/>
              </a:solidFill>
              <a:ln cap="sq">
                <a:noFill/>
                <a:prstDash val="solid"/>
                <a:miter/>
              </a:ln>
            </p:spPr>
          </p:sp>
          <p:sp>
            <p:nvSpPr>
              <p:cNvPr name="TextBox 13" id="13"/>
              <p:cNvSpPr txBox="true"/>
              <p:nvPr/>
            </p:nvSpPr>
            <p:spPr>
              <a:xfrm>
                <a:off x="0" y="-38100"/>
                <a:ext cx="4953000" cy="1016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508000" y="609600"/>
              <a:ext cx="4445000" cy="915670"/>
            </a:xfrm>
            <a:prstGeom prst="rect">
              <a:avLst/>
            </a:prstGeom>
          </p:spPr>
          <p:txBody>
            <a:bodyPr anchor="t" rtlCol="false" tIns="0" lIns="0" bIns="0" rIns="0">
              <a:spAutoFit/>
            </a:bodyPr>
            <a:lstStyle/>
            <a:p>
              <a:pPr algn="l">
                <a:lnSpc>
                  <a:spcPts val="2677"/>
                </a:lnSpc>
              </a:pPr>
              <a:r>
                <a:rPr lang="en-US" sz="2550" b="true">
                  <a:solidFill>
                    <a:srgbClr val="123D33"/>
                  </a:solidFill>
                  <a:latin typeface="Cormorant Garamond Bold"/>
                  <a:ea typeface="Cormorant Garamond Bold"/>
                  <a:cs typeface="Cormorant Garamond Bold"/>
                  <a:sym typeface="Cormorant Garamond Bold"/>
                </a:rPr>
                <a:t>Keynote Speaking &amp; Panel Moderation</a:t>
              </a:r>
            </a:p>
          </p:txBody>
        </p:sp>
        <p:sp>
          <p:nvSpPr>
            <p:cNvPr name="TextBox 15" id="15"/>
            <p:cNvSpPr txBox="true"/>
            <p:nvPr/>
          </p:nvSpPr>
          <p:spPr>
            <a:xfrm rot="0">
              <a:off x="508000" y="1949450"/>
              <a:ext cx="4318000" cy="1156335"/>
            </a:xfrm>
            <a:prstGeom prst="rect">
              <a:avLst/>
            </a:prstGeom>
          </p:spPr>
          <p:txBody>
            <a:bodyPr anchor="t" rtlCol="false" tIns="0" lIns="0" bIns="0" rIns="0">
              <a:spAutoFit/>
            </a:bodyPr>
            <a:lstStyle/>
            <a:p>
              <a:pPr algn="l">
                <a:lnSpc>
                  <a:spcPts val="2328"/>
                </a:lnSpc>
              </a:pPr>
              <a:r>
                <a:rPr lang="en-US" sz="1725">
                  <a:solidFill>
                    <a:srgbClr val="17211F"/>
                  </a:solidFill>
                  <a:latin typeface="DM Sans"/>
                  <a:ea typeface="DM Sans"/>
                  <a:cs typeface="DM Sans"/>
                  <a:sym typeface="DM Sans"/>
                </a:rPr>
                <a:t>Clear, memorable conversations that move a room.</a:t>
              </a:r>
            </a:p>
          </p:txBody>
        </p:sp>
      </p:grpSp>
      <p:grpSp>
        <p:nvGrpSpPr>
          <p:cNvPr name="Group 16" id="16"/>
          <p:cNvGrpSpPr/>
          <p:nvPr/>
        </p:nvGrpSpPr>
        <p:grpSpPr>
          <a:xfrm rot="0">
            <a:off x="12763500" y="1619250"/>
            <a:ext cx="3714750" cy="2952750"/>
            <a:chOff x="0" y="0"/>
            <a:chExt cx="4953000" cy="3937000"/>
          </a:xfrm>
        </p:grpSpPr>
        <p:grpSp>
          <p:nvGrpSpPr>
            <p:cNvPr name="Group 17" id="17"/>
            <p:cNvGrpSpPr/>
            <p:nvPr/>
          </p:nvGrpSpPr>
          <p:grpSpPr>
            <a:xfrm rot="0">
              <a:off x="0" y="0"/>
              <a:ext cx="4953000" cy="3937000"/>
              <a:chOff x="0" y="0"/>
              <a:chExt cx="4953000" cy="3937000"/>
            </a:xfrm>
          </p:grpSpPr>
          <p:sp>
            <p:nvSpPr>
              <p:cNvPr name="Freeform 18" id="18"/>
              <p:cNvSpPr/>
              <p:nvPr/>
            </p:nvSpPr>
            <p:spPr>
              <a:xfrm flipH="false" flipV="false" rot="0">
                <a:off x="0" y="0"/>
                <a:ext cx="4953000" cy="3937000"/>
              </a:xfrm>
              <a:custGeom>
                <a:avLst/>
                <a:gdLst/>
                <a:ahLst/>
                <a:cxnLst/>
                <a:rect r="r" b="b" t="t" l="l"/>
                <a:pathLst>
                  <a:path h="3937000" w="4953000">
                    <a:moveTo>
                      <a:pt x="0" y="0"/>
                    </a:moveTo>
                    <a:lnTo>
                      <a:pt x="4953000" y="0"/>
                    </a:lnTo>
                    <a:lnTo>
                      <a:pt x="4953000" y="3937000"/>
                    </a:lnTo>
                    <a:lnTo>
                      <a:pt x="0" y="3937000"/>
                    </a:lnTo>
                    <a:close/>
                  </a:path>
                </a:pathLst>
              </a:custGeom>
              <a:solidFill>
                <a:srgbClr val="F7F0E4"/>
              </a:solidFill>
              <a:ln cap="sq">
                <a:noFill/>
                <a:prstDash val="solid"/>
                <a:miter/>
              </a:ln>
            </p:spPr>
          </p:sp>
          <p:sp>
            <p:nvSpPr>
              <p:cNvPr name="TextBox 19" id="19"/>
              <p:cNvSpPr txBox="true"/>
              <p:nvPr/>
            </p:nvSpPr>
            <p:spPr>
              <a:xfrm>
                <a:off x="0" y="-38100"/>
                <a:ext cx="4953000" cy="3975100"/>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0" y="0"/>
              <a:ext cx="4953000" cy="63500"/>
              <a:chOff x="0" y="0"/>
              <a:chExt cx="4953000" cy="63500"/>
            </a:xfrm>
          </p:grpSpPr>
          <p:sp>
            <p:nvSpPr>
              <p:cNvPr name="Freeform 21" id="21"/>
              <p:cNvSpPr/>
              <p:nvPr/>
            </p:nvSpPr>
            <p:spPr>
              <a:xfrm flipH="false" flipV="false" rot="0">
                <a:off x="0" y="0"/>
                <a:ext cx="4953000" cy="63500"/>
              </a:xfrm>
              <a:custGeom>
                <a:avLst/>
                <a:gdLst/>
                <a:ahLst/>
                <a:cxnLst/>
                <a:rect r="r" b="b" t="t" l="l"/>
                <a:pathLst>
                  <a:path h="63500" w="4953000">
                    <a:moveTo>
                      <a:pt x="0" y="0"/>
                    </a:moveTo>
                    <a:lnTo>
                      <a:pt x="4953000" y="0"/>
                    </a:lnTo>
                    <a:lnTo>
                      <a:pt x="4953000" y="63500"/>
                    </a:lnTo>
                    <a:lnTo>
                      <a:pt x="0" y="63500"/>
                    </a:lnTo>
                    <a:close/>
                  </a:path>
                </a:pathLst>
              </a:custGeom>
              <a:solidFill>
                <a:srgbClr val="C59A4A"/>
              </a:solidFill>
              <a:ln cap="sq">
                <a:noFill/>
                <a:prstDash val="solid"/>
                <a:miter/>
              </a:ln>
            </p:spPr>
          </p:sp>
          <p:sp>
            <p:nvSpPr>
              <p:cNvPr name="TextBox 22" id="22"/>
              <p:cNvSpPr txBox="true"/>
              <p:nvPr/>
            </p:nvSpPr>
            <p:spPr>
              <a:xfrm>
                <a:off x="0" y="-38100"/>
                <a:ext cx="4953000" cy="1016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508000" y="609600"/>
              <a:ext cx="4445000" cy="915670"/>
            </a:xfrm>
            <a:prstGeom prst="rect">
              <a:avLst/>
            </a:prstGeom>
          </p:spPr>
          <p:txBody>
            <a:bodyPr anchor="t" rtlCol="false" tIns="0" lIns="0" bIns="0" rIns="0">
              <a:spAutoFit/>
            </a:bodyPr>
            <a:lstStyle/>
            <a:p>
              <a:pPr algn="l">
                <a:lnSpc>
                  <a:spcPts val="2677"/>
                </a:lnSpc>
              </a:pPr>
              <a:r>
                <a:rPr lang="en-US" sz="2550" b="true">
                  <a:solidFill>
                    <a:srgbClr val="123D33"/>
                  </a:solidFill>
                  <a:latin typeface="Cormorant Garamond Bold"/>
                  <a:ea typeface="Cormorant Garamond Bold"/>
                  <a:cs typeface="Cormorant Garamond Bold"/>
                  <a:sym typeface="Cormorant Garamond Bold"/>
                </a:rPr>
                <a:t>Strategic Consulting &amp; Training</a:t>
              </a:r>
            </a:p>
          </p:txBody>
        </p:sp>
        <p:sp>
          <p:nvSpPr>
            <p:cNvPr name="TextBox 24" id="24"/>
            <p:cNvSpPr txBox="true"/>
            <p:nvPr/>
          </p:nvSpPr>
          <p:spPr>
            <a:xfrm rot="0">
              <a:off x="508000" y="1949450"/>
              <a:ext cx="4318000" cy="762635"/>
            </a:xfrm>
            <a:prstGeom prst="rect">
              <a:avLst/>
            </a:prstGeom>
          </p:spPr>
          <p:txBody>
            <a:bodyPr anchor="t" rtlCol="false" tIns="0" lIns="0" bIns="0" rIns="0">
              <a:spAutoFit/>
            </a:bodyPr>
            <a:lstStyle/>
            <a:p>
              <a:pPr algn="l">
                <a:lnSpc>
                  <a:spcPts val="2328"/>
                </a:lnSpc>
              </a:pPr>
              <a:r>
                <a:rPr lang="en-US" sz="1725">
                  <a:solidFill>
                    <a:srgbClr val="17211F"/>
                  </a:solidFill>
                  <a:latin typeface="DM Sans"/>
                  <a:ea typeface="DM Sans"/>
                  <a:cs typeface="DM Sans"/>
                  <a:sym typeface="DM Sans"/>
                </a:rPr>
                <a:t>Practical guidance for leaders navigating complexity.</a:t>
              </a:r>
            </a:p>
          </p:txBody>
        </p:sp>
      </p:grpSp>
      <p:grpSp>
        <p:nvGrpSpPr>
          <p:cNvPr name="Group 25" id="25"/>
          <p:cNvGrpSpPr/>
          <p:nvPr/>
        </p:nvGrpSpPr>
        <p:grpSpPr>
          <a:xfrm rot="0">
            <a:off x="8667750" y="5143500"/>
            <a:ext cx="3714750" cy="2952750"/>
            <a:chOff x="0" y="0"/>
            <a:chExt cx="4953000" cy="3937000"/>
          </a:xfrm>
        </p:grpSpPr>
        <p:grpSp>
          <p:nvGrpSpPr>
            <p:cNvPr name="Group 26" id="26"/>
            <p:cNvGrpSpPr/>
            <p:nvPr/>
          </p:nvGrpSpPr>
          <p:grpSpPr>
            <a:xfrm rot="0">
              <a:off x="0" y="0"/>
              <a:ext cx="4953000" cy="3937000"/>
              <a:chOff x="0" y="0"/>
              <a:chExt cx="4953000" cy="3937000"/>
            </a:xfrm>
          </p:grpSpPr>
          <p:sp>
            <p:nvSpPr>
              <p:cNvPr name="Freeform 27" id="27"/>
              <p:cNvSpPr/>
              <p:nvPr/>
            </p:nvSpPr>
            <p:spPr>
              <a:xfrm flipH="false" flipV="false" rot="0">
                <a:off x="0" y="0"/>
                <a:ext cx="4953000" cy="3937000"/>
              </a:xfrm>
              <a:custGeom>
                <a:avLst/>
                <a:gdLst/>
                <a:ahLst/>
                <a:cxnLst/>
                <a:rect r="r" b="b" t="t" l="l"/>
                <a:pathLst>
                  <a:path h="3937000" w="4953000">
                    <a:moveTo>
                      <a:pt x="0" y="0"/>
                    </a:moveTo>
                    <a:lnTo>
                      <a:pt x="4953000" y="0"/>
                    </a:lnTo>
                    <a:lnTo>
                      <a:pt x="4953000" y="3937000"/>
                    </a:lnTo>
                    <a:lnTo>
                      <a:pt x="0" y="3937000"/>
                    </a:lnTo>
                    <a:close/>
                  </a:path>
                </a:pathLst>
              </a:custGeom>
              <a:solidFill>
                <a:srgbClr val="FFFFFF"/>
              </a:solidFill>
              <a:ln cap="sq">
                <a:noFill/>
                <a:prstDash val="solid"/>
                <a:miter/>
              </a:ln>
            </p:spPr>
          </p:sp>
          <p:sp>
            <p:nvSpPr>
              <p:cNvPr name="TextBox 28" id="28"/>
              <p:cNvSpPr txBox="true"/>
              <p:nvPr/>
            </p:nvSpPr>
            <p:spPr>
              <a:xfrm>
                <a:off x="0" y="-38100"/>
                <a:ext cx="4953000" cy="39751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0" y="0"/>
              <a:ext cx="4953000" cy="63500"/>
              <a:chOff x="0" y="0"/>
              <a:chExt cx="4953000" cy="63500"/>
            </a:xfrm>
          </p:grpSpPr>
          <p:sp>
            <p:nvSpPr>
              <p:cNvPr name="Freeform 30" id="30"/>
              <p:cNvSpPr/>
              <p:nvPr/>
            </p:nvSpPr>
            <p:spPr>
              <a:xfrm flipH="false" flipV="false" rot="0">
                <a:off x="0" y="0"/>
                <a:ext cx="4953000" cy="63500"/>
              </a:xfrm>
              <a:custGeom>
                <a:avLst/>
                <a:gdLst/>
                <a:ahLst/>
                <a:cxnLst/>
                <a:rect r="r" b="b" t="t" l="l"/>
                <a:pathLst>
                  <a:path h="63500" w="4953000">
                    <a:moveTo>
                      <a:pt x="0" y="0"/>
                    </a:moveTo>
                    <a:lnTo>
                      <a:pt x="4953000" y="0"/>
                    </a:lnTo>
                    <a:lnTo>
                      <a:pt x="4953000" y="63500"/>
                    </a:lnTo>
                    <a:lnTo>
                      <a:pt x="0" y="63500"/>
                    </a:lnTo>
                    <a:close/>
                  </a:path>
                </a:pathLst>
              </a:custGeom>
              <a:solidFill>
                <a:srgbClr val="C59A4A"/>
              </a:solidFill>
              <a:ln cap="sq">
                <a:noFill/>
                <a:prstDash val="solid"/>
                <a:miter/>
              </a:ln>
            </p:spPr>
          </p:sp>
          <p:sp>
            <p:nvSpPr>
              <p:cNvPr name="TextBox 31" id="31"/>
              <p:cNvSpPr txBox="true"/>
              <p:nvPr/>
            </p:nvSpPr>
            <p:spPr>
              <a:xfrm>
                <a:off x="0" y="-38100"/>
                <a:ext cx="4953000" cy="1016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508000" y="609600"/>
              <a:ext cx="4445000" cy="915670"/>
            </a:xfrm>
            <a:prstGeom prst="rect">
              <a:avLst/>
            </a:prstGeom>
          </p:spPr>
          <p:txBody>
            <a:bodyPr anchor="t" rtlCol="false" tIns="0" lIns="0" bIns="0" rIns="0">
              <a:spAutoFit/>
            </a:bodyPr>
            <a:lstStyle/>
            <a:p>
              <a:pPr algn="l">
                <a:lnSpc>
                  <a:spcPts val="2677"/>
                </a:lnSpc>
              </a:pPr>
              <a:r>
                <a:rPr lang="en-US" sz="2550" b="true">
                  <a:solidFill>
                    <a:srgbClr val="123D33"/>
                  </a:solidFill>
                  <a:latin typeface="Cormorant Garamond Bold"/>
                  <a:ea typeface="Cormorant Garamond Bold"/>
                  <a:cs typeface="Cormorant Garamond Bold"/>
                  <a:sym typeface="Cormorant Garamond Bold"/>
                </a:rPr>
                <a:t>Media &amp; Public Relations Support</a:t>
              </a:r>
            </a:p>
          </p:txBody>
        </p:sp>
        <p:sp>
          <p:nvSpPr>
            <p:cNvPr name="TextBox 33" id="33"/>
            <p:cNvSpPr txBox="true"/>
            <p:nvPr/>
          </p:nvSpPr>
          <p:spPr>
            <a:xfrm rot="0">
              <a:off x="508000" y="1949450"/>
              <a:ext cx="4318000" cy="762635"/>
            </a:xfrm>
            <a:prstGeom prst="rect">
              <a:avLst/>
            </a:prstGeom>
          </p:spPr>
          <p:txBody>
            <a:bodyPr anchor="t" rtlCol="false" tIns="0" lIns="0" bIns="0" rIns="0">
              <a:spAutoFit/>
            </a:bodyPr>
            <a:lstStyle/>
            <a:p>
              <a:pPr algn="l">
                <a:lnSpc>
                  <a:spcPts val="2328"/>
                </a:lnSpc>
              </a:pPr>
              <a:r>
                <a:rPr lang="en-US" sz="1725">
                  <a:solidFill>
                    <a:srgbClr val="17211F"/>
                  </a:solidFill>
                  <a:latin typeface="DM Sans"/>
                  <a:ea typeface="DM Sans"/>
                  <a:cs typeface="DM Sans"/>
                  <a:sym typeface="DM Sans"/>
                </a:rPr>
                <a:t>Credible messaging grounded in community insight.</a:t>
              </a:r>
            </a:p>
          </p:txBody>
        </p:sp>
      </p:grpSp>
      <p:grpSp>
        <p:nvGrpSpPr>
          <p:cNvPr name="Group 34" id="34"/>
          <p:cNvGrpSpPr/>
          <p:nvPr/>
        </p:nvGrpSpPr>
        <p:grpSpPr>
          <a:xfrm rot="0">
            <a:off x="12763500" y="5143500"/>
            <a:ext cx="3714750" cy="2952750"/>
            <a:chOff x="0" y="0"/>
            <a:chExt cx="4953000" cy="3937000"/>
          </a:xfrm>
        </p:grpSpPr>
        <p:grpSp>
          <p:nvGrpSpPr>
            <p:cNvPr name="Group 35" id="35"/>
            <p:cNvGrpSpPr/>
            <p:nvPr/>
          </p:nvGrpSpPr>
          <p:grpSpPr>
            <a:xfrm rot="0">
              <a:off x="0" y="0"/>
              <a:ext cx="4953000" cy="3937000"/>
              <a:chOff x="0" y="0"/>
              <a:chExt cx="4953000" cy="3937000"/>
            </a:xfrm>
          </p:grpSpPr>
          <p:sp>
            <p:nvSpPr>
              <p:cNvPr name="Freeform 36" id="36"/>
              <p:cNvSpPr/>
              <p:nvPr/>
            </p:nvSpPr>
            <p:spPr>
              <a:xfrm flipH="false" flipV="false" rot="0">
                <a:off x="0" y="0"/>
                <a:ext cx="4953000" cy="3937000"/>
              </a:xfrm>
              <a:custGeom>
                <a:avLst/>
                <a:gdLst/>
                <a:ahLst/>
                <a:cxnLst/>
                <a:rect r="r" b="b" t="t" l="l"/>
                <a:pathLst>
                  <a:path h="3937000" w="4953000">
                    <a:moveTo>
                      <a:pt x="0" y="0"/>
                    </a:moveTo>
                    <a:lnTo>
                      <a:pt x="4953000" y="0"/>
                    </a:lnTo>
                    <a:lnTo>
                      <a:pt x="4953000" y="3937000"/>
                    </a:lnTo>
                    <a:lnTo>
                      <a:pt x="0" y="3937000"/>
                    </a:lnTo>
                    <a:close/>
                  </a:path>
                </a:pathLst>
              </a:custGeom>
              <a:solidFill>
                <a:srgbClr val="F7F0E4"/>
              </a:solidFill>
              <a:ln cap="sq">
                <a:noFill/>
                <a:prstDash val="solid"/>
                <a:miter/>
              </a:ln>
            </p:spPr>
          </p:sp>
          <p:sp>
            <p:nvSpPr>
              <p:cNvPr name="TextBox 37" id="37"/>
              <p:cNvSpPr txBox="true"/>
              <p:nvPr/>
            </p:nvSpPr>
            <p:spPr>
              <a:xfrm>
                <a:off x="0" y="-38100"/>
                <a:ext cx="4953000" cy="39751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0" y="0"/>
              <a:ext cx="4953000" cy="63500"/>
              <a:chOff x="0" y="0"/>
              <a:chExt cx="4953000" cy="63500"/>
            </a:xfrm>
          </p:grpSpPr>
          <p:sp>
            <p:nvSpPr>
              <p:cNvPr name="Freeform 39" id="39"/>
              <p:cNvSpPr/>
              <p:nvPr/>
            </p:nvSpPr>
            <p:spPr>
              <a:xfrm flipH="false" flipV="false" rot="0">
                <a:off x="0" y="0"/>
                <a:ext cx="4953000" cy="63500"/>
              </a:xfrm>
              <a:custGeom>
                <a:avLst/>
                <a:gdLst/>
                <a:ahLst/>
                <a:cxnLst/>
                <a:rect r="r" b="b" t="t" l="l"/>
                <a:pathLst>
                  <a:path h="63500" w="4953000">
                    <a:moveTo>
                      <a:pt x="0" y="0"/>
                    </a:moveTo>
                    <a:lnTo>
                      <a:pt x="4953000" y="0"/>
                    </a:lnTo>
                    <a:lnTo>
                      <a:pt x="4953000" y="63500"/>
                    </a:lnTo>
                    <a:lnTo>
                      <a:pt x="0" y="63500"/>
                    </a:lnTo>
                    <a:close/>
                  </a:path>
                </a:pathLst>
              </a:custGeom>
              <a:solidFill>
                <a:srgbClr val="C59A4A"/>
              </a:solidFill>
              <a:ln cap="sq">
                <a:noFill/>
                <a:prstDash val="solid"/>
                <a:miter/>
              </a:ln>
            </p:spPr>
          </p:sp>
          <p:sp>
            <p:nvSpPr>
              <p:cNvPr name="TextBox 40" id="40"/>
              <p:cNvSpPr txBox="true"/>
              <p:nvPr/>
            </p:nvSpPr>
            <p:spPr>
              <a:xfrm>
                <a:off x="0" y="-38100"/>
                <a:ext cx="4953000" cy="1016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508000" y="609600"/>
              <a:ext cx="4445000" cy="915670"/>
            </a:xfrm>
            <a:prstGeom prst="rect">
              <a:avLst/>
            </a:prstGeom>
          </p:spPr>
          <p:txBody>
            <a:bodyPr anchor="t" rtlCol="false" tIns="0" lIns="0" bIns="0" rIns="0">
              <a:spAutoFit/>
            </a:bodyPr>
            <a:lstStyle/>
            <a:p>
              <a:pPr algn="l">
                <a:lnSpc>
                  <a:spcPts val="2677"/>
                </a:lnSpc>
              </a:pPr>
              <a:r>
                <a:rPr lang="en-US" sz="2550" b="true">
                  <a:solidFill>
                    <a:srgbClr val="123D33"/>
                  </a:solidFill>
                  <a:latin typeface="Cormorant Garamond Bold"/>
                  <a:ea typeface="Cormorant Garamond Bold"/>
                  <a:cs typeface="Cormorant Garamond Bold"/>
                  <a:sym typeface="Cormorant Garamond Bold"/>
                </a:rPr>
                <a:t>Community Outreach Program Design</a:t>
              </a:r>
            </a:p>
          </p:txBody>
        </p:sp>
        <p:sp>
          <p:nvSpPr>
            <p:cNvPr name="TextBox 42" id="42"/>
            <p:cNvSpPr txBox="true"/>
            <p:nvPr/>
          </p:nvSpPr>
          <p:spPr>
            <a:xfrm rot="0">
              <a:off x="508000" y="1949450"/>
              <a:ext cx="4318000" cy="762635"/>
            </a:xfrm>
            <a:prstGeom prst="rect">
              <a:avLst/>
            </a:prstGeom>
          </p:spPr>
          <p:txBody>
            <a:bodyPr anchor="t" rtlCol="false" tIns="0" lIns="0" bIns="0" rIns="0">
              <a:spAutoFit/>
            </a:bodyPr>
            <a:lstStyle/>
            <a:p>
              <a:pPr algn="l">
                <a:lnSpc>
                  <a:spcPts val="2328"/>
                </a:lnSpc>
              </a:pPr>
              <a:r>
                <a:rPr lang="en-US" sz="1725">
                  <a:solidFill>
                    <a:srgbClr val="17211F"/>
                  </a:solidFill>
                  <a:latin typeface="DM Sans"/>
                  <a:ea typeface="DM Sans"/>
                  <a:cs typeface="DM Sans"/>
                  <a:sym typeface="DM Sans"/>
                </a:rPr>
                <a:t>Human-centered programs built for participation.</a:t>
              </a:r>
            </a:p>
          </p:txBody>
        </p:sp>
      </p:grpSp>
      <p:sp>
        <p:nvSpPr>
          <p:cNvPr name="TextBox 43" id="43"/>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7F0E4"/>
        </a:solidFill>
      </p:bgPr>
    </p:bg>
    <p:spTree>
      <p:nvGrpSpPr>
        <p:cNvPr id="1" name=""/>
        <p:cNvGrpSpPr/>
        <p:nvPr/>
      </p:nvGrpSpPr>
      <p:grpSpPr>
        <a:xfrm>
          <a:off x="0" y="0"/>
          <a:ext cx="0" cy="0"/>
          <a:chOff x="0" y="0"/>
          <a:chExt cx="0" cy="0"/>
        </a:xfrm>
      </p:grpSpPr>
      <p:sp>
        <p:nvSpPr>
          <p:cNvPr name="TextBox 2" id="2"/>
          <p:cNvSpPr txBox="true"/>
          <p:nvPr/>
        </p:nvSpPr>
        <p:spPr>
          <a:xfrm rot="0">
            <a:off x="1047750" y="742950"/>
            <a:ext cx="76200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EVENTS &amp; STRATEGIC PARTNERSHIPS</a:t>
            </a:r>
          </a:p>
        </p:txBody>
      </p:sp>
      <p:sp>
        <p:nvSpPr>
          <p:cNvPr name="TextBox 3" id="3"/>
          <p:cNvSpPr txBox="true"/>
          <p:nvPr/>
        </p:nvSpPr>
        <p:spPr>
          <a:xfrm rot="0">
            <a:off x="1047750" y="1514475"/>
            <a:ext cx="11906250" cy="1428369"/>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High-impact presence.</a:t>
            </a:r>
          </a:p>
          <a:p>
            <a:pPr algn="l">
              <a:lnSpc>
                <a:spcPts val="5508"/>
              </a:lnSpc>
            </a:pPr>
            <a:r>
              <a:rPr lang="en-US" sz="5400" b="true">
                <a:solidFill>
                  <a:srgbClr val="123D33"/>
                </a:solidFill>
                <a:latin typeface="Cormorant Garamond Bold"/>
                <a:ea typeface="Cormorant Garamond Bold"/>
                <a:cs typeface="Cormorant Garamond Bold"/>
                <a:sym typeface="Cormorant Garamond Bold"/>
              </a:rPr>
              <a:t>Purposeful partnership.</a:t>
            </a:r>
          </a:p>
        </p:txBody>
      </p:sp>
      <p:sp>
        <p:nvSpPr>
          <p:cNvPr name="TextBox 4" id="4"/>
          <p:cNvSpPr txBox="true"/>
          <p:nvPr/>
        </p:nvSpPr>
        <p:spPr>
          <a:xfrm rot="0">
            <a:off x="1095375" y="4143375"/>
            <a:ext cx="7810500" cy="1097756"/>
          </a:xfrm>
          <a:prstGeom prst="rect">
            <a:avLst/>
          </a:prstGeom>
        </p:spPr>
        <p:txBody>
          <a:bodyPr anchor="t" rtlCol="false" tIns="0" lIns="0" bIns="0" rIns="0">
            <a:spAutoFit/>
          </a:bodyPr>
          <a:lstStyle/>
          <a:p>
            <a:pPr algn="l">
              <a:lnSpc>
                <a:spcPts val="2936"/>
              </a:lnSpc>
            </a:pPr>
            <a:r>
              <a:rPr lang="en-US" sz="2025">
                <a:solidFill>
                  <a:srgbClr val="17211F"/>
                </a:solidFill>
                <a:latin typeface="DM Sans"/>
                <a:ea typeface="DM Sans"/>
                <a:cs typeface="DM Sans"/>
                <a:sym typeface="DM Sans"/>
              </a:rPr>
              <a:t>Tiffany brings a community-first lens to conferences, nonprofit convenings, institutional programs, and cross-sector collaborations—helping partners turn visibility into lasting value.</a:t>
            </a:r>
          </a:p>
        </p:txBody>
      </p:sp>
      <p:grpSp>
        <p:nvGrpSpPr>
          <p:cNvPr name="Group 5" id="5"/>
          <p:cNvGrpSpPr/>
          <p:nvPr/>
        </p:nvGrpSpPr>
        <p:grpSpPr>
          <a:xfrm rot="0">
            <a:off x="1047750" y="6477000"/>
            <a:ext cx="4286250" cy="1619250"/>
            <a:chOff x="0" y="0"/>
            <a:chExt cx="5715000" cy="2159000"/>
          </a:xfrm>
        </p:grpSpPr>
        <p:grpSp>
          <p:nvGrpSpPr>
            <p:cNvPr name="Group 6" id="6"/>
            <p:cNvGrpSpPr/>
            <p:nvPr/>
          </p:nvGrpSpPr>
          <p:grpSpPr>
            <a:xfrm rot="0">
              <a:off x="0" y="0"/>
              <a:ext cx="5715000" cy="2159000"/>
              <a:chOff x="0" y="0"/>
              <a:chExt cx="5715000" cy="2159000"/>
            </a:xfrm>
          </p:grpSpPr>
          <p:sp>
            <p:nvSpPr>
              <p:cNvPr name="Freeform 7" id="7"/>
              <p:cNvSpPr/>
              <p:nvPr/>
            </p:nvSpPr>
            <p:spPr>
              <a:xfrm flipH="false" flipV="false" rot="0">
                <a:off x="0" y="0"/>
                <a:ext cx="5715000" cy="2159000"/>
              </a:xfrm>
              <a:custGeom>
                <a:avLst/>
                <a:gdLst/>
                <a:ahLst/>
                <a:cxnLst/>
                <a:rect r="r" b="b" t="t" l="l"/>
                <a:pathLst>
                  <a:path h="2159000" w="5715000">
                    <a:moveTo>
                      <a:pt x="0" y="0"/>
                    </a:moveTo>
                    <a:lnTo>
                      <a:pt x="5715000" y="0"/>
                    </a:lnTo>
                    <a:lnTo>
                      <a:pt x="5715000" y="2159000"/>
                    </a:lnTo>
                    <a:lnTo>
                      <a:pt x="0" y="2159000"/>
                    </a:lnTo>
                    <a:close/>
                  </a:path>
                </a:pathLst>
              </a:custGeom>
              <a:solidFill>
                <a:srgbClr val="FFFFFF"/>
              </a:solidFill>
              <a:ln cap="sq">
                <a:noFill/>
                <a:prstDash val="solid"/>
                <a:miter/>
              </a:ln>
            </p:spPr>
          </p:sp>
          <p:sp>
            <p:nvSpPr>
              <p:cNvPr name="TextBox 8" id="8"/>
              <p:cNvSpPr txBox="true"/>
              <p:nvPr/>
            </p:nvSpPr>
            <p:spPr>
              <a:xfrm>
                <a:off x="0" y="-38100"/>
                <a:ext cx="5715000" cy="2197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889000" y="615950"/>
              <a:ext cx="3810000" cy="290830"/>
            </a:xfrm>
            <a:prstGeom prst="rect">
              <a:avLst/>
            </a:prstGeom>
          </p:spPr>
          <p:txBody>
            <a:bodyPr anchor="t" rtlCol="false" tIns="0" lIns="0" bIns="0" rIns="0">
              <a:spAutoFit/>
            </a:bodyPr>
            <a:lstStyle/>
            <a:p>
              <a:pPr algn="l">
                <a:lnSpc>
                  <a:spcPts val="1889"/>
                </a:lnSpc>
              </a:pPr>
              <a:r>
                <a:rPr lang="en-US" sz="1350" spc="243" b="true">
                  <a:solidFill>
                    <a:srgbClr val="123D33"/>
                  </a:solidFill>
                  <a:latin typeface="DM Sans Bold"/>
                  <a:ea typeface="DM Sans Bold"/>
                  <a:cs typeface="DM Sans Bold"/>
                  <a:sym typeface="DM Sans Bold"/>
                </a:rPr>
                <a:t>CONFERENCES</a:t>
              </a:r>
            </a:p>
          </p:txBody>
        </p:sp>
        <p:grpSp>
          <p:nvGrpSpPr>
            <p:cNvPr name="Group 10" id="10"/>
            <p:cNvGrpSpPr/>
            <p:nvPr/>
          </p:nvGrpSpPr>
          <p:grpSpPr>
            <a:xfrm rot="0">
              <a:off x="0" y="0"/>
              <a:ext cx="5715000" cy="63500"/>
              <a:chOff x="0" y="0"/>
              <a:chExt cx="5715000" cy="63500"/>
            </a:xfrm>
          </p:grpSpPr>
          <p:sp>
            <p:nvSpPr>
              <p:cNvPr name="Freeform 11" id="11"/>
              <p:cNvSpPr/>
              <p:nvPr/>
            </p:nvSpPr>
            <p:spPr>
              <a:xfrm flipH="false" flipV="false" rot="0">
                <a:off x="0" y="0"/>
                <a:ext cx="5715000" cy="63500"/>
              </a:xfrm>
              <a:custGeom>
                <a:avLst/>
                <a:gdLst/>
                <a:ahLst/>
                <a:cxnLst/>
                <a:rect r="r" b="b" t="t" l="l"/>
                <a:pathLst>
                  <a:path h="63500" w="5715000">
                    <a:moveTo>
                      <a:pt x="0" y="0"/>
                    </a:moveTo>
                    <a:lnTo>
                      <a:pt x="5715000" y="0"/>
                    </a:lnTo>
                    <a:lnTo>
                      <a:pt x="5715000" y="63500"/>
                    </a:lnTo>
                    <a:lnTo>
                      <a:pt x="0" y="63500"/>
                    </a:lnTo>
                    <a:close/>
                  </a:path>
                </a:pathLst>
              </a:custGeom>
              <a:solidFill>
                <a:srgbClr val="C59A4A"/>
              </a:solidFill>
              <a:ln cap="sq">
                <a:noFill/>
                <a:prstDash val="solid"/>
                <a:miter/>
              </a:ln>
            </p:spPr>
          </p:sp>
          <p:sp>
            <p:nvSpPr>
              <p:cNvPr name="TextBox 12" id="12"/>
              <p:cNvSpPr txBox="true"/>
              <p:nvPr/>
            </p:nvSpPr>
            <p:spPr>
              <a:xfrm>
                <a:off x="0" y="-38100"/>
                <a:ext cx="5715000" cy="101600"/>
              </a:xfrm>
              <a:prstGeom prst="rect">
                <a:avLst/>
              </a:prstGeom>
            </p:spPr>
            <p:txBody>
              <a:bodyPr anchor="ctr" rtlCol="false" tIns="50800" lIns="50800" bIns="50800" rIns="50800"/>
              <a:lstStyle/>
              <a:p>
                <a:pPr algn="l">
                  <a:lnSpc>
                    <a:spcPts val="1679"/>
                  </a:lnSpc>
                </a:pPr>
              </a:p>
            </p:txBody>
          </p:sp>
        </p:grpSp>
      </p:grpSp>
      <p:grpSp>
        <p:nvGrpSpPr>
          <p:cNvPr name="Group 13" id="13"/>
          <p:cNvGrpSpPr/>
          <p:nvPr/>
        </p:nvGrpSpPr>
        <p:grpSpPr>
          <a:xfrm rot="0">
            <a:off x="6000750" y="6477000"/>
            <a:ext cx="4286250" cy="1619250"/>
            <a:chOff x="0" y="0"/>
            <a:chExt cx="5715000" cy="2159000"/>
          </a:xfrm>
        </p:grpSpPr>
        <p:grpSp>
          <p:nvGrpSpPr>
            <p:cNvPr name="Group 14" id="14"/>
            <p:cNvGrpSpPr/>
            <p:nvPr/>
          </p:nvGrpSpPr>
          <p:grpSpPr>
            <a:xfrm rot="0">
              <a:off x="0" y="0"/>
              <a:ext cx="5715000" cy="2159000"/>
              <a:chOff x="0" y="0"/>
              <a:chExt cx="5715000" cy="2159000"/>
            </a:xfrm>
          </p:grpSpPr>
          <p:sp>
            <p:nvSpPr>
              <p:cNvPr name="Freeform 15" id="15"/>
              <p:cNvSpPr/>
              <p:nvPr/>
            </p:nvSpPr>
            <p:spPr>
              <a:xfrm flipH="false" flipV="false" rot="0">
                <a:off x="0" y="0"/>
                <a:ext cx="5715000" cy="2159000"/>
              </a:xfrm>
              <a:custGeom>
                <a:avLst/>
                <a:gdLst/>
                <a:ahLst/>
                <a:cxnLst/>
                <a:rect r="r" b="b" t="t" l="l"/>
                <a:pathLst>
                  <a:path h="2159000" w="5715000">
                    <a:moveTo>
                      <a:pt x="0" y="0"/>
                    </a:moveTo>
                    <a:lnTo>
                      <a:pt x="5715000" y="0"/>
                    </a:lnTo>
                    <a:lnTo>
                      <a:pt x="5715000" y="2159000"/>
                    </a:lnTo>
                    <a:lnTo>
                      <a:pt x="0" y="2159000"/>
                    </a:lnTo>
                    <a:close/>
                  </a:path>
                </a:pathLst>
              </a:custGeom>
              <a:solidFill>
                <a:srgbClr val="123D33"/>
              </a:solidFill>
              <a:ln cap="sq">
                <a:noFill/>
                <a:prstDash val="solid"/>
                <a:miter/>
              </a:ln>
            </p:spPr>
          </p:sp>
          <p:sp>
            <p:nvSpPr>
              <p:cNvPr name="TextBox 16" id="16"/>
              <p:cNvSpPr txBox="true"/>
              <p:nvPr/>
            </p:nvSpPr>
            <p:spPr>
              <a:xfrm>
                <a:off x="0" y="-38100"/>
                <a:ext cx="5715000" cy="2197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889000" y="615950"/>
              <a:ext cx="3810000" cy="290830"/>
            </a:xfrm>
            <a:prstGeom prst="rect">
              <a:avLst/>
            </a:prstGeom>
          </p:spPr>
          <p:txBody>
            <a:bodyPr anchor="t" rtlCol="false" tIns="0" lIns="0" bIns="0" rIns="0">
              <a:spAutoFit/>
            </a:bodyPr>
            <a:lstStyle/>
            <a:p>
              <a:pPr algn="l">
                <a:lnSpc>
                  <a:spcPts val="1889"/>
                </a:lnSpc>
              </a:pPr>
              <a:r>
                <a:rPr lang="en-US" sz="1350" spc="243" b="true">
                  <a:solidFill>
                    <a:srgbClr val="123D33"/>
                  </a:solidFill>
                  <a:latin typeface="DM Sans Bold"/>
                  <a:ea typeface="DM Sans Bold"/>
                  <a:cs typeface="DM Sans Bold"/>
                  <a:sym typeface="DM Sans Bold"/>
                </a:rPr>
                <a:t>NONPROFITS</a:t>
              </a:r>
            </a:p>
          </p:txBody>
        </p:sp>
        <p:grpSp>
          <p:nvGrpSpPr>
            <p:cNvPr name="Group 18" id="18"/>
            <p:cNvGrpSpPr/>
            <p:nvPr/>
          </p:nvGrpSpPr>
          <p:grpSpPr>
            <a:xfrm rot="0">
              <a:off x="0" y="0"/>
              <a:ext cx="5715000" cy="63500"/>
              <a:chOff x="0" y="0"/>
              <a:chExt cx="5715000" cy="63500"/>
            </a:xfrm>
          </p:grpSpPr>
          <p:sp>
            <p:nvSpPr>
              <p:cNvPr name="Freeform 19" id="19"/>
              <p:cNvSpPr/>
              <p:nvPr/>
            </p:nvSpPr>
            <p:spPr>
              <a:xfrm flipH="false" flipV="false" rot="0">
                <a:off x="0" y="0"/>
                <a:ext cx="5715000" cy="63500"/>
              </a:xfrm>
              <a:custGeom>
                <a:avLst/>
                <a:gdLst/>
                <a:ahLst/>
                <a:cxnLst/>
                <a:rect r="r" b="b" t="t" l="l"/>
                <a:pathLst>
                  <a:path h="63500" w="5715000">
                    <a:moveTo>
                      <a:pt x="0" y="0"/>
                    </a:moveTo>
                    <a:lnTo>
                      <a:pt x="5715000" y="0"/>
                    </a:lnTo>
                    <a:lnTo>
                      <a:pt x="5715000" y="63500"/>
                    </a:lnTo>
                    <a:lnTo>
                      <a:pt x="0" y="63500"/>
                    </a:lnTo>
                    <a:close/>
                  </a:path>
                </a:pathLst>
              </a:custGeom>
              <a:solidFill>
                <a:srgbClr val="C59A4A"/>
              </a:solidFill>
              <a:ln cap="sq">
                <a:noFill/>
                <a:prstDash val="solid"/>
                <a:miter/>
              </a:ln>
            </p:spPr>
          </p:sp>
          <p:sp>
            <p:nvSpPr>
              <p:cNvPr name="TextBox 20" id="20"/>
              <p:cNvSpPr txBox="true"/>
              <p:nvPr/>
            </p:nvSpPr>
            <p:spPr>
              <a:xfrm>
                <a:off x="0" y="-38100"/>
                <a:ext cx="5715000" cy="101600"/>
              </a:xfrm>
              <a:prstGeom prst="rect">
                <a:avLst/>
              </a:prstGeom>
            </p:spPr>
            <p:txBody>
              <a:bodyPr anchor="ctr" rtlCol="false" tIns="50800" lIns="50800" bIns="50800" rIns="50800"/>
              <a:lstStyle/>
              <a:p>
                <a:pPr algn="l">
                  <a:lnSpc>
                    <a:spcPts val="1679"/>
                  </a:lnSpc>
                </a:pPr>
              </a:p>
            </p:txBody>
          </p:sp>
        </p:grpSp>
      </p:grpSp>
      <p:grpSp>
        <p:nvGrpSpPr>
          <p:cNvPr name="Group 21" id="21"/>
          <p:cNvGrpSpPr/>
          <p:nvPr/>
        </p:nvGrpSpPr>
        <p:grpSpPr>
          <a:xfrm rot="0">
            <a:off x="10953750" y="6477000"/>
            <a:ext cx="4476750" cy="1619250"/>
            <a:chOff x="0" y="0"/>
            <a:chExt cx="5969000" cy="2159000"/>
          </a:xfrm>
        </p:grpSpPr>
        <p:grpSp>
          <p:nvGrpSpPr>
            <p:cNvPr name="Group 22" id="22"/>
            <p:cNvGrpSpPr/>
            <p:nvPr/>
          </p:nvGrpSpPr>
          <p:grpSpPr>
            <a:xfrm rot="0">
              <a:off x="0" y="0"/>
              <a:ext cx="5715000" cy="2159000"/>
              <a:chOff x="0" y="0"/>
              <a:chExt cx="5715000" cy="2159000"/>
            </a:xfrm>
          </p:grpSpPr>
          <p:sp>
            <p:nvSpPr>
              <p:cNvPr name="Freeform 23" id="23"/>
              <p:cNvSpPr/>
              <p:nvPr/>
            </p:nvSpPr>
            <p:spPr>
              <a:xfrm flipH="false" flipV="false" rot="0">
                <a:off x="0" y="0"/>
                <a:ext cx="5715000" cy="2159000"/>
              </a:xfrm>
              <a:custGeom>
                <a:avLst/>
                <a:gdLst/>
                <a:ahLst/>
                <a:cxnLst/>
                <a:rect r="r" b="b" t="t" l="l"/>
                <a:pathLst>
                  <a:path h="2159000" w="5715000">
                    <a:moveTo>
                      <a:pt x="0" y="0"/>
                    </a:moveTo>
                    <a:lnTo>
                      <a:pt x="5715000" y="0"/>
                    </a:lnTo>
                    <a:lnTo>
                      <a:pt x="5715000" y="2159000"/>
                    </a:lnTo>
                    <a:lnTo>
                      <a:pt x="0" y="2159000"/>
                    </a:lnTo>
                    <a:close/>
                  </a:path>
                </a:pathLst>
              </a:custGeom>
              <a:solidFill>
                <a:srgbClr val="FFFFFF"/>
              </a:solidFill>
              <a:ln cap="sq">
                <a:noFill/>
                <a:prstDash val="solid"/>
                <a:miter/>
              </a:ln>
            </p:spPr>
          </p:sp>
          <p:sp>
            <p:nvSpPr>
              <p:cNvPr name="TextBox 24" id="24"/>
              <p:cNvSpPr txBox="true"/>
              <p:nvPr/>
            </p:nvSpPr>
            <p:spPr>
              <a:xfrm>
                <a:off x="0" y="-38100"/>
                <a:ext cx="5715000" cy="2197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889000" y="615950"/>
              <a:ext cx="5080000" cy="290830"/>
            </a:xfrm>
            <a:prstGeom prst="rect">
              <a:avLst/>
            </a:prstGeom>
          </p:spPr>
          <p:txBody>
            <a:bodyPr anchor="t" rtlCol="false" tIns="0" lIns="0" bIns="0" rIns="0">
              <a:spAutoFit/>
            </a:bodyPr>
            <a:lstStyle/>
            <a:p>
              <a:pPr algn="l">
                <a:lnSpc>
                  <a:spcPts val="1889"/>
                </a:lnSpc>
              </a:pPr>
              <a:r>
                <a:rPr lang="en-US" sz="1350" spc="243" b="true">
                  <a:solidFill>
                    <a:srgbClr val="123D33"/>
                  </a:solidFill>
                  <a:latin typeface="DM Sans Bold"/>
                  <a:ea typeface="DM Sans Bold"/>
                  <a:cs typeface="DM Sans Bold"/>
                  <a:sym typeface="DM Sans Bold"/>
                </a:rPr>
                <a:t>PUBLIC INSTITUTIONS</a:t>
              </a:r>
            </a:p>
          </p:txBody>
        </p:sp>
        <p:grpSp>
          <p:nvGrpSpPr>
            <p:cNvPr name="Group 26" id="26"/>
            <p:cNvGrpSpPr/>
            <p:nvPr/>
          </p:nvGrpSpPr>
          <p:grpSpPr>
            <a:xfrm rot="0">
              <a:off x="0" y="0"/>
              <a:ext cx="5715000" cy="63500"/>
              <a:chOff x="0" y="0"/>
              <a:chExt cx="5715000" cy="63500"/>
            </a:xfrm>
          </p:grpSpPr>
          <p:sp>
            <p:nvSpPr>
              <p:cNvPr name="Freeform 27" id="27"/>
              <p:cNvSpPr/>
              <p:nvPr/>
            </p:nvSpPr>
            <p:spPr>
              <a:xfrm flipH="false" flipV="false" rot="0">
                <a:off x="0" y="0"/>
                <a:ext cx="5715000" cy="63500"/>
              </a:xfrm>
              <a:custGeom>
                <a:avLst/>
                <a:gdLst/>
                <a:ahLst/>
                <a:cxnLst/>
                <a:rect r="r" b="b" t="t" l="l"/>
                <a:pathLst>
                  <a:path h="63500" w="5715000">
                    <a:moveTo>
                      <a:pt x="0" y="0"/>
                    </a:moveTo>
                    <a:lnTo>
                      <a:pt x="5715000" y="0"/>
                    </a:lnTo>
                    <a:lnTo>
                      <a:pt x="5715000" y="63500"/>
                    </a:lnTo>
                    <a:lnTo>
                      <a:pt x="0" y="63500"/>
                    </a:lnTo>
                    <a:close/>
                  </a:path>
                </a:pathLst>
              </a:custGeom>
              <a:solidFill>
                <a:srgbClr val="C59A4A"/>
              </a:solidFill>
              <a:ln cap="sq">
                <a:noFill/>
                <a:prstDash val="solid"/>
                <a:miter/>
              </a:ln>
            </p:spPr>
          </p:sp>
          <p:sp>
            <p:nvSpPr>
              <p:cNvPr name="TextBox 28" id="28"/>
              <p:cNvSpPr txBox="true"/>
              <p:nvPr/>
            </p:nvSpPr>
            <p:spPr>
              <a:xfrm>
                <a:off x="0" y="-38100"/>
                <a:ext cx="5715000" cy="101600"/>
              </a:xfrm>
              <a:prstGeom prst="rect">
                <a:avLst/>
              </a:prstGeom>
            </p:spPr>
            <p:txBody>
              <a:bodyPr anchor="ctr" rtlCol="false" tIns="50800" lIns="50800" bIns="50800" rIns="50800"/>
              <a:lstStyle/>
              <a:p>
                <a:pPr algn="l">
                  <a:lnSpc>
                    <a:spcPts val="1679"/>
                  </a:lnSpc>
                </a:pPr>
              </a:p>
            </p:txBody>
          </p:sp>
        </p:grpSp>
      </p:grpSp>
      <p:sp>
        <p:nvSpPr>
          <p:cNvPr name="TextBox 29" id="29"/>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09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7F0E4"/>
        </a:solidFill>
      </p:bgPr>
    </p:bg>
    <p:spTree>
      <p:nvGrpSpPr>
        <p:cNvPr id="1" name=""/>
        <p:cNvGrpSpPr/>
        <p:nvPr/>
      </p:nvGrpSpPr>
      <p:grpSpPr>
        <a:xfrm>
          <a:off x="0" y="0"/>
          <a:ext cx="0" cy="0"/>
          <a:chOff x="0" y="0"/>
          <a:chExt cx="0" cy="0"/>
        </a:xfrm>
      </p:grpSpPr>
      <p:sp>
        <p:nvSpPr>
          <p:cNvPr name="TextBox 2" id="2"/>
          <p:cNvSpPr txBox="true"/>
          <p:nvPr/>
        </p:nvSpPr>
        <p:spPr>
          <a:xfrm rot="0">
            <a:off x="1047750" y="742950"/>
            <a:ext cx="85725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WHY ORGANIZATIONS CHOOSE TIFFANY</a:t>
            </a:r>
          </a:p>
        </p:txBody>
      </p:sp>
      <p:sp>
        <p:nvSpPr>
          <p:cNvPr name="TextBox 3" id="3"/>
          <p:cNvSpPr txBox="true"/>
          <p:nvPr/>
        </p:nvSpPr>
        <p:spPr>
          <a:xfrm rot="0">
            <a:off x="1047750" y="1562100"/>
            <a:ext cx="12858750" cy="733044"/>
          </a:xfrm>
          <a:prstGeom prst="rect">
            <a:avLst/>
          </a:prstGeom>
        </p:spPr>
        <p:txBody>
          <a:bodyPr anchor="t" rtlCol="false" tIns="0" lIns="0" bIns="0" rIns="0">
            <a:spAutoFit/>
          </a:bodyPr>
          <a:lstStyle/>
          <a:p>
            <a:pPr algn="l">
              <a:lnSpc>
                <a:spcPts val="5508"/>
              </a:lnSpc>
            </a:pPr>
            <a:r>
              <a:rPr lang="en-US" sz="5400" b="true">
                <a:solidFill>
                  <a:srgbClr val="123D33"/>
                </a:solidFill>
                <a:latin typeface="Cormorant Garamond Bold"/>
                <a:ea typeface="Cormorant Garamond Bold"/>
                <a:cs typeface="Cormorant Garamond Bold"/>
                <a:sym typeface="Cormorant Garamond Bold"/>
              </a:rPr>
              <a:t>Credibility you can feel.</a:t>
            </a:r>
          </a:p>
        </p:txBody>
      </p:sp>
      <p:grpSp>
        <p:nvGrpSpPr>
          <p:cNvPr name="Group 4" id="4"/>
          <p:cNvGrpSpPr/>
          <p:nvPr/>
        </p:nvGrpSpPr>
        <p:grpSpPr>
          <a:xfrm rot="0">
            <a:off x="857250" y="4095750"/>
            <a:ext cx="3714750" cy="3333750"/>
            <a:chOff x="0" y="0"/>
            <a:chExt cx="4953000" cy="4445000"/>
          </a:xfrm>
        </p:grpSpPr>
        <p:grpSp>
          <p:nvGrpSpPr>
            <p:cNvPr name="Group 5" id="5"/>
            <p:cNvGrpSpPr/>
            <p:nvPr/>
          </p:nvGrpSpPr>
          <p:grpSpPr>
            <a:xfrm rot="0">
              <a:off x="0" y="0"/>
              <a:ext cx="4953000" cy="4445000"/>
              <a:chOff x="0" y="0"/>
              <a:chExt cx="4953000" cy="4445000"/>
            </a:xfrm>
          </p:grpSpPr>
          <p:sp>
            <p:nvSpPr>
              <p:cNvPr name="Freeform 6" id="6"/>
              <p:cNvSpPr/>
              <p:nvPr/>
            </p:nvSpPr>
            <p:spPr>
              <a:xfrm flipH="false" flipV="false" rot="0">
                <a:off x="0" y="0"/>
                <a:ext cx="4953000" cy="4445000"/>
              </a:xfrm>
              <a:custGeom>
                <a:avLst/>
                <a:gdLst/>
                <a:ahLst/>
                <a:cxnLst/>
                <a:rect r="r" b="b" t="t" l="l"/>
                <a:pathLst>
                  <a:path h="4445000" w="4953000">
                    <a:moveTo>
                      <a:pt x="0" y="0"/>
                    </a:moveTo>
                    <a:lnTo>
                      <a:pt x="4953000" y="0"/>
                    </a:lnTo>
                    <a:lnTo>
                      <a:pt x="4953000" y="4445000"/>
                    </a:lnTo>
                    <a:lnTo>
                      <a:pt x="0" y="4445000"/>
                    </a:lnTo>
                    <a:close/>
                  </a:path>
                </a:pathLst>
              </a:custGeom>
              <a:solidFill>
                <a:srgbClr val="FFFFFF"/>
              </a:solidFill>
              <a:ln cap="sq">
                <a:noFill/>
                <a:prstDash val="solid"/>
                <a:miter/>
              </a:ln>
            </p:spPr>
          </p:sp>
          <p:sp>
            <p:nvSpPr>
              <p:cNvPr name="TextBox 7" id="7"/>
              <p:cNvSpPr txBox="true"/>
              <p:nvPr/>
            </p:nvSpPr>
            <p:spPr>
              <a:xfrm>
                <a:off x="0" y="-38100"/>
                <a:ext cx="4953000" cy="4483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254000" y="460375"/>
              <a:ext cx="1016000" cy="504825"/>
            </a:xfrm>
            <a:prstGeom prst="rect">
              <a:avLst/>
            </a:prstGeom>
          </p:spPr>
          <p:txBody>
            <a:bodyPr anchor="t" rtlCol="false" tIns="0" lIns="0" bIns="0" rIns="0">
              <a:spAutoFit/>
            </a:bodyPr>
            <a:lstStyle/>
            <a:p>
              <a:pPr algn="l">
                <a:lnSpc>
                  <a:spcPts val="3149"/>
                </a:lnSpc>
              </a:pPr>
              <a:r>
                <a:rPr lang="en-US" sz="2250" b="true">
                  <a:solidFill>
                    <a:srgbClr val="E56F61"/>
                  </a:solidFill>
                  <a:latin typeface="Cormorant Garamond Bold"/>
                  <a:ea typeface="Cormorant Garamond Bold"/>
                  <a:cs typeface="Cormorant Garamond Bold"/>
                  <a:sym typeface="Cormorant Garamond Bold"/>
                </a:rPr>
                <a:t>01</a:t>
              </a:r>
            </a:p>
          </p:txBody>
        </p:sp>
        <p:sp>
          <p:nvSpPr>
            <p:cNvPr name="TextBox 9" id="9"/>
            <p:cNvSpPr txBox="true"/>
            <p:nvPr/>
          </p:nvSpPr>
          <p:spPr>
            <a:xfrm rot="0">
              <a:off x="254000" y="1479550"/>
              <a:ext cx="4572000" cy="963930"/>
            </a:xfrm>
            <a:prstGeom prst="rect">
              <a:avLst/>
            </a:prstGeom>
          </p:spPr>
          <p:txBody>
            <a:bodyPr anchor="t" rtlCol="false" tIns="0" lIns="0" bIns="0" rIns="0">
              <a:spAutoFit/>
            </a:bodyPr>
            <a:lstStyle/>
            <a:p>
              <a:pPr algn="l">
                <a:lnSpc>
                  <a:spcPts val="2805"/>
                </a:lnSpc>
              </a:pPr>
              <a:r>
                <a:rPr lang="en-US" sz="2550" b="true">
                  <a:solidFill>
                    <a:srgbClr val="17211F"/>
                  </a:solidFill>
                  <a:latin typeface="Cormorant Garamond Bold"/>
                  <a:ea typeface="Cormorant Garamond Bold"/>
                  <a:cs typeface="Cormorant Garamond Bold"/>
                  <a:sym typeface="Cormorant Garamond Bold"/>
                </a:rPr>
                <a:t>Authentic Connection &amp; Trust Building</a:t>
              </a:r>
            </a:p>
          </p:txBody>
        </p:sp>
        <p:grpSp>
          <p:nvGrpSpPr>
            <p:cNvPr name="Group 10" id="10"/>
            <p:cNvGrpSpPr/>
            <p:nvPr/>
          </p:nvGrpSpPr>
          <p:grpSpPr>
            <a:xfrm rot="0">
              <a:off x="254000" y="889000"/>
              <a:ext cx="1016000" cy="50800"/>
              <a:chOff x="0" y="0"/>
              <a:chExt cx="1016000" cy="50800"/>
            </a:xfrm>
          </p:grpSpPr>
          <p:sp>
            <p:nvSpPr>
              <p:cNvPr name="Freeform 11" id="11"/>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C59A4A"/>
              </a:solidFill>
              <a:ln cap="sq">
                <a:noFill/>
                <a:prstDash val="solid"/>
                <a:miter/>
              </a:ln>
            </p:spPr>
          </p:sp>
          <p:sp>
            <p:nvSpPr>
              <p:cNvPr name="TextBox 12" id="12"/>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grpSp>
        <p:nvGrpSpPr>
          <p:cNvPr name="Group 13" id="13"/>
          <p:cNvGrpSpPr/>
          <p:nvPr/>
        </p:nvGrpSpPr>
        <p:grpSpPr>
          <a:xfrm rot="0">
            <a:off x="4953000" y="4095750"/>
            <a:ext cx="3714750" cy="3333750"/>
            <a:chOff x="0" y="0"/>
            <a:chExt cx="4953000" cy="4445000"/>
          </a:xfrm>
        </p:grpSpPr>
        <p:grpSp>
          <p:nvGrpSpPr>
            <p:cNvPr name="Group 14" id="14"/>
            <p:cNvGrpSpPr/>
            <p:nvPr/>
          </p:nvGrpSpPr>
          <p:grpSpPr>
            <a:xfrm rot="0">
              <a:off x="0" y="0"/>
              <a:ext cx="4953000" cy="4445000"/>
              <a:chOff x="0" y="0"/>
              <a:chExt cx="4953000" cy="4445000"/>
            </a:xfrm>
          </p:grpSpPr>
          <p:sp>
            <p:nvSpPr>
              <p:cNvPr name="Freeform 15" id="15"/>
              <p:cNvSpPr/>
              <p:nvPr/>
            </p:nvSpPr>
            <p:spPr>
              <a:xfrm flipH="false" flipV="false" rot="0">
                <a:off x="0" y="0"/>
                <a:ext cx="4953000" cy="4445000"/>
              </a:xfrm>
              <a:custGeom>
                <a:avLst/>
                <a:gdLst/>
                <a:ahLst/>
                <a:cxnLst/>
                <a:rect r="r" b="b" t="t" l="l"/>
                <a:pathLst>
                  <a:path h="4445000" w="4953000">
                    <a:moveTo>
                      <a:pt x="0" y="0"/>
                    </a:moveTo>
                    <a:lnTo>
                      <a:pt x="4953000" y="0"/>
                    </a:lnTo>
                    <a:lnTo>
                      <a:pt x="4953000" y="4445000"/>
                    </a:lnTo>
                    <a:lnTo>
                      <a:pt x="0" y="4445000"/>
                    </a:lnTo>
                    <a:close/>
                  </a:path>
                </a:pathLst>
              </a:custGeom>
              <a:solidFill>
                <a:srgbClr val="FFFFFF"/>
              </a:solidFill>
              <a:ln cap="sq">
                <a:noFill/>
                <a:prstDash val="solid"/>
                <a:miter/>
              </a:ln>
            </p:spPr>
          </p:sp>
          <p:sp>
            <p:nvSpPr>
              <p:cNvPr name="TextBox 16" id="16"/>
              <p:cNvSpPr txBox="true"/>
              <p:nvPr/>
            </p:nvSpPr>
            <p:spPr>
              <a:xfrm>
                <a:off x="0" y="-38100"/>
                <a:ext cx="4953000" cy="4483100"/>
              </a:xfrm>
              <a:prstGeom prst="rect">
                <a:avLst/>
              </a:prstGeom>
            </p:spPr>
            <p:txBody>
              <a:bodyPr anchor="ctr" rtlCol="false" tIns="50800" lIns="50800" bIns="50800" rIns="50800"/>
              <a:lstStyle/>
              <a:p>
                <a:pPr algn="l">
                  <a:lnSpc>
                    <a:spcPts val="1679"/>
                  </a:lnSpc>
                </a:pPr>
              </a:p>
            </p:txBody>
          </p:sp>
        </p:grpSp>
        <p:sp>
          <p:nvSpPr>
            <p:cNvPr name="TextBox 17" id="17"/>
            <p:cNvSpPr txBox="true"/>
            <p:nvPr/>
          </p:nvSpPr>
          <p:spPr>
            <a:xfrm rot="0">
              <a:off x="254000" y="460375"/>
              <a:ext cx="1016000" cy="504825"/>
            </a:xfrm>
            <a:prstGeom prst="rect">
              <a:avLst/>
            </a:prstGeom>
          </p:spPr>
          <p:txBody>
            <a:bodyPr anchor="t" rtlCol="false" tIns="0" lIns="0" bIns="0" rIns="0">
              <a:spAutoFit/>
            </a:bodyPr>
            <a:lstStyle/>
            <a:p>
              <a:pPr algn="l">
                <a:lnSpc>
                  <a:spcPts val="3149"/>
                </a:lnSpc>
              </a:pPr>
              <a:r>
                <a:rPr lang="en-US" sz="2250" b="true">
                  <a:solidFill>
                    <a:srgbClr val="E56F61"/>
                  </a:solidFill>
                  <a:latin typeface="Cormorant Garamond Bold"/>
                  <a:ea typeface="Cormorant Garamond Bold"/>
                  <a:cs typeface="Cormorant Garamond Bold"/>
                  <a:sym typeface="Cormorant Garamond Bold"/>
                </a:rPr>
                <a:t>02</a:t>
              </a:r>
            </a:p>
          </p:txBody>
        </p:sp>
        <p:sp>
          <p:nvSpPr>
            <p:cNvPr name="TextBox 18" id="18"/>
            <p:cNvSpPr txBox="true"/>
            <p:nvPr/>
          </p:nvSpPr>
          <p:spPr>
            <a:xfrm rot="0">
              <a:off x="254000" y="1479550"/>
              <a:ext cx="4572000" cy="963930"/>
            </a:xfrm>
            <a:prstGeom prst="rect">
              <a:avLst/>
            </a:prstGeom>
          </p:spPr>
          <p:txBody>
            <a:bodyPr anchor="t" rtlCol="false" tIns="0" lIns="0" bIns="0" rIns="0">
              <a:spAutoFit/>
            </a:bodyPr>
            <a:lstStyle/>
            <a:p>
              <a:pPr algn="l">
                <a:lnSpc>
                  <a:spcPts val="2805"/>
                </a:lnSpc>
              </a:pPr>
              <a:r>
                <a:rPr lang="en-US" sz="2550" b="true">
                  <a:solidFill>
                    <a:srgbClr val="17211F"/>
                  </a:solidFill>
                  <a:latin typeface="Cormorant Garamond Bold"/>
                  <a:ea typeface="Cormorant Garamond Bold"/>
                  <a:cs typeface="Cormorant Garamond Bold"/>
                  <a:sym typeface="Cormorant Garamond Bold"/>
                </a:rPr>
                <a:t>Deep Community Insight &amp; Cultural Competence</a:t>
              </a:r>
            </a:p>
          </p:txBody>
        </p:sp>
        <p:grpSp>
          <p:nvGrpSpPr>
            <p:cNvPr name="Group 19" id="19"/>
            <p:cNvGrpSpPr/>
            <p:nvPr/>
          </p:nvGrpSpPr>
          <p:grpSpPr>
            <a:xfrm rot="0">
              <a:off x="254000" y="889000"/>
              <a:ext cx="1016000" cy="50800"/>
              <a:chOff x="0" y="0"/>
              <a:chExt cx="1016000" cy="50800"/>
            </a:xfrm>
          </p:grpSpPr>
          <p:sp>
            <p:nvSpPr>
              <p:cNvPr name="Freeform 20" id="20"/>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C59A4A"/>
              </a:solidFill>
              <a:ln cap="sq">
                <a:noFill/>
                <a:prstDash val="solid"/>
                <a:miter/>
              </a:ln>
            </p:spPr>
          </p:sp>
          <p:sp>
            <p:nvSpPr>
              <p:cNvPr name="TextBox 21" id="21"/>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grpSp>
        <p:nvGrpSpPr>
          <p:cNvPr name="Group 22" id="22"/>
          <p:cNvGrpSpPr/>
          <p:nvPr/>
        </p:nvGrpSpPr>
        <p:grpSpPr>
          <a:xfrm rot="0">
            <a:off x="9048750" y="4095750"/>
            <a:ext cx="3714750" cy="3333750"/>
            <a:chOff x="0" y="0"/>
            <a:chExt cx="4953000" cy="4445000"/>
          </a:xfrm>
        </p:grpSpPr>
        <p:grpSp>
          <p:nvGrpSpPr>
            <p:cNvPr name="Group 23" id="23"/>
            <p:cNvGrpSpPr/>
            <p:nvPr/>
          </p:nvGrpSpPr>
          <p:grpSpPr>
            <a:xfrm rot="0">
              <a:off x="0" y="0"/>
              <a:ext cx="4953000" cy="4445000"/>
              <a:chOff x="0" y="0"/>
              <a:chExt cx="4953000" cy="4445000"/>
            </a:xfrm>
          </p:grpSpPr>
          <p:sp>
            <p:nvSpPr>
              <p:cNvPr name="Freeform 24" id="24"/>
              <p:cNvSpPr/>
              <p:nvPr/>
            </p:nvSpPr>
            <p:spPr>
              <a:xfrm flipH="false" flipV="false" rot="0">
                <a:off x="0" y="0"/>
                <a:ext cx="4953000" cy="4445000"/>
              </a:xfrm>
              <a:custGeom>
                <a:avLst/>
                <a:gdLst/>
                <a:ahLst/>
                <a:cxnLst/>
                <a:rect r="r" b="b" t="t" l="l"/>
                <a:pathLst>
                  <a:path h="4445000" w="4953000">
                    <a:moveTo>
                      <a:pt x="0" y="0"/>
                    </a:moveTo>
                    <a:lnTo>
                      <a:pt x="4953000" y="0"/>
                    </a:lnTo>
                    <a:lnTo>
                      <a:pt x="4953000" y="4445000"/>
                    </a:lnTo>
                    <a:lnTo>
                      <a:pt x="0" y="4445000"/>
                    </a:lnTo>
                    <a:close/>
                  </a:path>
                </a:pathLst>
              </a:custGeom>
              <a:solidFill>
                <a:srgbClr val="FFFFFF"/>
              </a:solidFill>
              <a:ln cap="sq">
                <a:noFill/>
                <a:prstDash val="solid"/>
                <a:miter/>
              </a:ln>
            </p:spPr>
          </p:sp>
          <p:sp>
            <p:nvSpPr>
              <p:cNvPr name="TextBox 25" id="25"/>
              <p:cNvSpPr txBox="true"/>
              <p:nvPr/>
            </p:nvSpPr>
            <p:spPr>
              <a:xfrm>
                <a:off x="0" y="-38100"/>
                <a:ext cx="4953000" cy="4483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254000" y="460375"/>
              <a:ext cx="1016000" cy="504825"/>
            </a:xfrm>
            <a:prstGeom prst="rect">
              <a:avLst/>
            </a:prstGeom>
          </p:spPr>
          <p:txBody>
            <a:bodyPr anchor="t" rtlCol="false" tIns="0" lIns="0" bIns="0" rIns="0">
              <a:spAutoFit/>
            </a:bodyPr>
            <a:lstStyle/>
            <a:p>
              <a:pPr algn="l">
                <a:lnSpc>
                  <a:spcPts val="3149"/>
                </a:lnSpc>
              </a:pPr>
              <a:r>
                <a:rPr lang="en-US" sz="2250" b="true">
                  <a:solidFill>
                    <a:srgbClr val="E56F61"/>
                  </a:solidFill>
                  <a:latin typeface="Cormorant Garamond Bold"/>
                  <a:ea typeface="Cormorant Garamond Bold"/>
                  <a:cs typeface="Cormorant Garamond Bold"/>
                  <a:sym typeface="Cormorant Garamond Bold"/>
                </a:rPr>
                <a:t>03</a:t>
              </a:r>
            </a:p>
          </p:txBody>
        </p:sp>
        <p:sp>
          <p:nvSpPr>
            <p:cNvPr name="TextBox 27" id="27"/>
            <p:cNvSpPr txBox="true"/>
            <p:nvPr/>
          </p:nvSpPr>
          <p:spPr>
            <a:xfrm rot="0">
              <a:off x="254000" y="1479550"/>
              <a:ext cx="4572000" cy="963930"/>
            </a:xfrm>
            <a:prstGeom prst="rect">
              <a:avLst/>
            </a:prstGeom>
          </p:spPr>
          <p:txBody>
            <a:bodyPr anchor="t" rtlCol="false" tIns="0" lIns="0" bIns="0" rIns="0">
              <a:spAutoFit/>
            </a:bodyPr>
            <a:lstStyle/>
            <a:p>
              <a:pPr algn="l">
                <a:lnSpc>
                  <a:spcPts val="2805"/>
                </a:lnSpc>
              </a:pPr>
              <a:r>
                <a:rPr lang="en-US" sz="2550" b="true">
                  <a:solidFill>
                    <a:srgbClr val="17211F"/>
                  </a:solidFill>
                  <a:latin typeface="Cormorant Garamond Bold"/>
                  <a:ea typeface="Cormorant Garamond Bold"/>
                  <a:cs typeface="Cormorant Garamond Bold"/>
                  <a:sym typeface="Cormorant Garamond Bold"/>
                </a:rPr>
                <a:t>Expert Knowledge with Practical Solutions</a:t>
              </a:r>
            </a:p>
          </p:txBody>
        </p:sp>
        <p:grpSp>
          <p:nvGrpSpPr>
            <p:cNvPr name="Group 28" id="28"/>
            <p:cNvGrpSpPr/>
            <p:nvPr/>
          </p:nvGrpSpPr>
          <p:grpSpPr>
            <a:xfrm rot="0">
              <a:off x="254000" y="889000"/>
              <a:ext cx="1016000" cy="50800"/>
              <a:chOff x="0" y="0"/>
              <a:chExt cx="1016000" cy="50800"/>
            </a:xfrm>
          </p:grpSpPr>
          <p:sp>
            <p:nvSpPr>
              <p:cNvPr name="Freeform 29" id="29"/>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C59A4A"/>
              </a:solidFill>
              <a:ln cap="sq">
                <a:noFill/>
                <a:prstDash val="solid"/>
                <a:miter/>
              </a:ln>
            </p:spPr>
          </p:sp>
          <p:sp>
            <p:nvSpPr>
              <p:cNvPr name="TextBox 30" id="30"/>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grpSp>
        <p:nvGrpSpPr>
          <p:cNvPr name="Group 31" id="31"/>
          <p:cNvGrpSpPr/>
          <p:nvPr/>
        </p:nvGrpSpPr>
        <p:grpSpPr>
          <a:xfrm rot="0">
            <a:off x="13144500" y="4095750"/>
            <a:ext cx="3714750" cy="3333750"/>
            <a:chOff x="0" y="0"/>
            <a:chExt cx="4953000" cy="4445000"/>
          </a:xfrm>
        </p:grpSpPr>
        <p:grpSp>
          <p:nvGrpSpPr>
            <p:cNvPr name="Group 32" id="32"/>
            <p:cNvGrpSpPr/>
            <p:nvPr/>
          </p:nvGrpSpPr>
          <p:grpSpPr>
            <a:xfrm rot="0">
              <a:off x="0" y="0"/>
              <a:ext cx="4953000" cy="4445000"/>
              <a:chOff x="0" y="0"/>
              <a:chExt cx="4953000" cy="4445000"/>
            </a:xfrm>
          </p:grpSpPr>
          <p:sp>
            <p:nvSpPr>
              <p:cNvPr name="Freeform 33" id="33"/>
              <p:cNvSpPr/>
              <p:nvPr/>
            </p:nvSpPr>
            <p:spPr>
              <a:xfrm flipH="false" flipV="false" rot="0">
                <a:off x="0" y="0"/>
                <a:ext cx="4953000" cy="4445000"/>
              </a:xfrm>
              <a:custGeom>
                <a:avLst/>
                <a:gdLst/>
                <a:ahLst/>
                <a:cxnLst/>
                <a:rect r="r" b="b" t="t" l="l"/>
                <a:pathLst>
                  <a:path h="4445000" w="4953000">
                    <a:moveTo>
                      <a:pt x="0" y="0"/>
                    </a:moveTo>
                    <a:lnTo>
                      <a:pt x="4953000" y="0"/>
                    </a:lnTo>
                    <a:lnTo>
                      <a:pt x="4953000" y="4445000"/>
                    </a:lnTo>
                    <a:lnTo>
                      <a:pt x="0" y="4445000"/>
                    </a:lnTo>
                    <a:close/>
                  </a:path>
                </a:pathLst>
              </a:custGeom>
              <a:solidFill>
                <a:srgbClr val="123D33"/>
              </a:solidFill>
              <a:ln cap="sq">
                <a:noFill/>
                <a:prstDash val="solid"/>
                <a:miter/>
              </a:ln>
            </p:spPr>
          </p:sp>
          <p:sp>
            <p:nvSpPr>
              <p:cNvPr name="TextBox 34" id="34"/>
              <p:cNvSpPr txBox="true"/>
              <p:nvPr/>
            </p:nvSpPr>
            <p:spPr>
              <a:xfrm>
                <a:off x="0" y="-38100"/>
                <a:ext cx="4953000" cy="44831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254000" y="460375"/>
              <a:ext cx="1016000" cy="504825"/>
            </a:xfrm>
            <a:prstGeom prst="rect">
              <a:avLst/>
            </a:prstGeom>
          </p:spPr>
          <p:txBody>
            <a:bodyPr anchor="t" rtlCol="false" tIns="0" lIns="0" bIns="0" rIns="0">
              <a:spAutoFit/>
            </a:bodyPr>
            <a:lstStyle/>
            <a:p>
              <a:pPr algn="l">
                <a:lnSpc>
                  <a:spcPts val="3149"/>
                </a:lnSpc>
              </a:pPr>
              <a:r>
                <a:rPr lang="en-US" sz="2250" b="true">
                  <a:solidFill>
                    <a:srgbClr val="E56F61"/>
                  </a:solidFill>
                  <a:latin typeface="Cormorant Garamond Bold"/>
                  <a:ea typeface="Cormorant Garamond Bold"/>
                  <a:cs typeface="Cormorant Garamond Bold"/>
                  <a:sym typeface="Cormorant Garamond Bold"/>
                </a:rPr>
                <a:t>04</a:t>
              </a:r>
            </a:p>
          </p:txBody>
        </p:sp>
        <p:sp>
          <p:nvSpPr>
            <p:cNvPr name="TextBox 36" id="36"/>
            <p:cNvSpPr txBox="true"/>
            <p:nvPr/>
          </p:nvSpPr>
          <p:spPr>
            <a:xfrm rot="0">
              <a:off x="254000" y="1479550"/>
              <a:ext cx="4572000" cy="963930"/>
            </a:xfrm>
            <a:prstGeom prst="rect">
              <a:avLst/>
            </a:prstGeom>
          </p:spPr>
          <p:txBody>
            <a:bodyPr anchor="t" rtlCol="false" tIns="0" lIns="0" bIns="0" rIns="0">
              <a:spAutoFit/>
            </a:bodyPr>
            <a:lstStyle/>
            <a:p>
              <a:pPr algn="l">
                <a:lnSpc>
                  <a:spcPts val="2805"/>
                </a:lnSpc>
              </a:pPr>
              <a:r>
                <a:rPr lang="en-US" sz="2550" b="true">
                  <a:solidFill>
                    <a:srgbClr val="17211F"/>
                  </a:solidFill>
                  <a:latin typeface="Cormorant Garamond Bold"/>
                  <a:ea typeface="Cormorant Garamond Bold"/>
                  <a:cs typeface="Cormorant Garamond Bold"/>
                  <a:sym typeface="Cormorant Garamond Bold"/>
                </a:rPr>
                <a:t>Warm, Engaging &amp; Confident Delivery</a:t>
              </a:r>
            </a:p>
          </p:txBody>
        </p:sp>
        <p:grpSp>
          <p:nvGrpSpPr>
            <p:cNvPr name="Group 37" id="37"/>
            <p:cNvGrpSpPr/>
            <p:nvPr/>
          </p:nvGrpSpPr>
          <p:grpSpPr>
            <a:xfrm rot="0">
              <a:off x="254000" y="889000"/>
              <a:ext cx="1016000" cy="50800"/>
              <a:chOff x="0" y="0"/>
              <a:chExt cx="1016000" cy="50800"/>
            </a:xfrm>
          </p:grpSpPr>
          <p:sp>
            <p:nvSpPr>
              <p:cNvPr name="Freeform 38" id="38"/>
              <p:cNvSpPr/>
              <p:nvPr/>
            </p:nvSpPr>
            <p:spPr>
              <a:xfrm flipH="false" flipV="false" rot="0">
                <a:off x="0" y="0"/>
                <a:ext cx="1016000" cy="50800"/>
              </a:xfrm>
              <a:custGeom>
                <a:avLst/>
                <a:gdLst/>
                <a:ahLst/>
                <a:cxnLst/>
                <a:rect r="r" b="b" t="t" l="l"/>
                <a:pathLst>
                  <a:path h="50800" w="1016000">
                    <a:moveTo>
                      <a:pt x="0" y="0"/>
                    </a:moveTo>
                    <a:lnTo>
                      <a:pt x="1016000" y="0"/>
                    </a:lnTo>
                    <a:lnTo>
                      <a:pt x="1016000" y="50800"/>
                    </a:lnTo>
                    <a:lnTo>
                      <a:pt x="0" y="50800"/>
                    </a:lnTo>
                    <a:close/>
                  </a:path>
                </a:pathLst>
              </a:custGeom>
              <a:solidFill>
                <a:srgbClr val="C59A4A"/>
              </a:solidFill>
              <a:ln cap="sq">
                <a:noFill/>
                <a:prstDash val="solid"/>
                <a:miter/>
              </a:ln>
            </p:spPr>
          </p:sp>
          <p:sp>
            <p:nvSpPr>
              <p:cNvPr name="TextBox 39" id="39"/>
              <p:cNvSpPr txBox="true"/>
              <p:nvPr/>
            </p:nvSpPr>
            <p:spPr>
              <a:xfrm>
                <a:off x="0" y="-38100"/>
                <a:ext cx="1016000" cy="88900"/>
              </a:xfrm>
              <a:prstGeom prst="rect">
                <a:avLst/>
              </a:prstGeom>
            </p:spPr>
            <p:txBody>
              <a:bodyPr anchor="ctr" rtlCol="false" tIns="50800" lIns="50800" bIns="50800" rIns="50800"/>
              <a:lstStyle/>
              <a:p>
                <a:pPr algn="l">
                  <a:lnSpc>
                    <a:spcPts val="1679"/>
                  </a:lnSpc>
                </a:pPr>
              </a:p>
            </p:txBody>
          </p:sp>
        </p:grpSp>
      </p:grpSp>
      <p:sp>
        <p:nvSpPr>
          <p:cNvPr name="TextBox 40" id="40"/>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10</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23D33"/>
        </a:solidFill>
      </p:bgPr>
    </p:bg>
    <p:spTree>
      <p:nvGrpSpPr>
        <p:cNvPr id="1" name=""/>
        <p:cNvGrpSpPr/>
        <p:nvPr/>
      </p:nvGrpSpPr>
      <p:grpSpPr>
        <a:xfrm>
          <a:off x="0" y="0"/>
          <a:ext cx="0" cy="0"/>
          <a:chOff x="0" y="0"/>
          <a:chExt cx="0" cy="0"/>
        </a:xfrm>
      </p:grpSpPr>
      <p:sp>
        <p:nvSpPr>
          <p:cNvPr name="TextBox 2" id="2"/>
          <p:cNvSpPr txBox="true"/>
          <p:nvPr/>
        </p:nvSpPr>
        <p:spPr>
          <a:xfrm rot="0">
            <a:off x="1047750" y="695325"/>
            <a:ext cx="8096250" cy="222885"/>
          </a:xfrm>
          <a:prstGeom prst="rect">
            <a:avLst/>
          </a:prstGeom>
        </p:spPr>
        <p:txBody>
          <a:bodyPr anchor="t" rtlCol="false" tIns="0" lIns="0" bIns="0" rIns="0">
            <a:spAutoFit/>
          </a:bodyPr>
          <a:lstStyle/>
          <a:p>
            <a:pPr algn="l">
              <a:lnSpc>
                <a:spcPts val="1889"/>
              </a:lnSpc>
            </a:pPr>
            <a:r>
              <a:rPr lang="en-US" sz="1350" spc="243" b="true">
                <a:solidFill>
                  <a:srgbClr val="C59A4A"/>
                </a:solidFill>
                <a:latin typeface="DM Sans Bold"/>
                <a:ea typeface="DM Sans Bold"/>
                <a:cs typeface="DM Sans Bold"/>
                <a:sym typeface="DM Sans Bold"/>
              </a:rPr>
              <a:t>ORGANIZATIONS &amp; PARTNERSHIPS</a:t>
            </a:r>
          </a:p>
        </p:txBody>
      </p:sp>
      <p:sp>
        <p:nvSpPr>
          <p:cNvPr name="TextBox 3" id="3"/>
          <p:cNvSpPr txBox="true"/>
          <p:nvPr/>
        </p:nvSpPr>
        <p:spPr>
          <a:xfrm rot="0">
            <a:off x="1047750" y="1466850"/>
            <a:ext cx="13335000" cy="1428369"/>
          </a:xfrm>
          <a:prstGeom prst="rect">
            <a:avLst/>
          </a:prstGeom>
        </p:spPr>
        <p:txBody>
          <a:bodyPr anchor="t" rtlCol="false" tIns="0" lIns="0" bIns="0" rIns="0">
            <a:spAutoFit/>
          </a:bodyPr>
          <a:lstStyle/>
          <a:p>
            <a:pPr algn="l">
              <a:lnSpc>
                <a:spcPts val="5508"/>
              </a:lnSpc>
            </a:pPr>
            <a:r>
              <a:rPr lang="en-US" sz="5400" b="true">
                <a:solidFill>
                  <a:srgbClr val="F7F0E4"/>
                </a:solidFill>
                <a:latin typeface="Cormorant Garamond Bold"/>
                <a:ea typeface="Cormorant Garamond Bold"/>
                <a:cs typeface="Cormorant Garamond Bold"/>
                <a:sym typeface="Cormorant Garamond Bold"/>
              </a:rPr>
              <a:t>Trusted by leading organizations</a:t>
            </a:r>
          </a:p>
          <a:p>
            <a:pPr algn="l">
              <a:lnSpc>
                <a:spcPts val="5508"/>
              </a:lnSpc>
            </a:pPr>
            <a:r>
              <a:rPr lang="en-US" sz="5400" b="true">
                <a:solidFill>
                  <a:srgbClr val="F7F0E4"/>
                </a:solidFill>
                <a:latin typeface="Cormorant Garamond Bold"/>
                <a:ea typeface="Cormorant Garamond Bold"/>
                <a:cs typeface="Cormorant Garamond Bold"/>
                <a:sym typeface="Cormorant Garamond Bold"/>
              </a:rPr>
              <a:t>and communities.</a:t>
            </a:r>
          </a:p>
        </p:txBody>
      </p:sp>
      <p:grpSp>
        <p:nvGrpSpPr>
          <p:cNvPr name="Group 4" id="4"/>
          <p:cNvGrpSpPr/>
          <p:nvPr/>
        </p:nvGrpSpPr>
        <p:grpSpPr>
          <a:xfrm rot="0">
            <a:off x="1047750" y="4762500"/>
            <a:ext cx="4762500" cy="1381125"/>
            <a:chOff x="0" y="0"/>
            <a:chExt cx="6350000" cy="1841500"/>
          </a:xfrm>
        </p:grpSpPr>
        <p:grpSp>
          <p:nvGrpSpPr>
            <p:cNvPr name="Group 5" id="5"/>
            <p:cNvGrpSpPr/>
            <p:nvPr/>
          </p:nvGrpSpPr>
          <p:grpSpPr>
            <a:xfrm rot="0">
              <a:off x="0" y="0"/>
              <a:ext cx="6350000" cy="1841500"/>
              <a:chOff x="0" y="0"/>
              <a:chExt cx="6350000" cy="1841500"/>
            </a:xfrm>
          </p:grpSpPr>
          <p:sp>
            <p:nvSpPr>
              <p:cNvPr name="Freeform 6" id="6"/>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7" id="7"/>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0" y="0"/>
              <a:ext cx="101600" cy="1841500"/>
              <a:chOff x="0" y="0"/>
              <a:chExt cx="101600" cy="1841500"/>
            </a:xfrm>
          </p:grpSpPr>
          <p:sp>
            <p:nvSpPr>
              <p:cNvPr name="Freeform 9" id="9"/>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10" id="10"/>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HEALTH SYSTEMS</a:t>
              </a:r>
            </a:p>
          </p:txBody>
        </p:sp>
      </p:grpSp>
      <p:grpSp>
        <p:nvGrpSpPr>
          <p:cNvPr name="Group 12" id="12"/>
          <p:cNvGrpSpPr/>
          <p:nvPr/>
        </p:nvGrpSpPr>
        <p:grpSpPr>
          <a:xfrm rot="0">
            <a:off x="6477000" y="4762500"/>
            <a:ext cx="4762500" cy="1381125"/>
            <a:chOff x="0" y="0"/>
            <a:chExt cx="6350000" cy="1841500"/>
          </a:xfrm>
        </p:grpSpPr>
        <p:grpSp>
          <p:nvGrpSpPr>
            <p:cNvPr name="Group 13" id="13"/>
            <p:cNvGrpSpPr/>
            <p:nvPr/>
          </p:nvGrpSpPr>
          <p:grpSpPr>
            <a:xfrm rot="0">
              <a:off x="0" y="0"/>
              <a:ext cx="6350000" cy="1841500"/>
              <a:chOff x="0" y="0"/>
              <a:chExt cx="6350000" cy="1841500"/>
            </a:xfrm>
          </p:grpSpPr>
          <p:sp>
            <p:nvSpPr>
              <p:cNvPr name="Freeform 14" id="14"/>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15" id="15"/>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0" y="0"/>
              <a:ext cx="101600" cy="1841500"/>
              <a:chOff x="0" y="0"/>
              <a:chExt cx="101600" cy="1841500"/>
            </a:xfrm>
          </p:grpSpPr>
          <p:sp>
            <p:nvSpPr>
              <p:cNvPr name="Freeform 17" id="17"/>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18" id="18"/>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COMMUNITY ORGANIZATIONS</a:t>
              </a:r>
            </a:p>
          </p:txBody>
        </p:sp>
      </p:grpSp>
      <p:grpSp>
        <p:nvGrpSpPr>
          <p:cNvPr name="Group 20" id="20"/>
          <p:cNvGrpSpPr/>
          <p:nvPr/>
        </p:nvGrpSpPr>
        <p:grpSpPr>
          <a:xfrm rot="0">
            <a:off x="11906250" y="4762500"/>
            <a:ext cx="4762500" cy="1381125"/>
            <a:chOff x="0" y="0"/>
            <a:chExt cx="6350000" cy="1841500"/>
          </a:xfrm>
        </p:grpSpPr>
        <p:grpSp>
          <p:nvGrpSpPr>
            <p:cNvPr name="Group 21" id="21"/>
            <p:cNvGrpSpPr/>
            <p:nvPr/>
          </p:nvGrpSpPr>
          <p:grpSpPr>
            <a:xfrm rot="0">
              <a:off x="0" y="0"/>
              <a:ext cx="6350000" cy="1841500"/>
              <a:chOff x="0" y="0"/>
              <a:chExt cx="6350000" cy="1841500"/>
            </a:xfrm>
          </p:grpSpPr>
          <p:sp>
            <p:nvSpPr>
              <p:cNvPr name="Freeform 22" id="22"/>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23" id="23"/>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0" y="0"/>
              <a:ext cx="101600" cy="1841500"/>
              <a:chOff x="0" y="0"/>
              <a:chExt cx="101600" cy="1841500"/>
            </a:xfrm>
          </p:grpSpPr>
          <p:sp>
            <p:nvSpPr>
              <p:cNvPr name="Freeform 25" id="25"/>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26" id="26"/>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EDUCATION</a:t>
              </a:r>
            </a:p>
          </p:txBody>
        </p:sp>
      </p:grpSp>
      <p:grpSp>
        <p:nvGrpSpPr>
          <p:cNvPr name="Group 28" id="28"/>
          <p:cNvGrpSpPr/>
          <p:nvPr/>
        </p:nvGrpSpPr>
        <p:grpSpPr>
          <a:xfrm rot="0">
            <a:off x="1047750" y="6572250"/>
            <a:ext cx="4762500" cy="1381125"/>
            <a:chOff x="0" y="0"/>
            <a:chExt cx="6350000" cy="1841500"/>
          </a:xfrm>
        </p:grpSpPr>
        <p:grpSp>
          <p:nvGrpSpPr>
            <p:cNvPr name="Group 29" id="29"/>
            <p:cNvGrpSpPr/>
            <p:nvPr/>
          </p:nvGrpSpPr>
          <p:grpSpPr>
            <a:xfrm rot="0">
              <a:off x="0" y="0"/>
              <a:ext cx="6350000" cy="1841500"/>
              <a:chOff x="0" y="0"/>
              <a:chExt cx="6350000" cy="1841500"/>
            </a:xfrm>
          </p:grpSpPr>
          <p:sp>
            <p:nvSpPr>
              <p:cNvPr name="Freeform 30" id="30"/>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31" id="31"/>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0" y="0"/>
              <a:ext cx="101600" cy="1841500"/>
              <a:chOff x="0" y="0"/>
              <a:chExt cx="101600" cy="1841500"/>
            </a:xfrm>
          </p:grpSpPr>
          <p:sp>
            <p:nvSpPr>
              <p:cNvPr name="Freeform 33" id="33"/>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34" id="34"/>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PUBLIC SECTOR</a:t>
              </a:r>
            </a:p>
          </p:txBody>
        </p:sp>
      </p:grpSp>
      <p:grpSp>
        <p:nvGrpSpPr>
          <p:cNvPr name="Group 36" id="36"/>
          <p:cNvGrpSpPr/>
          <p:nvPr/>
        </p:nvGrpSpPr>
        <p:grpSpPr>
          <a:xfrm rot="0">
            <a:off x="6477000" y="6572250"/>
            <a:ext cx="4762500" cy="1381125"/>
            <a:chOff x="0" y="0"/>
            <a:chExt cx="6350000" cy="1841500"/>
          </a:xfrm>
        </p:grpSpPr>
        <p:grpSp>
          <p:nvGrpSpPr>
            <p:cNvPr name="Group 37" id="37"/>
            <p:cNvGrpSpPr/>
            <p:nvPr/>
          </p:nvGrpSpPr>
          <p:grpSpPr>
            <a:xfrm rot="0">
              <a:off x="0" y="0"/>
              <a:ext cx="6350000" cy="1841500"/>
              <a:chOff x="0" y="0"/>
              <a:chExt cx="6350000" cy="1841500"/>
            </a:xfrm>
          </p:grpSpPr>
          <p:sp>
            <p:nvSpPr>
              <p:cNvPr name="Freeform 38" id="38"/>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39" id="39"/>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40" id="40"/>
            <p:cNvGrpSpPr/>
            <p:nvPr/>
          </p:nvGrpSpPr>
          <p:grpSpPr>
            <a:xfrm rot="0">
              <a:off x="0" y="0"/>
              <a:ext cx="101600" cy="1841500"/>
              <a:chOff x="0" y="0"/>
              <a:chExt cx="101600" cy="1841500"/>
            </a:xfrm>
          </p:grpSpPr>
          <p:sp>
            <p:nvSpPr>
              <p:cNvPr name="Freeform 41" id="41"/>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42" id="42"/>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43" id="43"/>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NONPROFIT NETWORKS</a:t>
              </a:r>
            </a:p>
          </p:txBody>
        </p:sp>
      </p:grpSp>
      <p:grpSp>
        <p:nvGrpSpPr>
          <p:cNvPr name="Group 44" id="44"/>
          <p:cNvGrpSpPr/>
          <p:nvPr/>
        </p:nvGrpSpPr>
        <p:grpSpPr>
          <a:xfrm rot="0">
            <a:off x="11906250" y="6572250"/>
            <a:ext cx="4762500" cy="1381125"/>
            <a:chOff x="0" y="0"/>
            <a:chExt cx="6350000" cy="1841500"/>
          </a:xfrm>
        </p:grpSpPr>
        <p:grpSp>
          <p:nvGrpSpPr>
            <p:cNvPr name="Group 45" id="45"/>
            <p:cNvGrpSpPr/>
            <p:nvPr/>
          </p:nvGrpSpPr>
          <p:grpSpPr>
            <a:xfrm rot="0">
              <a:off x="0" y="0"/>
              <a:ext cx="6350000" cy="1841500"/>
              <a:chOff x="0" y="0"/>
              <a:chExt cx="6350000" cy="1841500"/>
            </a:xfrm>
          </p:grpSpPr>
          <p:sp>
            <p:nvSpPr>
              <p:cNvPr name="Freeform 46" id="46"/>
              <p:cNvSpPr/>
              <p:nvPr/>
            </p:nvSpPr>
            <p:spPr>
              <a:xfrm flipH="false" flipV="false" rot="0">
                <a:off x="0" y="0"/>
                <a:ext cx="6350000" cy="1841500"/>
              </a:xfrm>
              <a:custGeom>
                <a:avLst/>
                <a:gdLst/>
                <a:ahLst/>
                <a:cxnLst/>
                <a:rect r="r" b="b" t="t" l="l"/>
                <a:pathLst>
                  <a:path h="1841500" w="6350000">
                    <a:moveTo>
                      <a:pt x="0" y="0"/>
                    </a:moveTo>
                    <a:lnTo>
                      <a:pt x="6350000" y="0"/>
                    </a:lnTo>
                    <a:lnTo>
                      <a:pt x="6350000" y="1841500"/>
                    </a:lnTo>
                    <a:lnTo>
                      <a:pt x="0" y="1841500"/>
                    </a:lnTo>
                    <a:close/>
                  </a:path>
                </a:pathLst>
              </a:custGeom>
              <a:solidFill>
                <a:srgbClr val="F7F0E4"/>
              </a:solidFill>
              <a:ln cap="sq">
                <a:noFill/>
                <a:prstDash val="solid"/>
                <a:miter/>
              </a:ln>
            </p:spPr>
          </p:sp>
          <p:sp>
            <p:nvSpPr>
              <p:cNvPr name="TextBox 47" id="47"/>
              <p:cNvSpPr txBox="true"/>
              <p:nvPr/>
            </p:nvSpPr>
            <p:spPr>
              <a:xfrm>
                <a:off x="0" y="-38100"/>
                <a:ext cx="6350000" cy="18796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0" y="0"/>
              <a:ext cx="101600" cy="1841500"/>
              <a:chOff x="0" y="0"/>
              <a:chExt cx="101600" cy="1841500"/>
            </a:xfrm>
          </p:grpSpPr>
          <p:sp>
            <p:nvSpPr>
              <p:cNvPr name="Freeform 49" id="49"/>
              <p:cNvSpPr/>
              <p:nvPr/>
            </p:nvSpPr>
            <p:spPr>
              <a:xfrm flipH="false" flipV="false" rot="0">
                <a:off x="0" y="0"/>
                <a:ext cx="101600" cy="1841500"/>
              </a:xfrm>
              <a:custGeom>
                <a:avLst/>
                <a:gdLst/>
                <a:ahLst/>
                <a:cxnLst/>
                <a:rect r="r" b="b" t="t" l="l"/>
                <a:pathLst>
                  <a:path h="1841500" w="101600">
                    <a:moveTo>
                      <a:pt x="0" y="0"/>
                    </a:moveTo>
                    <a:lnTo>
                      <a:pt x="101600" y="0"/>
                    </a:lnTo>
                    <a:lnTo>
                      <a:pt x="101600" y="1841500"/>
                    </a:lnTo>
                    <a:lnTo>
                      <a:pt x="0" y="1841500"/>
                    </a:lnTo>
                    <a:close/>
                  </a:path>
                </a:pathLst>
              </a:custGeom>
              <a:solidFill>
                <a:srgbClr val="C59A4A"/>
              </a:solidFill>
              <a:ln cap="sq">
                <a:noFill/>
                <a:prstDash val="solid"/>
                <a:miter/>
              </a:ln>
            </p:spPr>
          </p:sp>
          <p:sp>
            <p:nvSpPr>
              <p:cNvPr name="TextBox 50" id="50"/>
              <p:cNvSpPr txBox="true"/>
              <p:nvPr/>
            </p:nvSpPr>
            <p:spPr>
              <a:xfrm>
                <a:off x="0" y="-38100"/>
                <a:ext cx="101600" cy="1879600"/>
              </a:xfrm>
              <a:prstGeom prst="rect">
                <a:avLst/>
              </a:prstGeom>
            </p:spPr>
            <p:txBody>
              <a:bodyPr anchor="ctr" rtlCol="false" tIns="50800" lIns="50800" bIns="50800" rIns="50800"/>
              <a:lstStyle/>
              <a:p>
                <a:pPr algn="l">
                  <a:lnSpc>
                    <a:spcPts val="1679"/>
                  </a:lnSpc>
                </a:pPr>
              </a:p>
            </p:txBody>
          </p:sp>
        </p:grpSp>
        <p:sp>
          <p:nvSpPr>
            <p:cNvPr name="TextBox 51" id="51"/>
            <p:cNvSpPr txBox="true"/>
            <p:nvPr/>
          </p:nvSpPr>
          <p:spPr>
            <a:xfrm rot="0">
              <a:off x="0" y="831850"/>
              <a:ext cx="6350000" cy="290830"/>
            </a:xfrm>
            <a:prstGeom prst="rect">
              <a:avLst/>
            </a:prstGeom>
          </p:spPr>
          <p:txBody>
            <a:bodyPr anchor="t" rtlCol="false" tIns="0" lIns="0" bIns="0" rIns="0">
              <a:spAutoFit/>
            </a:bodyPr>
            <a:lstStyle/>
            <a:p>
              <a:pPr algn="ctr">
                <a:lnSpc>
                  <a:spcPts val="1889"/>
                </a:lnSpc>
              </a:pPr>
              <a:r>
                <a:rPr lang="en-US" b="true" sz="1350" spc="243">
                  <a:solidFill>
                    <a:srgbClr val="123D33"/>
                  </a:solidFill>
                  <a:latin typeface="DM Sans Bold"/>
                  <a:ea typeface="DM Sans Bold"/>
                  <a:cs typeface="DM Sans Bold"/>
                  <a:sym typeface="DM Sans Bold"/>
                </a:rPr>
                <a:t>MEDIA &amp; EVENTS</a:t>
              </a:r>
            </a:p>
          </p:txBody>
        </p:sp>
      </p:grpSp>
      <p:sp>
        <p:nvSpPr>
          <p:cNvPr name="TextBox 52" id="52"/>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F7F0E4"/>
                </a:solidFill>
                <a:latin typeface="DM Sans Bold"/>
                <a:ea typeface="DM Sans Bold"/>
                <a:cs typeface="DM Sans Bold"/>
                <a:sym typeface="DM San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0E4"/>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10287000"/>
          </a:xfrm>
          <a:custGeom>
            <a:avLst/>
            <a:gdLst/>
            <a:ahLst/>
            <a:cxnLst/>
            <a:rect r="r" b="b" t="t" l="l"/>
            <a:pathLst>
              <a:path h="10287000" w="9144000">
                <a:moveTo>
                  <a:pt x="0" y="0"/>
                </a:moveTo>
                <a:lnTo>
                  <a:pt x="9144000" y="0"/>
                </a:lnTo>
                <a:lnTo>
                  <a:pt x="9144000" y="10287000"/>
                </a:lnTo>
                <a:lnTo>
                  <a:pt x="0" y="10287000"/>
                </a:lnTo>
                <a:lnTo>
                  <a:pt x="0" y="0"/>
                </a:lnTo>
                <a:close/>
              </a:path>
            </a:pathLst>
          </a:custGeom>
          <a:blipFill>
            <a:blip r:embed="rId3"/>
            <a:stretch>
              <a:fillRect l="-48684" t="0" r="-48684" b="0"/>
            </a:stretch>
          </a:blipFill>
          <a:ln cap="sq">
            <a:noFill/>
            <a:prstDash val="solid"/>
            <a:miter/>
          </a:ln>
        </p:spPr>
      </p:sp>
      <p:sp>
        <p:nvSpPr>
          <p:cNvPr name="TextBox 3" id="3"/>
          <p:cNvSpPr txBox="true"/>
          <p:nvPr/>
        </p:nvSpPr>
        <p:spPr>
          <a:xfrm rot="0">
            <a:off x="1047750" y="790575"/>
            <a:ext cx="4762500" cy="222885"/>
          </a:xfrm>
          <a:prstGeom prst="rect">
            <a:avLst/>
          </a:prstGeom>
        </p:spPr>
        <p:txBody>
          <a:bodyPr anchor="t" rtlCol="false" tIns="0" lIns="0" bIns="0" rIns="0">
            <a:spAutoFit/>
          </a:bodyPr>
          <a:lstStyle/>
          <a:p>
            <a:pPr algn="l">
              <a:lnSpc>
                <a:spcPts val="1889"/>
              </a:lnSpc>
            </a:pPr>
            <a:r>
              <a:rPr lang="en-US" sz="1350" spc="243" b="true">
                <a:solidFill>
                  <a:srgbClr val="C65F36"/>
                </a:solidFill>
                <a:latin typeface="DM Sans Bold"/>
                <a:ea typeface="DM Sans Bold"/>
                <a:cs typeface="DM Sans Bold"/>
                <a:sym typeface="DM Sans Bold"/>
              </a:rPr>
              <a:t>MEDIA RESOURCES</a:t>
            </a:r>
          </a:p>
        </p:txBody>
      </p:sp>
      <p:sp>
        <p:nvSpPr>
          <p:cNvPr name="TextBox 4" id="4"/>
          <p:cNvSpPr txBox="true"/>
          <p:nvPr/>
        </p:nvSpPr>
        <p:spPr>
          <a:xfrm rot="0">
            <a:off x="1047750" y="1619250"/>
            <a:ext cx="6953250" cy="2252663"/>
          </a:xfrm>
          <a:prstGeom prst="rect">
            <a:avLst/>
          </a:prstGeom>
        </p:spPr>
        <p:txBody>
          <a:bodyPr anchor="t" rtlCol="false" tIns="0" lIns="0" bIns="0" rIns="0">
            <a:spAutoFit/>
          </a:bodyPr>
          <a:lstStyle/>
          <a:p>
            <a:pPr algn="l">
              <a:lnSpc>
                <a:spcPts val="5842"/>
              </a:lnSpc>
            </a:pPr>
            <a:r>
              <a:rPr lang="en-US" sz="6150" b="true">
                <a:solidFill>
                  <a:srgbClr val="123D33"/>
                </a:solidFill>
                <a:latin typeface="Cormorant Garamond Bold"/>
                <a:ea typeface="Cormorant Garamond Bold"/>
                <a:cs typeface="Cormorant Garamond Bold"/>
                <a:sym typeface="Cormorant Garamond Bold"/>
              </a:rPr>
              <a:t>Ready for</a:t>
            </a:r>
          </a:p>
          <a:p>
            <a:pPr algn="l">
              <a:lnSpc>
                <a:spcPts val="5842"/>
              </a:lnSpc>
            </a:pPr>
            <a:r>
              <a:rPr lang="en-US" sz="6150" b="true">
                <a:solidFill>
                  <a:srgbClr val="123D33"/>
                </a:solidFill>
                <a:latin typeface="Cormorant Garamond Bold"/>
                <a:ea typeface="Cormorant Garamond Bold"/>
                <a:cs typeface="Cormorant Garamond Bold"/>
                <a:sym typeface="Cormorant Garamond Bold"/>
              </a:rPr>
              <a:t>the room—and</a:t>
            </a:r>
          </a:p>
          <a:p>
            <a:pPr algn="l">
              <a:lnSpc>
                <a:spcPts val="5842"/>
              </a:lnSpc>
            </a:pPr>
            <a:r>
              <a:rPr lang="en-US" sz="6150" b="true">
                <a:solidFill>
                  <a:srgbClr val="123D33"/>
                </a:solidFill>
                <a:latin typeface="Cormorant Garamond Bold"/>
                <a:ea typeface="Cormorant Garamond Bold"/>
                <a:cs typeface="Cormorant Garamond Bold"/>
                <a:sym typeface="Cormorant Garamond Bold"/>
              </a:rPr>
              <a:t>the story.</a:t>
            </a:r>
          </a:p>
        </p:txBody>
      </p:sp>
      <p:grpSp>
        <p:nvGrpSpPr>
          <p:cNvPr name="Group 5" id="5"/>
          <p:cNvGrpSpPr/>
          <p:nvPr/>
        </p:nvGrpSpPr>
        <p:grpSpPr>
          <a:xfrm rot="0">
            <a:off x="1047750" y="4905375"/>
            <a:ext cx="1428750" cy="57150"/>
            <a:chOff x="0" y="0"/>
            <a:chExt cx="1905000" cy="76200"/>
          </a:xfrm>
        </p:grpSpPr>
        <p:sp>
          <p:nvSpPr>
            <p:cNvPr name="Freeform 6" id="6"/>
            <p:cNvSpPr/>
            <p:nvPr/>
          </p:nvSpPr>
          <p:spPr>
            <a:xfrm flipH="false" flipV="false" rot="0">
              <a:off x="0" y="0"/>
              <a:ext cx="1905000" cy="76200"/>
            </a:xfrm>
            <a:custGeom>
              <a:avLst/>
              <a:gdLst/>
              <a:ahLst/>
              <a:cxnLst/>
              <a:rect r="r" b="b" t="t" l="l"/>
              <a:pathLst>
                <a:path h="76200" w="1905000">
                  <a:moveTo>
                    <a:pt x="0" y="0"/>
                  </a:moveTo>
                  <a:lnTo>
                    <a:pt x="1905000" y="0"/>
                  </a:lnTo>
                  <a:lnTo>
                    <a:pt x="1905000" y="76200"/>
                  </a:lnTo>
                  <a:lnTo>
                    <a:pt x="0" y="76200"/>
                  </a:lnTo>
                  <a:close/>
                </a:path>
              </a:pathLst>
            </a:custGeom>
            <a:solidFill>
              <a:srgbClr val="C59A4A"/>
            </a:solidFill>
            <a:ln cap="sq">
              <a:noFill/>
              <a:prstDash val="solid"/>
              <a:miter/>
            </a:ln>
          </p:spPr>
        </p:sp>
        <p:sp>
          <p:nvSpPr>
            <p:cNvPr name="TextBox 7" id="7"/>
            <p:cNvSpPr txBox="true"/>
            <p:nvPr/>
          </p:nvSpPr>
          <p:spPr>
            <a:xfrm>
              <a:off x="0" y="-38100"/>
              <a:ext cx="1905000" cy="1143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1143000" y="5314950"/>
            <a:ext cx="6477000" cy="1719739"/>
          </a:xfrm>
          <a:prstGeom prst="rect">
            <a:avLst/>
          </a:prstGeom>
        </p:spPr>
        <p:txBody>
          <a:bodyPr anchor="t" rtlCol="false" tIns="0" lIns="0" bIns="0" rIns="0">
            <a:spAutoFit/>
          </a:bodyPr>
          <a:lstStyle/>
          <a:p>
            <a:pPr algn="l">
              <a:lnSpc>
                <a:spcPts val="2718"/>
              </a:lnSpc>
            </a:pPr>
            <a:r>
              <a:rPr lang="en-US" sz="2175" b="true">
                <a:solidFill>
                  <a:srgbClr val="17211F"/>
                </a:solidFill>
                <a:latin typeface="DM Sans Bold"/>
                <a:ea typeface="DM Sans Bold"/>
                <a:cs typeface="DM Sans Bold"/>
                <a:sym typeface="DM Sans Bold"/>
              </a:rPr>
              <a:t>High-resolution photos &amp; headshots</a:t>
            </a:r>
          </a:p>
          <a:p>
            <a:pPr algn="l">
              <a:lnSpc>
                <a:spcPts val="2718"/>
              </a:lnSpc>
            </a:pPr>
          </a:p>
          <a:p>
            <a:pPr algn="l">
              <a:lnSpc>
                <a:spcPts val="2718"/>
              </a:lnSpc>
            </a:pPr>
            <a:r>
              <a:rPr lang="en-US" sz="2175" b="true">
                <a:solidFill>
                  <a:srgbClr val="17211F"/>
                </a:solidFill>
                <a:latin typeface="DM Sans Bold"/>
                <a:ea typeface="DM Sans Bold"/>
                <a:cs typeface="DM Sans Bold"/>
                <a:sym typeface="DM Sans Bold"/>
              </a:rPr>
              <a:t>Speaker bios &amp; talking points</a:t>
            </a:r>
          </a:p>
          <a:p>
            <a:pPr algn="l">
              <a:lnSpc>
                <a:spcPts val="2718"/>
              </a:lnSpc>
            </a:pPr>
          </a:p>
          <a:p>
            <a:pPr algn="l">
              <a:lnSpc>
                <a:spcPts val="2718"/>
              </a:lnSpc>
            </a:pPr>
            <a:r>
              <a:rPr lang="en-US" sz="2175" b="true">
                <a:solidFill>
                  <a:srgbClr val="17211F"/>
                </a:solidFill>
                <a:latin typeface="DM Sans Bold"/>
                <a:ea typeface="DM Sans Bold"/>
                <a:cs typeface="DM Sans Bold"/>
                <a:sym typeface="DM Sans Bold"/>
              </a:rPr>
              <a:t>Video clips &amp; past speaking engagements</a:t>
            </a:r>
          </a:p>
        </p:txBody>
      </p:sp>
      <p:sp>
        <p:nvSpPr>
          <p:cNvPr name="TextBox 9" id="9"/>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7F0E4"/>
        </a:solidFill>
      </p:bgPr>
    </p:bg>
    <p:spTree>
      <p:nvGrpSpPr>
        <p:cNvPr id="1" name=""/>
        <p:cNvGrpSpPr/>
        <p:nvPr/>
      </p:nvGrpSpPr>
      <p:grpSpPr>
        <a:xfrm>
          <a:off x="0" y="0"/>
          <a:ext cx="0" cy="0"/>
          <a:chOff x="0" y="0"/>
          <a:chExt cx="0" cy="0"/>
        </a:xfrm>
      </p:grpSpPr>
      <p:grpSp>
        <p:nvGrpSpPr>
          <p:cNvPr name="Group 2" id="2"/>
          <p:cNvGrpSpPr/>
          <p:nvPr/>
        </p:nvGrpSpPr>
        <p:grpSpPr>
          <a:xfrm rot="0">
            <a:off x="11430000" y="-1714500"/>
            <a:ext cx="7620000" cy="7620000"/>
            <a:chOff x="0" y="0"/>
            <a:chExt cx="10160000" cy="10160000"/>
          </a:xfrm>
        </p:grpSpPr>
        <p:sp>
          <p:nvSpPr>
            <p:cNvPr name="Freeform 3" id="3"/>
            <p:cNvSpPr/>
            <p:nvPr/>
          </p:nvSpPr>
          <p:spPr>
            <a:xfrm flipH="false" flipV="false" rot="0">
              <a:off x="0" y="0"/>
              <a:ext cx="10160000" cy="10160000"/>
            </a:xfrm>
            <a:custGeom>
              <a:avLst/>
              <a:gdLst/>
              <a:ahLst/>
              <a:cxnLst/>
              <a:rect r="r" b="b" t="t" l="l"/>
              <a:pathLst>
                <a:path h="10160000" w="10160000">
                  <a:moveTo>
                    <a:pt x="0" y="0"/>
                  </a:moveTo>
                  <a:lnTo>
                    <a:pt x="10160000" y="0"/>
                  </a:lnTo>
                  <a:lnTo>
                    <a:pt x="10160000" y="10160000"/>
                  </a:lnTo>
                  <a:lnTo>
                    <a:pt x="0" y="10160000"/>
                  </a:lnTo>
                  <a:close/>
                </a:path>
              </a:pathLst>
            </a:custGeom>
            <a:solidFill>
              <a:srgbClr val="E56F61">
                <a:alpha val="11765"/>
              </a:srgbClr>
            </a:solidFill>
            <a:ln cap="sq">
              <a:noFill/>
              <a:prstDash val="solid"/>
              <a:miter/>
            </a:ln>
          </p:spPr>
        </p:sp>
        <p:sp>
          <p:nvSpPr>
            <p:cNvPr name="TextBox 4" id="4"/>
            <p:cNvSpPr txBox="true"/>
            <p:nvPr/>
          </p:nvSpPr>
          <p:spPr>
            <a:xfrm>
              <a:off x="0" y="-38100"/>
              <a:ext cx="10160000" cy="10198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619250" y="571500"/>
            <a:ext cx="3810000" cy="3352800"/>
          </a:xfrm>
          <a:prstGeom prst="rect">
            <a:avLst/>
          </a:prstGeom>
        </p:spPr>
        <p:txBody>
          <a:bodyPr anchor="t" rtlCol="false" tIns="0" lIns="0" bIns="0" rIns="0">
            <a:spAutoFit/>
          </a:bodyPr>
          <a:lstStyle/>
          <a:p>
            <a:pPr algn="l">
              <a:lnSpc>
                <a:spcPts val="27300"/>
              </a:lnSpc>
            </a:pPr>
            <a:r>
              <a:rPr lang="en-US" sz="19500">
                <a:solidFill>
                  <a:srgbClr val="C59A4A"/>
                </a:solidFill>
                <a:latin typeface="Cormorant Garamond"/>
                <a:ea typeface="Cormorant Garamond"/>
                <a:cs typeface="Cormorant Garamond"/>
                <a:sym typeface="Cormorant Garamond"/>
              </a:rPr>
              <a:t>“</a:t>
            </a:r>
          </a:p>
        </p:txBody>
      </p:sp>
      <p:sp>
        <p:nvSpPr>
          <p:cNvPr name="TextBox 6" id="6"/>
          <p:cNvSpPr txBox="true"/>
          <p:nvPr/>
        </p:nvSpPr>
        <p:spPr>
          <a:xfrm rot="0">
            <a:off x="3333750" y="3381375"/>
            <a:ext cx="11906250" cy="1525905"/>
          </a:xfrm>
          <a:prstGeom prst="rect">
            <a:avLst/>
          </a:prstGeom>
        </p:spPr>
        <p:txBody>
          <a:bodyPr anchor="t" rtlCol="false" tIns="0" lIns="0" bIns="0" rIns="0">
            <a:spAutoFit/>
          </a:bodyPr>
          <a:lstStyle/>
          <a:p>
            <a:pPr algn="ctr">
              <a:lnSpc>
                <a:spcPts val="5940"/>
              </a:lnSpc>
            </a:pPr>
            <a:r>
              <a:rPr lang="en-US" b="true" sz="5400" i="true">
                <a:solidFill>
                  <a:srgbClr val="123D33"/>
                </a:solidFill>
                <a:latin typeface="Cormorant Garamond Bold Italics"/>
                <a:ea typeface="Cormorant Garamond Bold Italics"/>
                <a:cs typeface="Cormorant Garamond Bold Italics"/>
                <a:sym typeface="Cormorant Garamond Bold Italics"/>
              </a:rPr>
              <a:t>Hear what others say</a:t>
            </a:r>
          </a:p>
          <a:p>
            <a:pPr algn="ctr">
              <a:lnSpc>
                <a:spcPts val="5940"/>
              </a:lnSpc>
            </a:pPr>
            <a:r>
              <a:rPr lang="en-US" b="true" sz="5400" i="true">
                <a:solidFill>
                  <a:srgbClr val="123D33"/>
                </a:solidFill>
                <a:latin typeface="Cormorant Garamond Bold Italics"/>
                <a:ea typeface="Cormorant Garamond Bold Italics"/>
                <a:cs typeface="Cormorant Garamond Bold Italics"/>
                <a:sym typeface="Cormorant Garamond Bold Italics"/>
              </a:rPr>
              <a:t>about Tiffany’s impact.</a:t>
            </a:r>
          </a:p>
        </p:txBody>
      </p:sp>
      <p:grpSp>
        <p:nvGrpSpPr>
          <p:cNvPr name="Group 7" id="7"/>
          <p:cNvGrpSpPr/>
          <p:nvPr/>
        </p:nvGrpSpPr>
        <p:grpSpPr>
          <a:xfrm rot="0">
            <a:off x="7715250" y="6762750"/>
            <a:ext cx="2857500" cy="47625"/>
            <a:chOff x="0" y="0"/>
            <a:chExt cx="3810000" cy="63500"/>
          </a:xfrm>
        </p:grpSpPr>
        <p:sp>
          <p:nvSpPr>
            <p:cNvPr name="Freeform 8" id="8"/>
            <p:cNvSpPr/>
            <p:nvPr/>
          </p:nvSpPr>
          <p:spPr>
            <a:xfrm flipH="false" flipV="false" rot="0">
              <a:off x="0" y="0"/>
              <a:ext cx="3810000" cy="63500"/>
            </a:xfrm>
            <a:custGeom>
              <a:avLst/>
              <a:gdLst/>
              <a:ahLst/>
              <a:cxnLst/>
              <a:rect r="r" b="b" t="t" l="l"/>
              <a:pathLst>
                <a:path h="63500" w="3810000">
                  <a:moveTo>
                    <a:pt x="0" y="0"/>
                  </a:moveTo>
                  <a:lnTo>
                    <a:pt x="3810000" y="0"/>
                  </a:lnTo>
                  <a:lnTo>
                    <a:pt x="3810000" y="63500"/>
                  </a:lnTo>
                  <a:lnTo>
                    <a:pt x="0" y="63500"/>
                  </a:lnTo>
                  <a:close/>
                </a:path>
              </a:pathLst>
            </a:custGeom>
            <a:solidFill>
              <a:srgbClr val="C59A4A"/>
            </a:solidFill>
            <a:ln cap="sq">
              <a:noFill/>
              <a:prstDash val="solid"/>
              <a:miter/>
            </a:ln>
          </p:spPr>
        </p:sp>
        <p:sp>
          <p:nvSpPr>
            <p:cNvPr name="TextBox 9" id="9"/>
            <p:cNvSpPr txBox="true"/>
            <p:nvPr/>
          </p:nvSpPr>
          <p:spPr>
            <a:xfrm>
              <a:off x="0" y="-38100"/>
              <a:ext cx="3810000" cy="1016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5810250" y="7219950"/>
            <a:ext cx="6667500" cy="222885"/>
          </a:xfrm>
          <a:prstGeom prst="rect">
            <a:avLst/>
          </a:prstGeom>
        </p:spPr>
        <p:txBody>
          <a:bodyPr anchor="t" rtlCol="false" tIns="0" lIns="0" bIns="0" rIns="0">
            <a:spAutoFit/>
          </a:bodyPr>
          <a:lstStyle/>
          <a:p>
            <a:pPr algn="ctr">
              <a:lnSpc>
                <a:spcPts val="1889"/>
              </a:lnSpc>
            </a:pPr>
            <a:r>
              <a:rPr lang="en-US" b="true" sz="1350" spc="243">
                <a:solidFill>
                  <a:srgbClr val="C65F36"/>
                </a:solidFill>
                <a:latin typeface="DM Sans Bold"/>
                <a:ea typeface="DM Sans Bold"/>
                <a:cs typeface="DM Sans Bold"/>
                <a:sym typeface="DM Sans Bold"/>
              </a:rPr>
              <a:t>TESTIMONIALS  •  PLACEHOLDER</a:t>
            </a:r>
          </a:p>
        </p:txBody>
      </p:sp>
      <p:sp>
        <p:nvSpPr>
          <p:cNvPr name="TextBox 11" id="11"/>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123D33"/>
                </a:solidFill>
                <a:latin typeface="DM Sans Bold"/>
                <a:ea typeface="DM Sans Bold"/>
                <a:cs typeface="DM Sans Bold"/>
                <a:sym typeface="DM Sa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23D33"/>
        </a:solidFill>
      </p:bgPr>
    </p:bg>
    <p:spTree>
      <p:nvGrpSpPr>
        <p:cNvPr id="1" name=""/>
        <p:cNvGrpSpPr/>
        <p:nvPr/>
      </p:nvGrpSpPr>
      <p:grpSpPr>
        <a:xfrm>
          <a:off x="0" y="0"/>
          <a:ext cx="0" cy="0"/>
          <a:chOff x="0" y="0"/>
          <a:chExt cx="0" cy="0"/>
        </a:xfrm>
      </p:grpSpPr>
      <p:sp>
        <p:nvSpPr>
          <p:cNvPr name="Freeform 2" id="2"/>
          <p:cNvSpPr/>
          <p:nvPr/>
        </p:nvSpPr>
        <p:spPr>
          <a:xfrm flipH="false" flipV="false" rot="0">
            <a:off x="7810500" y="0"/>
            <a:ext cx="10477500" cy="10287000"/>
          </a:xfrm>
          <a:custGeom>
            <a:avLst/>
            <a:gdLst/>
            <a:ahLst/>
            <a:cxnLst/>
            <a:rect r="r" b="b" t="t" l="l"/>
            <a:pathLst>
              <a:path h="10287000" w="10477500">
                <a:moveTo>
                  <a:pt x="0" y="0"/>
                </a:moveTo>
                <a:lnTo>
                  <a:pt x="10477500" y="0"/>
                </a:lnTo>
                <a:lnTo>
                  <a:pt x="10477500" y="10287000"/>
                </a:lnTo>
                <a:lnTo>
                  <a:pt x="0" y="10287000"/>
                </a:lnTo>
                <a:lnTo>
                  <a:pt x="0" y="0"/>
                </a:lnTo>
                <a:close/>
              </a:path>
            </a:pathLst>
          </a:custGeom>
          <a:blipFill>
            <a:blip r:embed="rId3"/>
            <a:stretch>
              <a:fillRect l="-36124" t="0" r="-36124" b="0"/>
            </a:stretch>
          </a:blipFill>
          <a:ln cap="sq">
            <a:noFill/>
            <a:prstDash val="solid"/>
            <a:miter/>
          </a:ln>
        </p:spPr>
      </p:sp>
      <p:grpSp>
        <p:nvGrpSpPr>
          <p:cNvPr name="Group 3" id="3"/>
          <p:cNvGrpSpPr/>
          <p:nvPr/>
        </p:nvGrpSpPr>
        <p:grpSpPr>
          <a:xfrm rot="0">
            <a:off x="6667500" y="0"/>
            <a:ext cx="4953000" cy="10287000"/>
            <a:chOff x="0" y="0"/>
            <a:chExt cx="6604000" cy="13716000"/>
          </a:xfrm>
        </p:grpSpPr>
        <p:sp>
          <p:nvSpPr>
            <p:cNvPr name="Freeform 4" id="4"/>
            <p:cNvSpPr/>
            <p:nvPr/>
          </p:nvSpPr>
          <p:spPr>
            <a:xfrm flipH="false" flipV="false" rot="0">
              <a:off x="0" y="0"/>
              <a:ext cx="6604000" cy="13716000"/>
            </a:xfrm>
            <a:custGeom>
              <a:avLst/>
              <a:gdLst/>
              <a:ahLst/>
              <a:cxnLst/>
              <a:rect r="r" b="b" t="t" l="l"/>
              <a:pathLst>
                <a:path h="13716000" w="6604000">
                  <a:moveTo>
                    <a:pt x="0" y="0"/>
                  </a:moveTo>
                  <a:lnTo>
                    <a:pt x="6604000" y="0"/>
                  </a:lnTo>
                  <a:lnTo>
                    <a:pt x="6604000" y="13716000"/>
                  </a:lnTo>
                  <a:lnTo>
                    <a:pt x="0" y="13716000"/>
                  </a:lnTo>
                  <a:close/>
                </a:path>
              </a:pathLst>
            </a:custGeom>
            <a:solidFill>
              <a:srgbClr val="123D33">
                <a:alpha val="64706"/>
              </a:srgbClr>
            </a:solidFill>
            <a:ln cap="sq">
              <a:noFill/>
              <a:prstDash val="solid"/>
              <a:miter/>
            </a:ln>
          </p:spPr>
        </p:sp>
        <p:sp>
          <p:nvSpPr>
            <p:cNvPr name="TextBox 5" id="5"/>
            <p:cNvSpPr txBox="true"/>
            <p:nvPr/>
          </p:nvSpPr>
          <p:spPr>
            <a:xfrm>
              <a:off x="0" y="-38100"/>
              <a:ext cx="6604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790575"/>
            <a:ext cx="4762500" cy="222885"/>
          </a:xfrm>
          <a:prstGeom prst="rect">
            <a:avLst/>
          </a:prstGeom>
        </p:spPr>
        <p:txBody>
          <a:bodyPr anchor="t" rtlCol="false" tIns="0" lIns="0" bIns="0" rIns="0">
            <a:spAutoFit/>
          </a:bodyPr>
          <a:lstStyle/>
          <a:p>
            <a:pPr algn="l">
              <a:lnSpc>
                <a:spcPts val="1889"/>
              </a:lnSpc>
            </a:pPr>
            <a:r>
              <a:rPr lang="en-US" sz="1350" spc="243" b="true">
                <a:solidFill>
                  <a:srgbClr val="C59A4A"/>
                </a:solidFill>
                <a:latin typeface="DM Sans Bold"/>
                <a:ea typeface="DM Sans Bold"/>
                <a:cs typeface="DM Sans Bold"/>
                <a:sym typeface="DM Sans Bold"/>
              </a:rPr>
              <a:t>CONTACT &amp; BOOKING</a:t>
            </a:r>
          </a:p>
        </p:txBody>
      </p:sp>
      <p:sp>
        <p:nvSpPr>
          <p:cNvPr name="TextBox 7" id="7"/>
          <p:cNvSpPr txBox="true"/>
          <p:nvPr/>
        </p:nvSpPr>
        <p:spPr>
          <a:xfrm rot="0">
            <a:off x="1047750" y="1943100"/>
            <a:ext cx="9048750" cy="1689354"/>
          </a:xfrm>
          <a:prstGeom prst="rect">
            <a:avLst/>
          </a:prstGeom>
        </p:spPr>
        <p:txBody>
          <a:bodyPr anchor="t" rtlCol="false" tIns="0" lIns="0" bIns="0" rIns="0">
            <a:spAutoFit/>
          </a:bodyPr>
          <a:lstStyle/>
          <a:p>
            <a:pPr algn="l">
              <a:lnSpc>
                <a:spcPts val="6467"/>
              </a:lnSpc>
            </a:pPr>
            <a:r>
              <a:rPr lang="en-US" sz="6600" b="true">
                <a:solidFill>
                  <a:srgbClr val="F7F0E4"/>
                </a:solidFill>
                <a:latin typeface="Cormorant Garamond Bold"/>
                <a:ea typeface="Cormorant Garamond Bold"/>
                <a:cs typeface="Cormorant Garamond Bold"/>
                <a:sym typeface="Cormorant Garamond Bold"/>
              </a:rPr>
              <a:t>Let’s Create</a:t>
            </a:r>
          </a:p>
          <a:p>
            <a:pPr algn="l">
              <a:lnSpc>
                <a:spcPts val="6467"/>
              </a:lnSpc>
            </a:pPr>
            <a:r>
              <a:rPr lang="en-US" sz="6600" b="true">
                <a:solidFill>
                  <a:srgbClr val="F7F0E4"/>
                </a:solidFill>
                <a:latin typeface="Cormorant Garamond Bold"/>
                <a:ea typeface="Cormorant Garamond Bold"/>
                <a:cs typeface="Cormorant Garamond Bold"/>
                <a:sym typeface="Cormorant Garamond Bold"/>
              </a:rPr>
              <a:t>Impact Together</a:t>
            </a:r>
          </a:p>
        </p:txBody>
      </p:sp>
      <p:grpSp>
        <p:nvGrpSpPr>
          <p:cNvPr name="Group 8" id="8"/>
          <p:cNvGrpSpPr/>
          <p:nvPr/>
        </p:nvGrpSpPr>
        <p:grpSpPr>
          <a:xfrm rot="0">
            <a:off x="1095375" y="4810125"/>
            <a:ext cx="2476500" cy="66675"/>
            <a:chOff x="0" y="0"/>
            <a:chExt cx="3302000" cy="88900"/>
          </a:xfrm>
        </p:grpSpPr>
        <p:sp>
          <p:nvSpPr>
            <p:cNvPr name="Freeform 9" id="9"/>
            <p:cNvSpPr/>
            <p:nvPr/>
          </p:nvSpPr>
          <p:spPr>
            <a:xfrm flipH="false" flipV="false" rot="0">
              <a:off x="0" y="0"/>
              <a:ext cx="3302000" cy="88900"/>
            </a:xfrm>
            <a:custGeom>
              <a:avLst/>
              <a:gdLst/>
              <a:ahLst/>
              <a:cxnLst/>
              <a:rect r="r" b="b" t="t" l="l"/>
              <a:pathLst>
                <a:path h="88900" w="3302000">
                  <a:moveTo>
                    <a:pt x="0" y="0"/>
                  </a:moveTo>
                  <a:lnTo>
                    <a:pt x="3302000" y="0"/>
                  </a:lnTo>
                  <a:lnTo>
                    <a:pt x="3302000" y="88900"/>
                  </a:lnTo>
                  <a:lnTo>
                    <a:pt x="0" y="88900"/>
                  </a:lnTo>
                  <a:close/>
                </a:path>
              </a:pathLst>
            </a:custGeom>
            <a:solidFill>
              <a:srgbClr val="C59A4A"/>
            </a:solidFill>
            <a:ln cap="sq">
              <a:noFill/>
              <a:prstDash val="solid"/>
              <a:miter/>
            </a:ln>
          </p:spPr>
        </p:sp>
        <p:sp>
          <p:nvSpPr>
            <p:cNvPr name="TextBox 10" id="10"/>
            <p:cNvSpPr txBox="true"/>
            <p:nvPr/>
          </p:nvSpPr>
          <p:spPr>
            <a:xfrm>
              <a:off x="0" y="-38100"/>
              <a:ext cx="3302000" cy="1270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095375" y="5334000"/>
            <a:ext cx="6858000" cy="1252538"/>
          </a:xfrm>
          <a:prstGeom prst="rect">
            <a:avLst/>
          </a:prstGeom>
        </p:spPr>
        <p:txBody>
          <a:bodyPr anchor="t" rtlCol="false" tIns="0" lIns="0" bIns="0" rIns="0">
            <a:spAutoFit/>
          </a:bodyPr>
          <a:lstStyle/>
          <a:p>
            <a:pPr algn="l">
              <a:lnSpc>
                <a:spcPts val="3442"/>
              </a:lnSpc>
            </a:pPr>
            <a:r>
              <a:rPr lang="en-US" sz="2025">
                <a:solidFill>
                  <a:srgbClr val="F7F0E4"/>
                </a:solidFill>
                <a:latin typeface="DM Sans"/>
                <a:ea typeface="DM Sans"/>
                <a:cs typeface="DM Sans"/>
                <a:sym typeface="DM Sans"/>
              </a:rPr>
              <a:t>Booking inquiries: Tiffanywebb89@yahoo.com</a:t>
            </a:r>
          </a:p>
          <a:p>
            <a:pPr algn="l">
              <a:lnSpc>
                <a:spcPts val="3442"/>
              </a:lnSpc>
            </a:pPr>
            <a:r>
              <a:rPr lang="en-US" sz="2025">
                <a:solidFill>
                  <a:srgbClr val="F7F0E4"/>
                </a:solidFill>
                <a:latin typeface="DM Sans"/>
                <a:ea typeface="DM Sans"/>
                <a:cs typeface="DM Sans"/>
                <a:sym typeface="DM Sans"/>
              </a:rPr>
              <a:t>Website: tiffanywebbimpact.com</a:t>
            </a:r>
          </a:p>
          <a:p>
            <a:pPr algn="l">
              <a:lnSpc>
                <a:spcPts val="3442"/>
              </a:lnSpc>
            </a:pPr>
            <a:r>
              <a:rPr lang="en-US" sz="2025">
                <a:solidFill>
                  <a:srgbClr val="F7F0E4"/>
                </a:solidFill>
                <a:latin typeface="DM Sans"/>
                <a:ea typeface="DM Sans"/>
                <a:cs typeface="DM Sans"/>
                <a:sym typeface="DM Sans"/>
              </a:rPr>
              <a:t>Social: @Tiffanywebb.Impact </a:t>
            </a:r>
          </a:p>
        </p:txBody>
      </p:sp>
      <p:sp>
        <p:nvSpPr>
          <p:cNvPr name="TextBox 12" id="12"/>
          <p:cNvSpPr txBox="true"/>
          <p:nvPr/>
        </p:nvSpPr>
        <p:spPr>
          <a:xfrm rot="0">
            <a:off x="1095375" y="8648700"/>
            <a:ext cx="6667500" cy="222885"/>
          </a:xfrm>
          <a:prstGeom prst="rect">
            <a:avLst/>
          </a:prstGeom>
        </p:spPr>
        <p:txBody>
          <a:bodyPr anchor="t" rtlCol="false" tIns="0" lIns="0" bIns="0" rIns="0">
            <a:spAutoFit/>
          </a:bodyPr>
          <a:lstStyle/>
          <a:p>
            <a:pPr algn="l">
              <a:lnSpc>
                <a:spcPts val="1889"/>
              </a:lnSpc>
            </a:pPr>
            <a:r>
              <a:rPr lang="en-US" sz="1350" spc="243" b="true">
                <a:solidFill>
                  <a:srgbClr val="A8B9A6"/>
                </a:solidFill>
                <a:latin typeface="DM Sans Bold"/>
                <a:ea typeface="DM Sans Bold"/>
                <a:cs typeface="DM Sans Bold"/>
                <a:sym typeface="DM Sans Bold"/>
              </a:rPr>
              <a:t>CHICAGO Heart   •  LOUISIANA Soul </a:t>
            </a:r>
          </a:p>
        </p:txBody>
      </p:sp>
      <p:sp>
        <p:nvSpPr>
          <p:cNvPr name="TextBox 13" id="13"/>
          <p:cNvSpPr txBox="true"/>
          <p:nvPr/>
        </p:nvSpPr>
        <p:spPr>
          <a:xfrm rot="0">
            <a:off x="16573500" y="9486900"/>
            <a:ext cx="952500" cy="222885"/>
          </a:xfrm>
          <a:prstGeom prst="rect">
            <a:avLst/>
          </a:prstGeom>
        </p:spPr>
        <p:txBody>
          <a:bodyPr anchor="t" rtlCol="false" tIns="0" lIns="0" bIns="0" rIns="0">
            <a:spAutoFit/>
          </a:bodyPr>
          <a:lstStyle/>
          <a:p>
            <a:pPr algn="r">
              <a:lnSpc>
                <a:spcPts val="1889"/>
              </a:lnSpc>
            </a:pPr>
            <a:r>
              <a:rPr lang="en-US" sz="1350" b="true">
                <a:solidFill>
                  <a:srgbClr val="F7F0E4"/>
                </a:solidFill>
                <a:latin typeface="DM Sans Bold"/>
                <a:ea typeface="DM Sans Bold"/>
                <a:cs typeface="DM Sans Bold"/>
                <a:sym typeface="DM Sans Bold"/>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DAHTD6Y-v_0</dc:identifier>
  <dcterms:modified xsi:type="dcterms:W3CDTF">2011-08-01T06:04:30Z</dcterms:modified>
  <cp:revision>1</cp:revision>
  <dc:title>Copy of Tiffany Webb Media Kit Deck</dc:title>
</cp:coreProperties>
</file>